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a:t>
            </a:r>
          </a:p>
          <a:p>
            <a:r>
              <a:t>Good morning/afternoon everyone. My name is ___ and today I'll walk you through my project: the Student Management System.</a:t>
            </a:r>
          </a:p>
          <a:p>
            <a:r>
              <a:t>It is a small web application for a university registry, in the style of KNUST, that lets staff add, view, edit and delete student records.</a:t>
            </a:r>
          </a:p>
          <a:p>
            <a:r>
              <a:t>In the next 12 to 13 minutes I'll show you what it does, how it is built, walk through the important parts of the code, and finish with what I learned and what I would improve next.</a:t>
            </a:r>
          </a:p>
          <a:p>
            <a:r>
              <a:t>The full source code is on GitHub at the link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a:t>
            </a:r>
          </a:p>
          <a:p>
            <a:r>
              <a:t>Here is the plan. First the problem the app solves, then a quick live demo.</a:t>
            </a:r>
          </a:p>
          <a:p>
            <a:r>
              <a:t>Then I'll explain the technology and how the pieces talk to each other.</a:t>
            </a:r>
          </a:p>
          <a:p>
            <a:r>
              <a:t>The biggest part is the code walkthrough, where I'll cover the server, the page itself, and the JavaScript that does the real work.</a:t>
            </a:r>
          </a:p>
          <a:p>
            <a:r>
              <a:t>After that: the validation rules I built, the challenges I met, and ideas for the future. There will be time for questions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a:t>
            </a:r>
          </a:p>
          <a:p>
            <a:r>
              <a:t>Think about a university registry office. Every student has a lot of information attached: their names, ID number, date of birth, contacts, the programme they study and their level.</a:t>
            </a:r>
          </a:p>
          <a:p>
            <a:r>
              <a:t>On paper or in scattered spreadsheets this is slow to search, and mistakes creep in: two students with the same ID, a typo in a phone number, or a level that doesn't exist for that programme.</a:t>
            </a:r>
          </a:p>
          <a:p>
            <a:r>
              <a:t>My goal was to build one simple web page that lets staff create, read, update and delete records, which developers call CRUD, and that checks the data before it is saved.</a:t>
            </a:r>
          </a:p>
          <a:p>
            <a:r>
              <a:t>The data is kept in a cloud database so it works from any browser. And I wanted the code to stay simple and readable.</a:t>
            </a:r>
          </a:p>
          <a:p>
            <a:r>
              <a:t>Quick numbers: four CRUD operations, eleven fields per student, thirteen supported programmes, and no page reloads at any 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a:t>
            </a:r>
          </a:p>
          <a:p>
            <a:r>
              <a:t>The app does the four classic database operations. Create: you fill the form and press 'Add to register', and a new row appears. Read: when the page opens, all students are fetched from the database and shown in a table, sorted by Student ID.</a:t>
            </a:r>
          </a:p>
          <a:p>
            <a:r>
              <a:t>Update: you click 'Edit' on a row, the form is filled in with that student's details, and the button changes to 'Update student'. Delete: you click 'Delete', confirm, and the record disappears.</a:t>
            </a:r>
          </a:p>
          <a:p>
            <a:r>
              <a:t>The small labels on each card, POST, GET, PATCH and DELETE, are the HTTP methods behind each action. I'll come back to those in the code section.</a:t>
            </a:r>
          </a:p>
          <a:p>
            <a:r>
              <a:t>The important point: none of this reloads the page. JavaScript talks to the database in the background and only updates what changed.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30 seconds, ideally a LIVE DEMO]</a:t>
            </a:r>
          </a:p>
          <a:p>
            <a:r>
              <a:t>This is the real application running on my machine at localhost:3000. The design is inspired by a traditional registry ledger: parchment colours, ruled lines and serif headings.</a:t>
            </a:r>
          </a:p>
          <a:p>
            <a:r>
              <a:t>LIVE DEMO SUGGESTION (about 60 seconds): </a:t>
            </a:r>
          </a:p>
          <a:p>
            <a:r>
              <a:t>1) Type a name. 2) In Student ID, try typing letters: they are rejected automatically. 3) Pick a date of birth and show the Age filling in by itself. 4) Choose 'Doctor Of Pharmacy' and show levels up to 600, then choose 'Bsc Computer Science' and show 500 and 600 become disabled. 5) Click 'Add to register' and show the new row appear, then click Edit and Delete on it.</a:t>
            </a:r>
          </a:p>
          <a:p>
            <a:r>
              <a:t>If the internet or demo fails, use the screenshots in this deck: the next slides show the table with its Edit and Delete buttons.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a:t>
            </a:r>
          </a:p>
          <a:p>
            <a:r>
              <a:t>Here is the technology, with an analogy for each piece.</a:t>
            </a:r>
          </a:p>
          <a:p>
            <a:r>
              <a:t>HTML is the skeleton: it defines what is on the page. CSS is the clothes: it makes it look good. JavaScript is the brain: it reacts to clicks, checks your input and talks to the database.</a:t>
            </a:r>
          </a:p>
          <a:p>
            <a:r>
              <a:t>Node.js lets us run JavaScript outside the browser, on a computer. Express is a tiny web server built on Node: think of it as a delivery person who hands the page to the browser.</a:t>
            </a:r>
          </a:p>
          <a:p>
            <a:r>
              <a:t>Finally Supabase is our database in the cloud. It uses PostgreSQL underneath and gives us a ready-made REST API, so I did not need to write my own backend database code.</a:t>
            </a:r>
          </a:p>
          <a:p>
            <a:r>
              <a:t>I deliberately used plain HTML, CSS and JavaScript with no front-end framework, so every concept is visible and easy to learn.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30 seconds]</a:t>
            </a:r>
          </a:p>
          <a:p>
            <a:r>
              <a:t>This diagram is the heart of the project. There are three parts.</a:t>
            </a:r>
          </a:p>
          <a:p>
            <a:r>
              <a:t>On the left, the Express server. Its only job is to hand the website files to the browser. Step one: you type localhost:3000, the browser asks Express for the page, and Express sends back index.html, the CSS and the JavaScript.</a:t>
            </a:r>
          </a:p>
          <a:p>
            <a:r>
              <a:t>In the middle, the browser. This is where the application really lives: it shows the form, checks the input, and builds the table.</a:t>
            </a:r>
          </a:p>
          <a:p>
            <a:r>
              <a:t>On the right, Supabase, the cloud database. Step two: once the page has loaded, script.js uses the fetch function to send requests straight to Supabase to read, save, update or delete students, and Supabase replies with JSON.</a:t>
            </a:r>
          </a:p>
          <a:p>
            <a:r>
              <a:t>So the server delivers the app, but the data never passes through it. That keeps the server very small, around twenty lines.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r>
              <a:t>Let me quickly orient you in the code. The project is small and easy to navigate.</a:t>
            </a:r>
          </a:p>
          <a:p>
            <a:r>
              <a:t>At the top level we have server.js, which is the back end, index.html, which is the page, and package.json, which lists the dependencies. We only have one: Express.</a:t>
            </a:r>
          </a:p>
          <a:p>
            <a:r>
              <a:t>Everything the browser downloads sits in the public folder: style.css for appearance and script.js for behaviour.</a:t>
            </a:r>
          </a:p>
          <a:p>
            <a:r>
              <a:t>The README and the docs folder hold written guides, including an onboarding guide for new team members.</a:t>
            </a:r>
          </a:p>
          <a:p>
            <a:r>
              <a:t>The next three slides go through server.js, then the HTML and CSS, then script.js.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15 seconds]</a:t>
            </a:r>
          </a:p>
          <a:p>
            <a:r>
              <a:t>This is the whole server, simplified. It is only about twenty lines of real code.</a:t>
            </a:r>
          </a:p>
          <a:p>
            <a:r>
              <a:t>First we import Express and create an app. The PORT line says: use the PORT environment variable if there is one, otherwise 3000.</a:t>
            </a:r>
          </a:p>
          <a:p>
            <a:r>
              <a:t>Step one is static files. This is something called middleware: a helper that runs when a request comes in. It tells Express that if the browser asks for something inside the public folder, like our CSS or JavaScript, just send that file.</a:t>
            </a:r>
          </a:p>
          <a:p>
            <a:r>
              <a:t>Step two is a route. When someone visits the home page, a slash, we reply with index.html.</a:t>
            </a:r>
          </a:p>
          <a:p>
            <a:r>
              <a:t>Step three, app.listen, starts the server so it can accept visitors.</a:t>
            </a:r>
          </a:p>
          <a:p>
            <a:r>
              <a:t>A lesson I learned here: the HTML asks for /public/css/style.css, so the server has to expose the folder under the /public path, otherwise the browser gets a 404 and the page shows without styling.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a:t>
            </a:r>
          </a:p>
          <a:p>
            <a:r>
              <a:t>Now the page itself. In index.html I used semantic tags like header, form and section, which makes the page easier to understand, and better for accessibility and screen readers.</a:t>
            </a:r>
          </a:p>
          <a:p>
            <a:r>
              <a:t>I also picked the right input types: email, date and tel. The browser then helps for free: a date picker, a number keypad on phones, and basic checks. The Age field is read-only because JavaScript fills it in; the user cannot type into it. The Programme field uses a datalist, which gives a searchable dropdown without any library.</a:t>
            </a:r>
          </a:p>
          <a:p>
            <a:r>
              <a:t>The table rows are not in the HTML at all. script.js creates them from the database data.</a:t>
            </a:r>
          </a:p>
          <a:p>
            <a:r>
              <a:t>For the styling, I defined the colour palette once as CSS variables in the root, so a theme change is a one-line edit. The table uses CSS Grid to align ten columns, and a media query makes the form stack nicely on small screens.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30 seconds]</a:t>
            </a:r>
          </a:p>
          <a:p>
            <a:r>
              <a:t>Now the most important file, script.js. At the top are four small functions, one for each database operation. This table is the cheat sheet.</a:t>
            </a:r>
          </a:p>
          <a:p>
            <a:r>
              <a:t>GET reads all students. POST creates one. PATCH updates one. DELETE removes one. For PATCH and DELETE we tell Supabase which student with a filter at the end of the URL: student_id equals the ID. That is what eq dot means.</a:t>
            </a:r>
          </a:p>
          <a:p>
            <a:r>
              <a:t>Look at the code example on the left. The function is marked async and uses the await keyword in front of fetch. That means 'send the request and wait for the answer, but do not freeze the page while waiting'. If the server replies with an error, we throw an error, and further up the code catches it and shows a message to the user.</a:t>
            </a:r>
          </a:p>
          <a:p>
            <a:r>
              <a:t>On the right: every request carries headers containing the API key. And I ask Supabase to return the saved row, so the table can be updated immediately with exactly what is stored.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a:t>
            </a:r>
          </a:p>
          <a:p>
            <a:r>
              <a:t>One of my main goals was to stop mistakes before they reach the database, so I built several rules.</a:t>
            </a:r>
          </a:p>
          <a:p>
            <a:r>
              <a:t>The Student ID accepts digits only and must be exactly eight. If you type a letter, it is removed immediately. The app also keeps a list of IDs that are already registered, and rejects duplicates. The phone number is digits only, maximum ten. The date of birth cannot be in the future, and the age is calculated automatically.</a:t>
            </a:r>
          </a:p>
          <a:p>
            <a:r>
              <a:t>My favourite rule links the programme and the level. Each programme has a duration in years: most are four, Architecture is five, and Pharmacy and Medicine are six. The maximum level is the number of years times one hundred. So if you choose Computer Science, the 500 and 600 options are disabled.</a:t>
            </a:r>
          </a:p>
          <a:p>
            <a:r>
              <a:t>The age calculation is shown bottom right: take this year minus the birth year, then subtract one if the birthday has not happened yet this year.</a:t>
            </a:r>
          </a:p>
          <a:p>
            <a:r>
              <a:t>Honest note: these checks run in the browser, and I come back to that in the lessons.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a:t>
            </a:r>
          </a:p>
          <a:p>
            <a:r>
              <a:t>This slide shows a design idea I am proud of. The same form is used both for adding and for editing, and one variable decides which one is happening: editingStudentId.</a:t>
            </a:r>
          </a:p>
          <a:p>
            <a:r>
              <a:t>When you click Edit, the student's details are copied into the form, editingStudentId is set to that student's ID, and the button text changes to 'Update student'. When you submit, the code checks that variable: if it is not null, we send a PATCH request to update; if it is null, we send a POST request to create.</a:t>
            </a:r>
          </a:p>
          <a:p>
            <a:r>
              <a:t>The duplicate-ID check has one exception: the student you are editing is allowed to keep their own ID.</a:t>
            </a:r>
          </a:p>
          <a:p>
            <a:r>
              <a:t>After saving, the old row is removed from the table and the updated one is added. To find rows quickly, I store every table row in a JavaScript Map keyed by student ID, so updating or deleting does not need to search the whole table.</a:t>
            </a:r>
          </a:p>
          <a:p>
            <a:r>
              <a:t>The screenshot shows the Edit and Delete buttons at the end of each 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15 seconds]</a:t>
            </a:r>
          </a:p>
          <a:p>
            <a:r>
              <a:t>Here are the main things I learned.</a:t>
            </a:r>
          </a:p>
          <a:p>
            <a:r>
              <a:t>One: file paths must match. My page asked for /public/css/style.css but the server only exposed the public folder at the root, so the CSS returned a 404 error. A good reminder to check the Network tab in the browser's developer tools.</a:t>
            </a:r>
          </a:p>
          <a:p>
            <a:r>
              <a:t>Two: asynchronous code takes practice. Using async and await with try, catch and finally keeps the app responsive and lets me show helpful error messages.</a:t>
            </a:r>
          </a:p>
          <a:p>
            <a:r>
              <a:t>Three: keeping the screen and the database in sync. After every save or delete I update a list of IDs and the row Map.</a:t>
            </a:r>
          </a:p>
          <a:p>
            <a:r>
              <a:t>Four and five are about security, and they are the most important. Browser validation helps users but does not protect data, because anyone can bypass it. Real protection must also exist in the database. And the anon key in the code is designed to be public, but it is only safe if Row Level Security is turned on in Supabase.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a:t>
            </a:r>
          </a:p>
          <a:p>
            <a:r>
              <a:t>If I continued the project, I would work in three steps.</a:t>
            </a:r>
          </a:p>
          <a:p>
            <a:r>
              <a:t>Quick wins: a search bar to filter the table, a clear-form button, export to CSV, and nicer notifications instead of browser pop-ups.</a:t>
            </a:r>
          </a:p>
          <a:p>
            <a:r>
              <a:t>Medium term: pagination and sorting for large registers, automated tests for the validation logic, moving settings into an environment file, and adding a unique constraint on student ID in the database.</a:t>
            </a:r>
          </a:p>
          <a:p>
            <a:r>
              <a:t>Long term: a staff login with Supabase Auth, with Row Level Security policies, loading the programmes from the database instead of hard-coding them, and deploying the app online.</a:t>
            </a:r>
          </a:p>
          <a:p>
            <a:r>
              <a:t>The onboarding guide in the docs folder has step-by-step hints for the first three quick wins, so future interns can practise on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seconds, then Q&amp;A]</a:t>
            </a:r>
          </a:p>
          <a:p>
            <a:r>
              <a:t>That is the Student Management System. To try it yourself, clone the repository, run npm install, then npm start, and open localhost:3000. Thank you for listening. I'm happy to take questions.</a:t>
            </a:r>
          </a:p>
          <a:p/>
          <a:p>
            <a:r>
              <a:t>LIKELY QUESTIONS AND SHORT ANSWERS</a:t>
            </a:r>
          </a:p>
          <a:p>
            <a:r>
              <a:t>- Why not use a framework like React? To keep the code simple and learn the fundamentals of HTML, CSS and JavaScript first.</a:t>
            </a:r>
          </a:p>
          <a:p>
            <a:r>
              <a:t>- Is the API key a security risk? The anon key is meant to be public; the real protection is Row Level Security policies in Supabase, which I would tighten, together with staff login.</a:t>
            </a:r>
          </a:p>
          <a:p>
            <a:r>
              <a:t>- Why does the server not talk to the database? Supabase offers a REST API the browser can call directly, so the Express server only needs to deliver the files.</a:t>
            </a:r>
          </a:p>
          <a:p>
            <a:r>
              <a:t>- What happens if two people use the app at once? Each action goes to the database, so data is shared. A unique constraint on student_id in the database would stop duplicate IDs even if two people add the same one at the same time.</a:t>
            </a:r>
          </a:p>
          <a:p>
            <a:r>
              <a:t>- Why is the Supabase script included in index.html if you use fetch? It is loaded from a CDN but the project calls the REST API with fetch directly, so it could be removed or used later.</a:t>
            </a:r>
          </a:p>
          <a:p>
            <a:r>
              <a:t>- How is age calculated? Current year minus birth year, minus one if the birthday has not happened yet this year.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1234440"/>
            <a:ext cx="9144000" cy="365760"/>
          </a:xfrm>
          <a:prstGeom prst="rect">
            <a:avLst/>
          </a:prstGeom>
          <a:noFill/>
        </p:spPr>
        <p:txBody>
          <a:bodyPr wrap="square" lIns="45720" rIns="45720" tIns="27432" bIns="27432" anchor="t">
            <a:spAutoFit/>
          </a:bodyPr>
          <a:lstStyle/>
          <a:p>
            <a:pPr algn="l">
              <a:spcAft>
                <a:spcPts val="600"/>
              </a:spcAft>
            </a:pPr>
            <a:r>
              <a:rPr sz="1600" b="1" i="0">
                <a:solidFill>
                  <a:srgbClr val="A9792C"/>
                </a:solidFill>
                <a:latin typeface="Calibri"/>
              </a:rPr>
              <a:t>KNUST  ·  REGISTRY</a:t>
            </a:r>
          </a:p>
        </p:txBody>
      </p:sp>
      <p:sp>
        <p:nvSpPr>
          <p:cNvPr id="4" name="TextBox 3"/>
          <p:cNvSpPr txBox="1"/>
          <p:nvPr/>
        </p:nvSpPr>
        <p:spPr>
          <a:xfrm>
            <a:off x="914400" y="1783080"/>
            <a:ext cx="10789920" cy="1097280"/>
          </a:xfrm>
          <a:prstGeom prst="rect">
            <a:avLst/>
          </a:prstGeom>
          <a:noFill/>
        </p:spPr>
        <p:txBody>
          <a:bodyPr wrap="square" lIns="45720" rIns="45720" tIns="27432" bIns="27432" anchor="t">
            <a:spAutoFit/>
          </a:bodyPr>
          <a:lstStyle/>
          <a:p>
            <a:pPr algn="l">
              <a:spcAft>
                <a:spcPts val="600"/>
              </a:spcAft>
            </a:pPr>
            <a:r>
              <a:rPr sz="4600" b="1" i="0">
                <a:solidFill>
                  <a:srgbClr val="EEE7D6"/>
                </a:solidFill>
                <a:latin typeface="Georgia"/>
              </a:rPr>
              <a:t>Student Management System</a:t>
            </a:r>
          </a:p>
        </p:txBody>
      </p:sp>
      <p:sp>
        <p:nvSpPr>
          <p:cNvPr id="5" name="Rectangle 4"/>
          <p:cNvSpPr/>
          <p:nvPr/>
        </p:nvSpPr>
        <p:spPr>
          <a:xfrm>
            <a:off x="914400" y="3063240"/>
            <a:ext cx="2926080" cy="2743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914400" y="3127248"/>
            <a:ext cx="2926080" cy="13716"/>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3383280"/>
            <a:ext cx="9601200" cy="914400"/>
          </a:xfrm>
          <a:prstGeom prst="rect">
            <a:avLst/>
          </a:prstGeom>
          <a:noFill/>
        </p:spPr>
        <p:txBody>
          <a:bodyPr wrap="square" lIns="45720" rIns="45720" tIns="27432" bIns="27432" anchor="t">
            <a:spAutoFit/>
          </a:bodyPr>
          <a:lstStyle/>
          <a:p>
            <a:pPr algn="l">
              <a:spcAft>
                <a:spcPts val="600"/>
              </a:spcAft>
            </a:pPr>
            <a:r>
              <a:rPr sz="2200" b="0" i="0">
                <a:solidFill>
                  <a:srgbClr val="C9BFA2"/>
                </a:solidFill>
                <a:latin typeface="Calibri"/>
              </a:rPr>
              <a:t>A beginner-friendly full-stack web app to add, view, edit and delete student records</a:t>
            </a:r>
          </a:p>
        </p:txBody>
      </p:sp>
      <p:sp>
        <p:nvSpPr>
          <p:cNvPr id="8" name="TextBox 7"/>
          <p:cNvSpPr txBox="1"/>
          <p:nvPr/>
        </p:nvSpPr>
        <p:spPr>
          <a:xfrm>
            <a:off x="914400" y="4846320"/>
            <a:ext cx="9144000" cy="365760"/>
          </a:xfrm>
          <a:prstGeom prst="rect">
            <a:avLst/>
          </a:prstGeom>
          <a:noFill/>
        </p:spPr>
        <p:txBody>
          <a:bodyPr wrap="square" lIns="45720" rIns="45720" tIns="27432" bIns="27432" anchor="t">
            <a:spAutoFit/>
          </a:bodyPr>
          <a:lstStyle/>
          <a:p>
            <a:pPr algn="l">
              <a:spcAft>
                <a:spcPts val="600"/>
              </a:spcAft>
            </a:pPr>
            <a:r>
              <a:rPr sz="1800" b="1" i="0">
                <a:solidFill>
                  <a:srgbClr val="EEE7D6"/>
                </a:solidFill>
                <a:latin typeface="Calibri"/>
              </a:rPr>
              <a:t>Intern Project Presentation</a:t>
            </a:r>
          </a:p>
        </p:txBody>
      </p:sp>
      <p:sp>
        <p:nvSpPr>
          <p:cNvPr id="9" name="TextBox 8"/>
          <p:cNvSpPr txBox="1"/>
          <p:nvPr/>
        </p:nvSpPr>
        <p:spPr>
          <a:xfrm>
            <a:off x="914400" y="5257800"/>
            <a:ext cx="10058400" cy="365760"/>
          </a:xfrm>
          <a:prstGeom prst="rect">
            <a:avLst/>
          </a:prstGeom>
          <a:noFill/>
        </p:spPr>
        <p:txBody>
          <a:bodyPr wrap="square" lIns="45720" rIns="45720" tIns="27432" bIns="27432" anchor="t">
            <a:spAutoFit/>
          </a:bodyPr>
          <a:lstStyle/>
          <a:p>
            <a:pPr algn="l">
              <a:spcAft>
                <a:spcPts val="600"/>
              </a:spcAft>
            </a:pPr>
            <a:r>
              <a:rPr sz="1600" b="0" i="0">
                <a:solidFill>
                  <a:srgbClr val="A9792C"/>
                </a:solidFill>
                <a:latin typeface="Consolas"/>
              </a:rPr>
              <a:t>https://github.com/acheampongmaamary/student-management-system</a:t>
            </a:r>
          </a:p>
        </p:txBody>
      </p:sp>
      <p:sp>
        <p:nvSpPr>
          <p:cNvPr id="10" name="TextBox 9"/>
          <p:cNvSpPr txBox="1"/>
          <p:nvPr/>
        </p:nvSpPr>
        <p:spPr>
          <a:xfrm>
            <a:off x="914400" y="5943600"/>
            <a:ext cx="10058400" cy="365760"/>
          </a:xfrm>
          <a:prstGeom prst="rect">
            <a:avLst/>
          </a:prstGeom>
          <a:noFill/>
        </p:spPr>
        <p:txBody>
          <a:bodyPr wrap="square" lIns="45720" rIns="45720" tIns="27432" bIns="27432" anchor="t">
            <a:spAutoFit/>
          </a:bodyPr>
          <a:lstStyle/>
          <a:p>
            <a:pPr algn="l">
              <a:spcAft>
                <a:spcPts val="600"/>
              </a:spcAft>
            </a:pPr>
            <a:r>
              <a:rPr sz="1300" b="0" i="0">
                <a:solidFill>
                  <a:srgbClr val="C9BFA2"/>
                </a:solidFill>
                <a:latin typeface="Calibri"/>
              </a:rPr>
              <a:t>HTML  ·  CSS  ·  JavaScript  ·  Node.js  ·  Express  ·  Supabase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ROADMAP</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What we will cover  (about 13 minutes)</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2 / 16</a:t>
            </a:r>
          </a:p>
        </p:txBody>
      </p:sp>
      <p:sp>
        <p:nvSpPr>
          <p:cNvPr id="8" name="Rectangle 7"/>
          <p:cNvSpPr/>
          <p:nvPr/>
        </p:nvSpPr>
        <p:spPr>
          <a:xfrm>
            <a:off x="548640" y="1645920"/>
            <a:ext cx="11091672" cy="640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31520" y="1737360"/>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Georgia"/>
              </a:rPr>
              <a:t>1</a:t>
            </a:r>
          </a:p>
        </p:txBody>
      </p:sp>
      <p:sp>
        <p:nvSpPr>
          <p:cNvPr id="10" name="TextBox 9"/>
          <p:cNvSpPr txBox="1"/>
          <p:nvPr/>
        </p:nvSpPr>
        <p:spPr>
          <a:xfrm>
            <a:off x="1417320" y="1737360"/>
            <a:ext cx="7772400" cy="457200"/>
          </a:xfrm>
          <a:prstGeom prst="rect">
            <a:avLst/>
          </a:prstGeom>
          <a:noFill/>
        </p:spPr>
        <p:txBody>
          <a:bodyPr wrap="square" lIns="45720" rIns="45720" tIns="27432" bIns="27432" anchor="ctr">
            <a:spAutoFit/>
          </a:bodyPr>
          <a:lstStyle/>
          <a:p>
            <a:pPr algn="l">
              <a:spcAft>
                <a:spcPts val="600"/>
              </a:spcAft>
            </a:pPr>
            <a:r>
              <a:rPr sz="2000" b="0" i="0">
                <a:solidFill>
                  <a:srgbClr val="1F2A44"/>
                </a:solidFill>
                <a:latin typeface="Georgia"/>
              </a:rPr>
              <a:t>The problem and the goal</a:t>
            </a:r>
          </a:p>
        </p:txBody>
      </p:sp>
      <p:sp>
        <p:nvSpPr>
          <p:cNvPr id="11" name="Rounded Rectangle 10"/>
          <p:cNvSpPr/>
          <p:nvPr/>
        </p:nvSpPr>
        <p:spPr>
          <a:xfrm>
            <a:off x="10332720" y="1801368"/>
            <a:ext cx="1097280" cy="329184"/>
          </a:xfrm>
          <a:prstGeom prst="roundRect">
            <a:avLst>
              <a:gd name="adj" fmla="val 50000"/>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FFFFFF"/>
                </a:solidFill>
                <a:latin typeface="Calibri"/>
              </a:rPr>
              <a:t>1 min</a:t>
            </a:r>
          </a:p>
        </p:txBody>
      </p:sp>
      <p:sp>
        <p:nvSpPr>
          <p:cNvPr id="12" name="Rectangle 11"/>
          <p:cNvSpPr/>
          <p:nvPr/>
        </p:nvSpPr>
        <p:spPr>
          <a:xfrm>
            <a:off x="548640" y="2395728"/>
            <a:ext cx="11091672" cy="640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1520" y="2487168"/>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Georgia"/>
              </a:rPr>
              <a:t>2</a:t>
            </a:r>
          </a:p>
        </p:txBody>
      </p:sp>
      <p:sp>
        <p:nvSpPr>
          <p:cNvPr id="14" name="TextBox 13"/>
          <p:cNvSpPr txBox="1"/>
          <p:nvPr/>
        </p:nvSpPr>
        <p:spPr>
          <a:xfrm>
            <a:off x="1417320" y="2487168"/>
            <a:ext cx="7772400" cy="457200"/>
          </a:xfrm>
          <a:prstGeom prst="rect">
            <a:avLst/>
          </a:prstGeom>
          <a:noFill/>
        </p:spPr>
        <p:txBody>
          <a:bodyPr wrap="square" lIns="45720" rIns="45720" tIns="27432" bIns="27432" anchor="ctr">
            <a:spAutoFit/>
          </a:bodyPr>
          <a:lstStyle/>
          <a:p>
            <a:pPr algn="l">
              <a:spcAft>
                <a:spcPts val="600"/>
              </a:spcAft>
            </a:pPr>
            <a:r>
              <a:rPr sz="2000" b="0" i="0">
                <a:solidFill>
                  <a:srgbClr val="1F2A44"/>
                </a:solidFill>
                <a:latin typeface="Georgia"/>
              </a:rPr>
              <a:t>What the app does + live demo</a:t>
            </a:r>
          </a:p>
        </p:txBody>
      </p:sp>
      <p:sp>
        <p:nvSpPr>
          <p:cNvPr id="15" name="Rounded Rectangle 14"/>
          <p:cNvSpPr/>
          <p:nvPr/>
        </p:nvSpPr>
        <p:spPr>
          <a:xfrm>
            <a:off x="10332720" y="2551176"/>
            <a:ext cx="1097280" cy="329184"/>
          </a:xfrm>
          <a:prstGeom prst="roundRect">
            <a:avLst>
              <a:gd name="adj" fmla="val 50000"/>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FFFFFF"/>
                </a:solidFill>
                <a:latin typeface="Calibri"/>
              </a:rPr>
              <a:t>2 min</a:t>
            </a:r>
          </a:p>
        </p:txBody>
      </p:sp>
      <p:sp>
        <p:nvSpPr>
          <p:cNvPr id="16" name="Rectangle 15"/>
          <p:cNvSpPr/>
          <p:nvPr/>
        </p:nvSpPr>
        <p:spPr>
          <a:xfrm>
            <a:off x="548640" y="3145536"/>
            <a:ext cx="11091672" cy="640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31520" y="3236976"/>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Georgia"/>
              </a:rPr>
              <a:t>3</a:t>
            </a:r>
          </a:p>
        </p:txBody>
      </p:sp>
      <p:sp>
        <p:nvSpPr>
          <p:cNvPr id="18" name="TextBox 17"/>
          <p:cNvSpPr txBox="1"/>
          <p:nvPr/>
        </p:nvSpPr>
        <p:spPr>
          <a:xfrm>
            <a:off x="1417320" y="3236976"/>
            <a:ext cx="7772400" cy="457200"/>
          </a:xfrm>
          <a:prstGeom prst="rect">
            <a:avLst/>
          </a:prstGeom>
          <a:noFill/>
        </p:spPr>
        <p:txBody>
          <a:bodyPr wrap="square" lIns="45720" rIns="45720" tIns="27432" bIns="27432" anchor="ctr">
            <a:spAutoFit/>
          </a:bodyPr>
          <a:lstStyle/>
          <a:p>
            <a:pPr algn="l">
              <a:spcAft>
                <a:spcPts val="600"/>
              </a:spcAft>
            </a:pPr>
            <a:r>
              <a:rPr sz="2000" b="0" i="0">
                <a:solidFill>
                  <a:srgbClr val="1F2A44"/>
                </a:solidFill>
                <a:latin typeface="Georgia"/>
              </a:rPr>
              <a:t>Tech stack and architecture</a:t>
            </a:r>
          </a:p>
        </p:txBody>
      </p:sp>
      <p:sp>
        <p:nvSpPr>
          <p:cNvPr id="19" name="Rounded Rectangle 18"/>
          <p:cNvSpPr/>
          <p:nvPr/>
        </p:nvSpPr>
        <p:spPr>
          <a:xfrm>
            <a:off x="10332720" y="3300984"/>
            <a:ext cx="1097280" cy="329184"/>
          </a:xfrm>
          <a:prstGeom prst="roundRect">
            <a:avLst>
              <a:gd name="adj" fmla="val 50000"/>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FFFFFF"/>
                </a:solidFill>
                <a:latin typeface="Calibri"/>
              </a:rPr>
              <a:t>2 min</a:t>
            </a:r>
          </a:p>
        </p:txBody>
      </p:sp>
      <p:sp>
        <p:nvSpPr>
          <p:cNvPr id="20" name="Rectangle 19"/>
          <p:cNvSpPr/>
          <p:nvPr/>
        </p:nvSpPr>
        <p:spPr>
          <a:xfrm>
            <a:off x="548640" y="3895344"/>
            <a:ext cx="11091672" cy="640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31520" y="3986783"/>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Georgia"/>
              </a:rPr>
              <a:t>4</a:t>
            </a:r>
          </a:p>
        </p:txBody>
      </p:sp>
      <p:sp>
        <p:nvSpPr>
          <p:cNvPr id="22" name="TextBox 21"/>
          <p:cNvSpPr txBox="1"/>
          <p:nvPr/>
        </p:nvSpPr>
        <p:spPr>
          <a:xfrm>
            <a:off x="1417320" y="3986783"/>
            <a:ext cx="7772400" cy="457200"/>
          </a:xfrm>
          <a:prstGeom prst="rect">
            <a:avLst/>
          </a:prstGeom>
          <a:noFill/>
        </p:spPr>
        <p:txBody>
          <a:bodyPr wrap="square" lIns="45720" rIns="45720" tIns="27432" bIns="27432" anchor="ctr">
            <a:spAutoFit/>
          </a:bodyPr>
          <a:lstStyle/>
          <a:p>
            <a:pPr algn="l">
              <a:spcAft>
                <a:spcPts val="600"/>
              </a:spcAft>
            </a:pPr>
            <a:r>
              <a:rPr sz="2000" b="0" i="0">
                <a:solidFill>
                  <a:srgbClr val="1F2A44"/>
                </a:solidFill>
                <a:latin typeface="Georgia"/>
              </a:rPr>
              <a:t>Code walkthrough: server, HTML/CSS, JavaScript</a:t>
            </a:r>
          </a:p>
        </p:txBody>
      </p:sp>
      <p:sp>
        <p:nvSpPr>
          <p:cNvPr id="23" name="Rounded Rectangle 22"/>
          <p:cNvSpPr/>
          <p:nvPr/>
        </p:nvSpPr>
        <p:spPr>
          <a:xfrm>
            <a:off x="10332720" y="4050791"/>
            <a:ext cx="1097280" cy="329184"/>
          </a:xfrm>
          <a:prstGeom prst="roundRect">
            <a:avLst>
              <a:gd name="adj" fmla="val 50000"/>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FFFFFF"/>
                </a:solidFill>
                <a:latin typeface="Calibri"/>
              </a:rPr>
              <a:t>4 min</a:t>
            </a:r>
          </a:p>
        </p:txBody>
      </p:sp>
      <p:sp>
        <p:nvSpPr>
          <p:cNvPr id="24" name="Rectangle 23"/>
          <p:cNvSpPr/>
          <p:nvPr/>
        </p:nvSpPr>
        <p:spPr>
          <a:xfrm>
            <a:off x="548640" y="4645152"/>
            <a:ext cx="11091672" cy="640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31520" y="4736592"/>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Georgia"/>
              </a:rPr>
              <a:t>5</a:t>
            </a:r>
          </a:p>
        </p:txBody>
      </p:sp>
      <p:sp>
        <p:nvSpPr>
          <p:cNvPr id="26" name="TextBox 25"/>
          <p:cNvSpPr txBox="1"/>
          <p:nvPr/>
        </p:nvSpPr>
        <p:spPr>
          <a:xfrm>
            <a:off x="1417320" y="4736592"/>
            <a:ext cx="7772400" cy="457200"/>
          </a:xfrm>
          <a:prstGeom prst="rect">
            <a:avLst/>
          </a:prstGeom>
          <a:noFill/>
        </p:spPr>
        <p:txBody>
          <a:bodyPr wrap="square" lIns="45720" rIns="45720" tIns="27432" bIns="27432" anchor="ctr">
            <a:spAutoFit/>
          </a:bodyPr>
          <a:lstStyle/>
          <a:p>
            <a:pPr algn="l">
              <a:spcAft>
                <a:spcPts val="600"/>
              </a:spcAft>
            </a:pPr>
            <a:r>
              <a:rPr sz="2000" b="0" i="0">
                <a:solidFill>
                  <a:srgbClr val="1F2A44"/>
                </a:solidFill>
                <a:latin typeface="Georgia"/>
              </a:rPr>
              <a:t>Validation rules and lessons learned</a:t>
            </a:r>
          </a:p>
        </p:txBody>
      </p:sp>
      <p:sp>
        <p:nvSpPr>
          <p:cNvPr id="27" name="Rounded Rectangle 26"/>
          <p:cNvSpPr/>
          <p:nvPr/>
        </p:nvSpPr>
        <p:spPr>
          <a:xfrm>
            <a:off x="10332720" y="4800600"/>
            <a:ext cx="1097280" cy="329184"/>
          </a:xfrm>
          <a:prstGeom prst="roundRect">
            <a:avLst>
              <a:gd name="adj" fmla="val 50000"/>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FFFFFF"/>
                </a:solidFill>
                <a:latin typeface="Calibri"/>
              </a:rPr>
              <a:t>2 min</a:t>
            </a:r>
          </a:p>
        </p:txBody>
      </p:sp>
      <p:sp>
        <p:nvSpPr>
          <p:cNvPr id="28" name="Rectangle 27"/>
          <p:cNvSpPr/>
          <p:nvPr/>
        </p:nvSpPr>
        <p:spPr>
          <a:xfrm>
            <a:off x="548640" y="5394960"/>
            <a:ext cx="11091672" cy="640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31520" y="5486400"/>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Georgia"/>
              </a:rPr>
              <a:t>6</a:t>
            </a:r>
          </a:p>
        </p:txBody>
      </p:sp>
      <p:sp>
        <p:nvSpPr>
          <p:cNvPr id="30" name="TextBox 29"/>
          <p:cNvSpPr txBox="1"/>
          <p:nvPr/>
        </p:nvSpPr>
        <p:spPr>
          <a:xfrm>
            <a:off x="1417320" y="5486400"/>
            <a:ext cx="7772400" cy="457200"/>
          </a:xfrm>
          <a:prstGeom prst="rect">
            <a:avLst/>
          </a:prstGeom>
          <a:noFill/>
        </p:spPr>
        <p:txBody>
          <a:bodyPr wrap="square" lIns="45720" rIns="45720" tIns="27432" bIns="27432" anchor="ctr">
            <a:spAutoFit/>
          </a:bodyPr>
          <a:lstStyle/>
          <a:p>
            <a:pPr algn="l">
              <a:spcAft>
                <a:spcPts val="600"/>
              </a:spcAft>
            </a:pPr>
            <a:r>
              <a:rPr sz="2000" b="0" i="0">
                <a:solidFill>
                  <a:srgbClr val="1F2A44"/>
                </a:solidFill>
                <a:latin typeface="Georgia"/>
              </a:rPr>
              <a:t>Future improvements and questions</a:t>
            </a:r>
          </a:p>
        </p:txBody>
      </p:sp>
      <p:sp>
        <p:nvSpPr>
          <p:cNvPr id="31" name="Rounded Rectangle 30"/>
          <p:cNvSpPr/>
          <p:nvPr/>
        </p:nvSpPr>
        <p:spPr>
          <a:xfrm>
            <a:off x="10332720" y="5550408"/>
            <a:ext cx="1097280" cy="329184"/>
          </a:xfrm>
          <a:prstGeom prst="roundRect">
            <a:avLst>
              <a:gd name="adj" fmla="val 50000"/>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FFFFFF"/>
                </a:solidFill>
                <a:latin typeface="Calibri"/>
              </a:rPr>
              <a:t>2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CONTEXT</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The problem and the goal</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3 / 16</a:t>
            </a:r>
          </a:p>
        </p:txBody>
      </p:sp>
      <p:sp>
        <p:nvSpPr>
          <p:cNvPr id="8" name="Rectangle 7"/>
          <p:cNvSpPr/>
          <p:nvPr/>
        </p:nvSpPr>
        <p:spPr>
          <a:xfrm>
            <a:off x="548640" y="1645920"/>
            <a:ext cx="5440680" cy="301752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45920"/>
            <a:ext cx="5440680" cy="64008"/>
          </a:xfrm>
          <a:prstGeom prst="rect">
            <a:avLst/>
          </a:prstGeom>
          <a:solidFill>
            <a:srgbClr val="9C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1828800"/>
            <a:ext cx="5074920" cy="457200"/>
          </a:xfrm>
          <a:prstGeom prst="rect">
            <a:avLst/>
          </a:prstGeom>
          <a:noFill/>
        </p:spPr>
        <p:txBody>
          <a:bodyPr wrap="square" lIns="45720" rIns="45720" tIns="27432" bIns="27432" anchor="t">
            <a:spAutoFit/>
          </a:bodyPr>
          <a:lstStyle/>
          <a:p>
            <a:pPr algn="l">
              <a:spcAft>
                <a:spcPts val="600"/>
              </a:spcAft>
            </a:pPr>
            <a:r>
              <a:rPr sz="1800" b="1" i="0">
                <a:solidFill>
                  <a:srgbClr val="1F2A44"/>
                </a:solidFill>
                <a:latin typeface="Georgia"/>
              </a:rPr>
              <a:t>The problem</a:t>
            </a:r>
          </a:p>
        </p:txBody>
      </p:sp>
      <p:sp>
        <p:nvSpPr>
          <p:cNvPr id="11" name="TextBox 10"/>
          <p:cNvSpPr txBox="1"/>
          <p:nvPr/>
        </p:nvSpPr>
        <p:spPr>
          <a:xfrm>
            <a:off x="731520" y="2359152"/>
            <a:ext cx="5074920" cy="2194560"/>
          </a:xfrm>
          <a:prstGeom prst="rect">
            <a:avLst/>
          </a:prstGeom>
          <a:noFill/>
        </p:spPr>
        <p:txBody>
          <a:bodyPr wrap="square" lIns="45720" rIns="45720" tIns="27432" bIns="27432" anchor="t">
            <a:spAutoFit/>
          </a:bodyPr>
          <a:lstStyle/>
          <a:p>
            <a:pPr algn="l" marL="237744" indent="-237744">
              <a:spcAft>
                <a:spcPts val="500"/>
              </a:spcAft>
              <a:buClr>
                <a:srgbClr val="A9792C"/>
              </a:buClr>
              <a:buChar char="•"/>
            </a:pPr>
            <a:r>
              <a:rPr sz="1500" b="0" i="0">
                <a:solidFill>
                  <a:srgbClr val="241F14"/>
                </a:solidFill>
                <a:latin typeface="Calibri"/>
              </a:rPr>
              <a:t>A registry keeps many details per student: names, ID, contacts, programme, level</a:t>
            </a:r>
          </a:p>
          <a:p>
            <a:pPr algn="l" marL="237744" indent="-237744">
              <a:spcAft>
                <a:spcPts val="500"/>
              </a:spcAft>
              <a:buClr>
                <a:srgbClr val="A9792C"/>
              </a:buClr>
              <a:buChar char="•"/>
            </a:pPr>
            <a:r>
              <a:rPr sz="1500" b="0" i="0">
                <a:solidFill>
                  <a:srgbClr val="241F14"/>
                </a:solidFill>
                <a:latin typeface="Calibri"/>
              </a:rPr>
              <a:t>Paper ledgers and loose spreadsheets are slow to search and easy to mistype</a:t>
            </a:r>
          </a:p>
          <a:p>
            <a:pPr algn="l" marL="237744" indent="-237744">
              <a:spcAft>
                <a:spcPts val="500"/>
              </a:spcAft>
              <a:buClr>
                <a:srgbClr val="A9792C"/>
              </a:buClr>
              <a:buChar char="•"/>
            </a:pPr>
            <a:r>
              <a:rPr sz="1500" b="0" i="0">
                <a:solidFill>
                  <a:srgbClr val="241F14"/>
                </a:solidFill>
                <a:latin typeface="Calibri"/>
              </a:rPr>
              <a:t>Duplicate IDs and impossible values (e.g. level 600 on a 4-year degree) slip in unnoticed</a:t>
            </a:r>
          </a:p>
        </p:txBody>
      </p:sp>
      <p:sp>
        <p:nvSpPr>
          <p:cNvPr id="12" name="Rectangle 11"/>
          <p:cNvSpPr/>
          <p:nvPr/>
        </p:nvSpPr>
        <p:spPr>
          <a:xfrm>
            <a:off x="6199632" y="1645920"/>
            <a:ext cx="5440680" cy="301752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199632" y="1645920"/>
            <a:ext cx="5440680" cy="64008"/>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2512" y="1828800"/>
            <a:ext cx="5074920" cy="457200"/>
          </a:xfrm>
          <a:prstGeom prst="rect">
            <a:avLst/>
          </a:prstGeom>
          <a:noFill/>
        </p:spPr>
        <p:txBody>
          <a:bodyPr wrap="square" lIns="45720" rIns="45720" tIns="27432" bIns="27432" anchor="t">
            <a:spAutoFit/>
          </a:bodyPr>
          <a:lstStyle/>
          <a:p>
            <a:pPr algn="l">
              <a:spcAft>
                <a:spcPts val="600"/>
              </a:spcAft>
            </a:pPr>
            <a:r>
              <a:rPr sz="1800" b="1" i="0">
                <a:solidFill>
                  <a:srgbClr val="1F2A44"/>
                </a:solidFill>
                <a:latin typeface="Georgia"/>
              </a:rPr>
              <a:t>The goal</a:t>
            </a:r>
          </a:p>
        </p:txBody>
      </p:sp>
      <p:sp>
        <p:nvSpPr>
          <p:cNvPr id="15" name="TextBox 14"/>
          <p:cNvSpPr txBox="1"/>
          <p:nvPr/>
        </p:nvSpPr>
        <p:spPr>
          <a:xfrm>
            <a:off x="6382512" y="2359152"/>
            <a:ext cx="5074920" cy="2194560"/>
          </a:xfrm>
          <a:prstGeom prst="rect">
            <a:avLst/>
          </a:prstGeom>
          <a:noFill/>
        </p:spPr>
        <p:txBody>
          <a:bodyPr wrap="square" lIns="45720" rIns="45720" tIns="27432" bIns="27432" anchor="t">
            <a:spAutoFit/>
          </a:bodyPr>
          <a:lstStyle/>
          <a:p>
            <a:pPr algn="l" marL="237744" indent="-237744">
              <a:spcAft>
                <a:spcPts val="500"/>
              </a:spcAft>
              <a:buClr>
                <a:srgbClr val="A9792C"/>
              </a:buClr>
              <a:buChar char="•"/>
            </a:pPr>
            <a:r>
              <a:rPr sz="1500" b="0" i="0">
                <a:solidFill>
                  <a:srgbClr val="241F14"/>
                </a:solidFill>
                <a:latin typeface="Calibri"/>
              </a:rPr>
              <a:t>One simple web page to Create, Read, Update and Delete records (CRUD)</a:t>
            </a:r>
          </a:p>
          <a:p>
            <a:pPr algn="l" marL="237744" indent="-237744">
              <a:spcAft>
                <a:spcPts val="500"/>
              </a:spcAft>
              <a:buClr>
                <a:srgbClr val="A9792C"/>
              </a:buClr>
              <a:buChar char="•"/>
            </a:pPr>
            <a:r>
              <a:rPr sz="1500" b="0" i="0">
                <a:solidFill>
                  <a:srgbClr val="241F14"/>
                </a:solidFill>
                <a:latin typeface="Calibri"/>
              </a:rPr>
              <a:t>Catch mistakes before saving, using smart validation</a:t>
            </a:r>
          </a:p>
          <a:p>
            <a:pPr algn="l" marL="237744" indent="-237744">
              <a:spcAft>
                <a:spcPts val="500"/>
              </a:spcAft>
              <a:buClr>
                <a:srgbClr val="A9792C"/>
              </a:buClr>
              <a:buChar char="•"/>
            </a:pPr>
            <a:r>
              <a:rPr sz="1500" b="0" i="0">
                <a:solidFill>
                  <a:srgbClr val="241F14"/>
                </a:solidFill>
                <a:latin typeface="Calibri"/>
              </a:rPr>
              <a:t>Store data in the cloud so it is available from any browser</a:t>
            </a:r>
          </a:p>
          <a:p>
            <a:pPr algn="l" marL="237744" indent="-237744">
              <a:spcAft>
                <a:spcPts val="500"/>
              </a:spcAft>
              <a:buClr>
                <a:srgbClr val="A9792C"/>
              </a:buClr>
              <a:buChar char="•"/>
            </a:pPr>
            <a:r>
              <a:rPr sz="1500" b="0" i="0">
                <a:solidFill>
                  <a:srgbClr val="241F14"/>
                </a:solidFill>
                <a:latin typeface="Calibri"/>
              </a:rPr>
              <a:t>Keep the code simple enough for a beginner to understand</a:t>
            </a:r>
          </a:p>
        </p:txBody>
      </p:sp>
      <p:sp>
        <p:nvSpPr>
          <p:cNvPr id="16" name="Rectangle 15"/>
          <p:cNvSpPr/>
          <p:nvPr/>
        </p:nvSpPr>
        <p:spPr>
          <a:xfrm>
            <a:off x="548640" y="4892040"/>
            <a:ext cx="2633472" cy="132588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4956048"/>
            <a:ext cx="2633472" cy="731520"/>
          </a:xfrm>
          <a:prstGeom prst="rect">
            <a:avLst/>
          </a:prstGeom>
          <a:noFill/>
        </p:spPr>
        <p:txBody>
          <a:bodyPr wrap="square" lIns="45720" rIns="45720" tIns="27432" bIns="27432" anchor="t">
            <a:spAutoFit/>
          </a:bodyPr>
          <a:lstStyle/>
          <a:p>
            <a:pPr algn="ctr">
              <a:spcAft>
                <a:spcPts val="600"/>
              </a:spcAft>
            </a:pPr>
            <a:r>
              <a:rPr sz="4000" b="1" i="0">
                <a:solidFill>
                  <a:srgbClr val="A9792C"/>
                </a:solidFill>
                <a:latin typeface="Georgia"/>
              </a:rPr>
              <a:t>4</a:t>
            </a:r>
          </a:p>
        </p:txBody>
      </p:sp>
      <p:sp>
        <p:nvSpPr>
          <p:cNvPr id="18" name="TextBox 17"/>
          <p:cNvSpPr txBox="1"/>
          <p:nvPr/>
        </p:nvSpPr>
        <p:spPr>
          <a:xfrm>
            <a:off x="548640" y="5669280"/>
            <a:ext cx="2633472" cy="411480"/>
          </a:xfrm>
          <a:prstGeom prst="rect">
            <a:avLst/>
          </a:prstGeom>
          <a:noFill/>
        </p:spPr>
        <p:txBody>
          <a:bodyPr wrap="square" lIns="45720" rIns="45720" tIns="27432" bIns="27432" anchor="t">
            <a:spAutoFit/>
          </a:bodyPr>
          <a:lstStyle/>
          <a:p>
            <a:pPr algn="ctr">
              <a:spcAft>
                <a:spcPts val="600"/>
              </a:spcAft>
            </a:pPr>
            <a:r>
              <a:rPr sz="1400" b="0" i="0">
                <a:solidFill>
                  <a:srgbClr val="EEE7D6"/>
                </a:solidFill>
                <a:latin typeface="Calibri"/>
              </a:rPr>
              <a:t>CRUD operations</a:t>
            </a:r>
          </a:p>
        </p:txBody>
      </p:sp>
      <p:sp>
        <p:nvSpPr>
          <p:cNvPr id="19" name="Rectangle 18"/>
          <p:cNvSpPr/>
          <p:nvPr/>
        </p:nvSpPr>
        <p:spPr>
          <a:xfrm>
            <a:off x="3367735" y="4892040"/>
            <a:ext cx="2633472" cy="132588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367735" y="4956048"/>
            <a:ext cx="2633472" cy="731520"/>
          </a:xfrm>
          <a:prstGeom prst="rect">
            <a:avLst/>
          </a:prstGeom>
          <a:noFill/>
        </p:spPr>
        <p:txBody>
          <a:bodyPr wrap="square" lIns="45720" rIns="45720" tIns="27432" bIns="27432" anchor="t">
            <a:spAutoFit/>
          </a:bodyPr>
          <a:lstStyle/>
          <a:p>
            <a:pPr algn="ctr">
              <a:spcAft>
                <a:spcPts val="600"/>
              </a:spcAft>
            </a:pPr>
            <a:r>
              <a:rPr sz="4000" b="1" i="0">
                <a:solidFill>
                  <a:srgbClr val="A9792C"/>
                </a:solidFill>
                <a:latin typeface="Georgia"/>
              </a:rPr>
              <a:t>11</a:t>
            </a:r>
          </a:p>
        </p:txBody>
      </p:sp>
      <p:sp>
        <p:nvSpPr>
          <p:cNvPr id="21" name="TextBox 20"/>
          <p:cNvSpPr txBox="1"/>
          <p:nvPr/>
        </p:nvSpPr>
        <p:spPr>
          <a:xfrm>
            <a:off x="3367735" y="5669280"/>
            <a:ext cx="2633472" cy="411480"/>
          </a:xfrm>
          <a:prstGeom prst="rect">
            <a:avLst/>
          </a:prstGeom>
          <a:noFill/>
        </p:spPr>
        <p:txBody>
          <a:bodyPr wrap="square" lIns="45720" rIns="45720" tIns="27432" bIns="27432" anchor="t">
            <a:spAutoFit/>
          </a:bodyPr>
          <a:lstStyle/>
          <a:p>
            <a:pPr algn="ctr">
              <a:spcAft>
                <a:spcPts val="600"/>
              </a:spcAft>
            </a:pPr>
            <a:r>
              <a:rPr sz="1400" b="0" i="0">
                <a:solidFill>
                  <a:srgbClr val="EEE7D6"/>
                </a:solidFill>
                <a:latin typeface="Calibri"/>
              </a:rPr>
              <a:t>data fields per student</a:t>
            </a:r>
          </a:p>
        </p:txBody>
      </p:sp>
      <p:sp>
        <p:nvSpPr>
          <p:cNvPr id="22" name="Rectangle 21"/>
          <p:cNvSpPr/>
          <p:nvPr/>
        </p:nvSpPr>
        <p:spPr>
          <a:xfrm>
            <a:off x="6186830" y="4892040"/>
            <a:ext cx="2633472" cy="132588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186830" y="4956048"/>
            <a:ext cx="2633472" cy="731520"/>
          </a:xfrm>
          <a:prstGeom prst="rect">
            <a:avLst/>
          </a:prstGeom>
          <a:noFill/>
        </p:spPr>
        <p:txBody>
          <a:bodyPr wrap="square" lIns="45720" rIns="45720" tIns="27432" bIns="27432" anchor="t">
            <a:spAutoFit/>
          </a:bodyPr>
          <a:lstStyle/>
          <a:p>
            <a:pPr algn="ctr">
              <a:spcAft>
                <a:spcPts val="600"/>
              </a:spcAft>
            </a:pPr>
            <a:r>
              <a:rPr sz="4000" b="1" i="0">
                <a:solidFill>
                  <a:srgbClr val="A9792C"/>
                </a:solidFill>
                <a:latin typeface="Georgia"/>
              </a:rPr>
              <a:t>13</a:t>
            </a:r>
          </a:p>
        </p:txBody>
      </p:sp>
      <p:sp>
        <p:nvSpPr>
          <p:cNvPr id="24" name="TextBox 23"/>
          <p:cNvSpPr txBox="1"/>
          <p:nvPr/>
        </p:nvSpPr>
        <p:spPr>
          <a:xfrm>
            <a:off x="6186830" y="5669280"/>
            <a:ext cx="2633472" cy="411480"/>
          </a:xfrm>
          <a:prstGeom prst="rect">
            <a:avLst/>
          </a:prstGeom>
          <a:noFill/>
        </p:spPr>
        <p:txBody>
          <a:bodyPr wrap="square" lIns="45720" rIns="45720" tIns="27432" bIns="27432" anchor="t">
            <a:spAutoFit/>
          </a:bodyPr>
          <a:lstStyle/>
          <a:p>
            <a:pPr algn="ctr">
              <a:spcAft>
                <a:spcPts val="600"/>
              </a:spcAft>
            </a:pPr>
            <a:r>
              <a:rPr sz="1400" b="0" i="0">
                <a:solidFill>
                  <a:srgbClr val="EEE7D6"/>
                </a:solidFill>
                <a:latin typeface="Calibri"/>
              </a:rPr>
              <a:t>programmes supported</a:t>
            </a:r>
          </a:p>
        </p:txBody>
      </p:sp>
      <p:sp>
        <p:nvSpPr>
          <p:cNvPr id="25" name="Rectangle 24"/>
          <p:cNvSpPr/>
          <p:nvPr/>
        </p:nvSpPr>
        <p:spPr>
          <a:xfrm>
            <a:off x="9005925" y="4892040"/>
            <a:ext cx="2633472" cy="132588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005925" y="4956048"/>
            <a:ext cx="2633472" cy="731520"/>
          </a:xfrm>
          <a:prstGeom prst="rect">
            <a:avLst/>
          </a:prstGeom>
          <a:noFill/>
        </p:spPr>
        <p:txBody>
          <a:bodyPr wrap="square" lIns="45720" rIns="45720" tIns="27432" bIns="27432" anchor="t">
            <a:spAutoFit/>
          </a:bodyPr>
          <a:lstStyle/>
          <a:p>
            <a:pPr algn="ctr">
              <a:spcAft>
                <a:spcPts val="600"/>
              </a:spcAft>
            </a:pPr>
            <a:r>
              <a:rPr sz="4000" b="1" i="0">
                <a:solidFill>
                  <a:srgbClr val="A9792C"/>
                </a:solidFill>
                <a:latin typeface="Georgia"/>
              </a:rPr>
              <a:t>0</a:t>
            </a:r>
          </a:p>
        </p:txBody>
      </p:sp>
      <p:sp>
        <p:nvSpPr>
          <p:cNvPr id="27" name="TextBox 26"/>
          <p:cNvSpPr txBox="1"/>
          <p:nvPr/>
        </p:nvSpPr>
        <p:spPr>
          <a:xfrm>
            <a:off x="9005925" y="5669280"/>
            <a:ext cx="2633472" cy="411480"/>
          </a:xfrm>
          <a:prstGeom prst="rect">
            <a:avLst/>
          </a:prstGeom>
          <a:noFill/>
        </p:spPr>
        <p:txBody>
          <a:bodyPr wrap="square" lIns="45720" rIns="45720" tIns="27432" bIns="27432" anchor="t">
            <a:spAutoFit/>
          </a:bodyPr>
          <a:lstStyle/>
          <a:p>
            <a:pPr algn="ctr">
              <a:spcAft>
                <a:spcPts val="600"/>
              </a:spcAft>
            </a:pPr>
            <a:r>
              <a:rPr sz="1400" b="0" i="0">
                <a:solidFill>
                  <a:srgbClr val="EEE7D6"/>
                </a:solidFill>
                <a:latin typeface="Calibri"/>
              </a:rPr>
              <a:t>page reloads needed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FEATURES</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What the app does: full CRUD</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4 / 16</a:t>
            </a:r>
          </a:p>
        </p:txBody>
      </p:sp>
      <p:sp>
        <p:nvSpPr>
          <p:cNvPr id="8" name="Rectangle 7"/>
          <p:cNvSpPr/>
          <p:nvPr/>
        </p:nvSpPr>
        <p:spPr>
          <a:xfrm>
            <a:off x="548640" y="1645920"/>
            <a:ext cx="2651760" cy="324612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45920"/>
            <a:ext cx="2651760" cy="64008"/>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1783080"/>
            <a:ext cx="1097280" cy="914400"/>
          </a:xfrm>
          <a:prstGeom prst="rect">
            <a:avLst/>
          </a:prstGeom>
          <a:noFill/>
        </p:spPr>
        <p:txBody>
          <a:bodyPr wrap="square" lIns="45720" rIns="45720" tIns="27432" bIns="27432" anchor="t">
            <a:spAutoFit/>
          </a:bodyPr>
          <a:lstStyle/>
          <a:p>
            <a:pPr algn="l">
              <a:spcAft>
                <a:spcPts val="600"/>
              </a:spcAft>
            </a:pPr>
            <a:r>
              <a:rPr sz="5400" b="1" i="0">
                <a:solidFill>
                  <a:srgbClr val="2F6F62"/>
                </a:solidFill>
                <a:latin typeface="Georgia"/>
              </a:rPr>
              <a:t>C</a:t>
            </a:r>
          </a:p>
        </p:txBody>
      </p:sp>
      <p:sp>
        <p:nvSpPr>
          <p:cNvPr id="11" name="Rounded Rectangle 10"/>
          <p:cNvSpPr/>
          <p:nvPr/>
        </p:nvSpPr>
        <p:spPr>
          <a:xfrm>
            <a:off x="1965960" y="2057400"/>
            <a:ext cx="1051560" cy="329184"/>
          </a:xfrm>
          <a:prstGeom prst="roundRect">
            <a:avLst>
              <a:gd name="adj" fmla="val 50000"/>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FFFFFF"/>
                </a:solidFill>
                <a:latin typeface="Consolas"/>
              </a:rPr>
              <a:t>POST</a:t>
            </a:r>
          </a:p>
        </p:txBody>
      </p:sp>
      <p:sp>
        <p:nvSpPr>
          <p:cNvPr id="12" name="TextBox 11"/>
          <p:cNvSpPr txBox="1"/>
          <p:nvPr/>
        </p:nvSpPr>
        <p:spPr>
          <a:xfrm>
            <a:off x="731520" y="2743200"/>
            <a:ext cx="2286000" cy="411480"/>
          </a:xfrm>
          <a:prstGeom prst="rect">
            <a:avLst/>
          </a:prstGeom>
          <a:noFill/>
        </p:spPr>
        <p:txBody>
          <a:bodyPr wrap="square" lIns="45720" rIns="45720" tIns="27432" bIns="27432" anchor="t">
            <a:spAutoFit/>
          </a:bodyPr>
          <a:lstStyle/>
          <a:p>
            <a:pPr algn="l">
              <a:spcAft>
                <a:spcPts val="600"/>
              </a:spcAft>
            </a:pPr>
            <a:r>
              <a:rPr sz="2200" b="1" i="0">
                <a:solidFill>
                  <a:srgbClr val="1F2A44"/>
                </a:solidFill>
                <a:latin typeface="Georgia"/>
              </a:rPr>
              <a:t>Create</a:t>
            </a:r>
          </a:p>
        </p:txBody>
      </p:sp>
      <p:sp>
        <p:nvSpPr>
          <p:cNvPr id="13" name="TextBox 12"/>
          <p:cNvSpPr txBox="1"/>
          <p:nvPr/>
        </p:nvSpPr>
        <p:spPr>
          <a:xfrm>
            <a:off x="731520" y="3200400"/>
            <a:ext cx="2286000" cy="1645920"/>
          </a:xfrm>
          <a:prstGeom prst="rect">
            <a:avLst/>
          </a:prstGeom>
          <a:noFill/>
        </p:spPr>
        <p:txBody>
          <a:bodyPr wrap="square" lIns="45720" rIns="45720" tIns="27432" bIns="27432" anchor="t">
            <a:spAutoFit/>
          </a:bodyPr>
          <a:lstStyle/>
          <a:p>
            <a:pPr algn="l">
              <a:spcAft>
                <a:spcPts val="600"/>
              </a:spcAft>
            </a:pPr>
            <a:r>
              <a:rPr sz="1400" b="0" i="0">
                <a:solidFill>
                  <a:srgbClr val="241F14"/>
                </a:solidFill>
                <a:latin typeface="Calibri"/>
              </a:rPr>
              <a:t>Fill in the form and click “Add to register”. The new student appears in the table instantly.</a:t>
            </a:r>
          </a:p>
        </p:txBody>
      </p:sp>
      <p:sp>
        <p:nvSpPr>
          <p:cNvPr id="14" name="Rectangle 13"/>
          <p:cNvSpPr/>
          <p:nvPr/>
        </p:nvSpPr>
        <p:spPr>
          <a:xfrm>
            <a:off x="3362248" y="1645920"/>
            <a:ext cx="2651760" cy="324612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362248" y="1645920"/>
            <a:ext cx="2651760" cy="64008"/>
          </a:xfrm>
          <a:prstGeom prst="rect">
            <a:avLst/>
          </a:prstGeom>
          <a:solidFill>
            <a:srgbClr val="3C46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45128" y="1783080"/>
            <a:ext cx="1097280" cy="914400"/>
          </a:xfrm>
          <a:prstGeom prst="rect">
            <a:avLst/>
          </a:prstGeom>
          <a:noFill/>
        </p:spPr>
        <p:txBody>
          <a:bodyPr wrap="square" lIns="45720" rIns="45720" tIns="27432" bIns="27432" anchor="t">
            <a:spAutoFit/>
          </a:bodyPr>
          <a:lstStyle/>
          <a:p>
            <a:pPr algn="l">
              <a:spcAft>
                <a:spcPts val="600"/>
              </a:spcAft>
            </a:pPr>
            <a:r>
              <a:rPr sz="5400" b="1" i="0">
                <a:solidFill>
                  <a:srgbClr val="3C4664"/>
                </a:solidFill>
                <a:latin typeface="Georgia"/>
              </a:rPr>
              <a:t>R</a:t>
            </a:r>
          </a:p>
        </p:txBody>
      </p:sp>
      <p:sp>
        <p:nvSpPr>
          <p:cNvPr id="17" name="Rounded Rectangle 16"/>
          <p:cNvSpPr/>
          <p:nvPr/>
        </p:nvSpPr>
        <p:spPr>
          <a:xfrm>
            <a:off x="4779568" y="2057400"/>
            <a:ext cx="1051560" cy="329184"/>
          </a:xfrm>
          <a:prstGeom prst="roundRect">
            <a:avLst>
              <a:gd name="adj" fmla="val 50000"/>
            </a:avLst>
          </a:prstGeom>
          <a:solidFill>
            <a:srgbClr val="3C466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FFFFFF"/>
                </a:solidFill>
                <a:latin typeface="Consolas"/>
              </a:rPr>
              <a:t>GET</a:t>
            </a:r>
          </a:p>
        </p:txBody>
      </p:sp>
      <p:sp>
        <p:nvSpPr>
          <p:cNvPr id="18" name="TextBox 17"/>
          <p:cNvSpPr txBox="1"/>
          <p:nvPr/>
        </p:nvSpPr>
        <p:spPr>
          <a:xfrm>
            <a:off x="3545128" y="2743200"/>
            <a:ext cx="2286000" cy="411480"/>
          </a:xfrm>
          <a:prstGeom prst="rect">
            <a:avLst/>
          </a:prstGeom>
          <a:noFill/>
        </p:spPr>
        <p:txBody>
          <a:bodyPr wrap="square" lIns="45720" rIns="45720" tIns="27432" bIns="27432" anchor="t">
            <a:spAutoFit/>
          </a:bodyPr>
          <a:lstStyle/>
          <a:p>
            <a:pPr algn="l">
              <a:spcAft>
                <a:spcPts val="600"/>
              </a:spcAft>
            </a:pPr>
            <a:r>
              <a:rPr sz="2200" b="1" i="0">
                <a:solidFill>
                  <a:srgbClr val="1F2A44"/>
                </a:solidFill>
                <a:latin typeface="Georgia"/>
              </a:rPr>
              <a:t>Read</a:t>
            </a:r>
          </a:p>
        </p:txBody>
      </p:sp>
      <p:sp>
        <p:nvSpPr>
          <p:cNvPr id="19" name="TextBox 18"/>
          <p:cNvSpPr txBox="1"/>
          <p:nvPr/>
        </p:nvSpPr>
        <p:spPr>
          <a:xfrm>
            <a:off x="3545128" y="3200400"/>
            <a:ext cx="2286000" cy="1645920"/>
          </a:xfrm>
          <a:prstGeom prst="rect">
            <a:avLst/>
          </a:prstGeom>
          <a:noFill/>
        </p:spPr>
        <p:txBody>
          <a:bodyPr wrap="square" lIns="45720" rIns="45720" tIns="27432" bIns="27432" anchor="t">
            <a:spAutoFit/>
          </a:bodyPr>
          <a:lstStyle/>
          <a:p>
            <a:pPr algn="l">
              <a:spcAft>
                <a:spcPts val="600"/>
              </a:spcAft>
            </a:pPr>
            <a:r>
              <a:rPr sz="1400" b="0" i="0">
                <a:solidFill>
                  <a:srgbClr val="241F14"/>
                </a:solidFill>
                <a:latin typeface="Calibri"/>
              </a:rPr>
              <a:t>When the page opens, every student is loaded from the database, sorted by Student ID.</a:t>
            </a:r>
          </a:p>
        </p:txBody>
      </p:sp>
      <p:sp>
        <p:nvSpPr>
          <p:cNvPr id="20" name="Rectangle 19"/>
          <p:cNvSpPr/>
          <p:nvPr/>
        </p:nvSpPr>
        <p:spPr>
          <a:xfrm>
            <a:off x="6175857" y="1645920"/>
            <a:ext cx="2651760" cy="324612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175857" y="1645920"/>
            <a:ext cx="2651760" cy="64008"/>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58737" y="1783080"/>
            <a:ext cx="1097280" cy="914400"/>
          </a:xfrm>
          <a:prstGeom prst="rect">
            <a:avLst/>
          </a:prstGeom>
          <a:noFill/>
        </p:spPr>
        <p:txBody>
          <a:bodyPr wrap="square" lIns="45720" rIns="45720" tIns="27432" bIns="27432" anchor="t">
            <a:spAutoFit/>
          </a:bodyPr>
          <a:lstStyle/>
          <a:p>
            <a:pPr algn="l">
              <a:spcAft>
                <a:spcPts val="600"/>
              </a:spcAft>
            </a:pPr>
            <a:r>
              <a:rPr sz="5400" b="1" i="0">
                <a:solidFill>
                  <a:srgbClr val="A9792C"/>
                </a:solidFill>
                <a:latin typeface="Georgia"/>
              </a:rPr>
              <a:t>U</a:t>
            </a:r>
          </a:p>
        </p:txBody>
      </p:sp>
      <p:sp>
        <p:nvSpPr>
          <p:cNvPr id="23" name="Rounded Rectangle 22"/>
          <p:cNvSpPr/>
          <p:nvPr/>
        </p:nvSpPr>
        <p:spPr>
          <a:xfrm>
            <a:off x="7593177" y="2057400"/>
            <a:ext cx="1051560" cy="329184"/>
          </a:xfrm>
          <a:prstGeom prst="roundRect">
            <a:avLst>
              <a:gd name="adj" fmla="val 50000"/>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FFFFFF"/>
                </a:solidFill>
                <a:latin typeface="Consolas"/>
              </a:rPr>
              <a:t>PATCH</a:t>
            </a:r>
          </a:p>
        </p:txBody>
      </p:sp>
      <p:sp>
        <p:nvSpPr>
          <p:cNvPr id="24" name="TextBox 23"/>
          <p:cNvSpPr txBox="1"/>
          <p:nvPr/>
        </p:nvSpPr>
        <p:spPr>
          <a:xfrm>
            <a:off x="6358737" y="2743200"/>
            <a:ext cx="2286000" cy="411480"/>
          </a:xfrm>
          <a:prstGeom prst="rect">
            <a:avLst/>
          </a:prstGeom>
          <a:noFill/>
        </p:spPr>
        <p:txBody>
          <a:bodyPr wrap="square" lIns="45720" rIns="45720" tIns="27432" bIns="27432" anchor="t">
            <a:spAutoFit/>
          </a:bodyPr>
          <a:lstStyle/>
          <a:p>
            <a:pPr algn="l">
              <a:spcAft>
                <a:spcPts val="600"/>
              </a:spcAft>
            </a:pPr>
            <a:r>
              <a:rPr sz="2200" b="1" i="0">
                <a:solidFill>
                  <a:srgbClr val="1F2A44"/>
                </a:solidFill>
                <a:latin typeface="Georgia"/>
              </a:rPr>
              <a:t>Update</a:t>
            </a:r>
          </a:p>
        </p:txBody>
      </p:sp>
      <p:sp>
        <p:nvSpPr>
          <p:cNvPr id="25" name="TextBox 24"/>
          <p:cNvSpPr txBox="1"/>
          <p:nvPr/>
        </p:nvSpPr>
        <p:spPr>
          <a:xfrm>
            <a:off x="6358737" y="3200400"/>
            <a:ext cx="2286000" cy="1645920"/>
          </a:xfrm>
          <a:prstGeom prst="rect">
            <a:avLst/>
          </a:prstGeom>
          <a:noFill/>
        </p:spPr>
        <p:txBody>
          <a:bodyPr wrap="square" lIns="45720" rIns="45720" tIns="27432" bIns="27432" anchor="t">
            <a:spAutoFit/>
          </a:bodyPr>
          <a:lstStyle/>
          <a:p>
            <a:pPr algn="l">
              <a:spcAft>
                <a:spcPts val="600"/>
              </a:spcAft>
            </a:pPr>
            <a:r>
              <a:rPr sz="1400" b="0" i="0">
                <a:solidFill>
                  <a:srgbClr val="241F14"/>
                </a:solidFill>
                <a:latin typeface="Calibri"/>
              </a:rPr>
              <a:t>Click “Edit” on a row. The form fills in, the button becomes “Update student”.</a:t>
            </a:r>
          </a:p>
        </p:txBody>
      </p:sp>
      <p:sp>
        <p:nvSpPr>
          <p:cNvPr id="26" name="Rectangle 25"/>
          <p:cNvSpPr/>
          <p:nvPr/>
        </p:nvSpPr>
        <p:spPr>
          <a:xfrm>
            <a:off x="8989466" y="1645920"/>
            <a:ext cx="2651760" cy="324612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989466" y="1645920"/>
            <a:ext cx="2651760" cy="64008"/>
          </a:xfrm>
          <a:prstGeom prst="rect">
            <a:avLst/>
          </a:prstGeom>
          <a:solidFill>
            <a:srgbClr val="9C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72346" y="1783080"/>
            <a:ext cx="1097280" cy="914400"/>
          </a:xfrm>
          <a:prstGeom prst="rect">
            <a:avLst/>
          </a:prstGeom>
          <a:noFill/>
        </p:spPr>
        <p:txBody>
          <a:bodyPr wrap="square" lIns="45720" rIns="45720" tIns="27432" bIns="27432" anchor="t">
            <a:spAutoFit/>
          </a:bodyPr>
          <a:lstStyle/>
          <a:p>
            <a:pPr algn="l">
              <a:spcAft>
                <a:spcPts val="600"/>
              </a:spcAft>
            </a:pPr>
            <a:r>
              <a:rPr sz="5400" b="1" i="0">
                <a:solidFill>
                  <a:srgbClr val="9C3B3B"/>
                </a:solidFill>
                <a:latin typeface="Georgia"/>
              </a:rPr>
              <a:t>D</a:t>
            </a:r>
          </a:p>
        </p:txBody>
      </p:sp>
      <p:sp>
        <p:nvSpPr>
          <p:cNvPr id="29" name="Rounded Rectangle 28"/>
          <p:cNvSpPr/>
          <p:nvPr/>
        </p:nvSpPr>
        <p:spPr>
          <a:xfrm>
            <a:off x="10406786" y="2057400"/>
            <a:ext cx="1051560" cy="329184"/>
          </a:xfrm>
          <a:prstGeom prst="roundRect">
            <a:avLst>
              <a:gd name="adj" fmla="val 50000"/>
            </a:avLst>
          </a:prstGeom>
          <a:solidFill>
            <a:srgbClr val="9C3B3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FFFFFF"/>
                </a:solidFill>
                <a:latin typeface="Consolas"/>
              </a:rPr>
              <a:t>DELETE</a:t>
            </a:r>
          </a:p>
        </p:txBody>
      </p:sp>
      <p:sp>
        <p:nvSpPr>
          <p:cNvPr id="30" name="TextBox 29"/>
          <p:cNvSpPr txBox="1"/>
          <p:nvPr/>
        </p:nvSpPr>
        <p:spPr>
          <a:xfrm>
            <a:off x="9172346" y="2743200"/>
            <a:ext cx="2286000" cy="411480"/>
          </a:xfrm>
          <a:prstGeom prst="rect">
            <a:avLst/>
          </a:prstGeom>
          <a:noFill/>
        </p:spPr>
        <p:txBody>
          <a:bodyPr wrap="square" lIns="45720" rIns="45720" tIns="27432" bIns="27432" anchor="t">
            <a:spAutoFit/>
          </a:bodyPr>
          <a:lstStyle/>
          <a:p>
            <a:pPr algn="l">
              <a:spcAft>
                <a:spcPts val="600"/>
              </a:spcAft>
            </a:pPr>
            <a:r>
              <a:rPr sz="2200" b="1" i="0">
                <a:solidFill>
                  <a:srgbClr val="1F2A44"/>
                </a:solidFill>
                <a:latin typeface="Georgia"/>
              </a:rPr>
              <a:t>Delete</a:t>
            </a:r>
          </a:p>
        </p:txBody>
      </p:sp>
      <p:sp>
        <p:nvSpPr>
          <p:cNvPr id="31" name="TextBox 30"/>
          <p:cNvSpPr txBox="1"/>
          <p:nvPr/>
        </p:nvSpPr>
        <p:spPr>
          <a:xfrm>
            <a:off x="9172346" y="3200400"/>
            <a:ext cx="2286000" cy="1645920"/>
          </a:xfrm>
          <a:prstGeom prst="rect">
            <a:avLst/>
          </a:prstGeom>
          <a:noFill/>
        </p:spPr>
        <p:txBody>
          <a:bodyPr wrap="square" lIns="45720" rIns="45720" tIns="27432" bIns="27432" anchor="t">
            <a:spAutoFit/>
          </a:bodyPr>
          <a:lstStyle/>
          <a:p>
            <a:pPr algn="l">
              <a:spcAft>
                <a:spcPts val="600"/>
              </a:spcAft>
            </a:pPr>
            <a:r>
              <a:rPr sz="1400" b="0" i="0">
                <a:solidFill>
                  <a:srgbClr val="241F14"/>
                </a:solidFill>
                <a:latin typeface="Calibri"/>
              </a:rPr>
              <a:t>Click “Delete” and confirm. The record is removed from the database and the table.</a:t>
            </a:r>
          </a:p>
        </p:txBody>
      </p:sp>
      <p:sp>
        <p:nvSpPr>
          <p:cNvPr id="32" name="Rectangle 31"/>
          <p:cNvSpPr/>
          <p:nvPr/>
        </p:nvSpPr>
        <p:spPr>
          <a:xfrm>
            <a:off x="548640" y="5120640"/>
            <a:ext cx="11091672" cy="914400"/>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 y="5120640"/>
            <a:ext cx="10607040" cy="914400"/>
          </a:xfrm>
          <a:prstGeom prst="rect">
            <a:avLst/>
          </a:prstGeom>
          <a:noFill/>
        </p:spPr>
        <p:txBody>
          <a:bodyPr wrap="square" lIns="45720" rIns="45720" tIns="27432" bIns="27432" anchor="ctr">
            <a:spAutoFit/>
          </a:bodyPr>
          <a:lstStyle/>
          <a:p>
            <a:pPr algn="l">
              <a:spcAft>
                <a:spcPts val="600"/>
              </a:spcAft>
            </a:pPr>
            <a:r>
              <a:rPr sz="2000" b="1" i="0">
                <a:solidFill>
                  <a:srgbClr val="FFFFFF"/>
                </a:solidFill>
                <a:latin typeface="Calibri"/>
              </a:rPr>
              <a:t>No page reloads.  </a:t>
            </a:r>
            <a:r>
              <a:rPr sz="1700" b="0" i="0">
                <a:solidFill>
                  <a:srgbClr val="FFFFFF"/>
                </a:solidFill>
                <a:latin typeface="Calibri"/>
              </a:rPr>
              <a:t>JavaScript talks to the database in the background and only updates the part of the page that changed.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LIVE DEMO</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The interface: a digital registry ledger</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5 / 16</a:t>
            </a:r>
          </a:p>
        </p:txBody>
      </p:sp>
      <p:pic>
        <p:nvPicPr>
          <p:cNvPr id="8" name="Picture 7" descr="form_crop.png"/>
          <p:cNvPicPr>
            <a:picLocks noChangeAspect="1"/>
          </p:cNvPicPr>
          <p:nvPr/>
        </p:nvPicPr>
        <p:blipFill>
          <a:blip r:embed="rId2"/>
          <a:stretch>
            <a:fillRect/>
          </a:stretch>
        </p:blipFill>
        <p:spPr>
          <a:xfrm>
            <a:off x="548640" y="1600200"/>
            <a:ext cx="6675120" cy="4202853"/>
          </a:xfrm>
          <a:prstGeom prst="rect">
            <a:avLst/>
          </a:prstGeom>
          <a:ln w="12700">
            <a:solidFill>
              <a:srgbClr val="C9BFA2"/>
            </a:solidFill>
          </a:ln>
        </p:spPr>
      </p:pic>
      <p:sp>
        <p:nvSpPr>
          <p:cNvPr id="9" name="TextBox 8"/>
          <p:cNvSpPr txBox="1"/>
          <p:nvPr/>
        </p:nvSpPr>
        <p:spPr>
          <a:xfrm>
            <a:off x="7543800" y="1554480"/>
            <a:ext cx="4114800" cy="365760"/>
          </a:xfrm>
          <a:prstGeom prst="rect">
            <a:avLst/>
          </a:prstGeom>
          <a:noFill/>
        </p:spPr>
        <p:txBody>
          <a:bodyPr wrap="square" lIns="45720" rIns="45720" tIns="27432" bIns="27432" anchor="t">
            <a:spAutoFit/>
          </a:bodyPr>
          <a:lstStyle/>
          <a:p>
            <a:pPr algn="l">
              <a:spcAft>
                <a:spcPts val="600"/>
              </a:spcAft>
            </a:pPr>
            <a:r>
              <a:rPr sz="2000" b="1" i="0">
                <a:solidFill>
                  <a:srgbClr val="1F2A44"/>
                </a:solidFill>
                <a:latin typeface="Georgia"/>
              </a:rPr>
              <a:t>What to point out</a:t>
            </a:r>
          </a:p>
        </p:txBody>
      </p:sp>
      <p:sp>
        <p:nvSpPr>
          <p:cNvPr id="10" name="Oval 9"/>
          <p:cNvSpPr/>
          <p:nvPr/>
        </p:nvSpPr>
        <p:spPr>
          <a:xfrm>
            <a:off x="7543800" y="2112264"/>
            <a:ext cx="384048" cy="384048"/>
          </a:xfrm>
          <a:prstGeom prst="ellipse">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1</a:t>
            </a:r>
          </a:p>
        </p:txBody>
      </p:sp>
      <p:sp>
        <p:nvSpPr>
          <p:cNvPr id="11" name="TextBox 10"/>
          <p:cNvSpPr txBox="1"/>
          <p:nvPr/>
        </p:nvSpPr>
        <p:spPr>
          <a:xfrm>
            <a:off x="8046720" y="2057400"/>
            <a:ext cx="3611880" cy="731520"/>
          </a:xfrm>
          <a:prstGeom prst="rect">
            <a:avLst/>
          </a:prstGeom>
          <a:noFill/>
        </p:spPr>
        <p:txBody>
          <a:bodyPr wrap="square" lIns="45720" rIns="45720" tIns="27432" bIns="27432" anchor="t">
            <a:spAutoFit/>
          </a:bodyPr>
          <a:lstStyle/>
          <a:p>
            <a:pPr algn="l">
              <a:spcAft>
                <a:spcPts val="600"/>
              </a:spcAft>
            </a:pPr>
            <a:r>
              <a:rPr sz="1600" b="1" i="0">
                <a:solidFill>
                  <a:srgbClr val="1F2A44"/>
                </a:solidFill>
                <a:latin typeface="Calibri"/>
              </a:rPr>
              <a:t>Names</a:t>
            </a:r>
            <a:r>
              <a:rPr sz="1400" b="0" i="0">
                <a:solidFill>
                  <a:srgbClr val="6B6250"/>
                </a:solidFill>
                <a:latin typeface="Calibri"/>
              </a:rPr>
              <a:t>  first, optional middle, surname</a:t>
            </a:r>
          </a:p>
        </p:txBody>
      </p:sp>
      <p:sp>
        <p:nvSpPr>
          <p:cNvPr id="12" name="Oval 11"/>
          <p:cNvSpPr/>
          <p:nvPr/>
        </p:nvSpPr>
        <p:spPr>
          <a:xfrm>
            <a:off x="7543800" y="2889504"/>
            <a:ext cx="384048" cy="384048"/>
          </a:xfrm>
          <a:prstGeom prst="ellipse">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2</a:t>
            </a:r>
          </a:p>
        </p:txBody>
      </p:sp>
      <p:sp>
        <p:nvSpPr>
          <p:cNvPr id="13" name="TextBox 12"/>
          <p:cNvSpPr txBox="1"/>
          <p:nvPr/>
        </p:nvSpPr>
        <p:spPr>
          <a:xfrm>
            <a:off x="8046720" y="2834640"/>
            <a:ext cx="3611880" cy="731520"/>
          </a:xfrm>
          <a:prstGeom prst="rect">
            <a:avLst/>
          </a:prstGeom>
          <a:noFill/>
        </p:spPr>
        <p:txBody>
          <a:bodyPr wrap="square" lIns="45720" rIns="45720" tIns="27432" bIns="27432" anchor="t">
            <a:spAutoFit/>
          </a:bodyPr>
          <a:lstStyle/>
          <a:p>
            <a:pPr algn="l">
              <a:spcAft>
                <a:spcPts val="600"/>
              </a:spcAft>
            </a:pPr>
            <a:r>
              <a:rPr sz="1600" b="1" i="0">
                <a:solidFill>
                  <a:srgbClr val="1F2A44"/>
                </a:solidFill>
                <a:latin typeface="Calibri"/>
              </a:rPr>
              <a:t>Student ID</a:t>
            </a:r>
            <a:r>
              <a:rPr sz="1400" b="0" i="0">
                <a:solidFill>
                  <a:srgbClr val="6B6250"/>
                </a:solidFill>
                <a:latin typeface="Calibri"/>
              </a:rPr>
              <a:t>  digits only, exactly 8</a:t>
            </a:r>
          </a:p>
        </p:txBody>
      </p:sp>
      <p:sp>
        <p:nvSpPr>
          <p:cNvPr id="14" name="Oval 13"/>
          <p:cNvSpPr/>
          <p:nvPr/>
        </p:nvSpPr>
        <p:spPr>
          <a:xfrm>
            <a:off x="7543800" y="3666744"/>
            <a:ext cx="384048" cy="384048"/>
          </a:xfrm>
          <a:prstGeom prst="ellipse">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3</a:t>
            </a:r>
          </a:p>
        </p:txBody>
      </p:sp>
      <p:sp>
        <p:nvSpPr>
          <p:cNvPr id="15" name="TextBox 14"/>
          <p:cNvSpPr txBox="1"/>
          <p:nvPr/>
        </p:nvSpPr>
        <p:spPr>
          <a:xfrm>
            <a:off x="8046720" y="3611880"/>
            <a:ext cx="3611880" cy="731520"/>
          </a:xfrm>
          <a:prstGeom prst="rect">
            <a:avLst/>
          </a:prstGeom>
          <a:noFill/>
        </p:spPr>
        <p:txBody>
          <a:bodyPr wrap="square" lIns="45720" rIns="45720" tIns="27432" bIns="27432" anchor="t">
            <a:spAutoFit/>
          </a:bodyPr>
          <a:lstStyle/>
          <a:p>
            <a:pPr algn="l">
              <a:spcAft>
                <a:spcPts val="600"/>
              </a:spcAft>
            </a:pPr>
            <a:r>
              <a:rPr sz="1600" b="1" i="0">
                <a:solidFill>
                  <a:srgbClr val="1F2A44"/>
                </a:solidFill>
                <a:latin typeface="Calibri"/>
              </a:rPr>
              <a:t>Date of birth</a:t>
            </a:r>
            <a:r>
              <a:rPr sz="1400" b="0" i="0">
                <a:solidFill>
                  <a:srgbClr val="6B6250"/>
                </a:solidFill>
                <a:latin typeface="Calibri"/>
              </a:rPr>
              <a:t>  Age fills in automatically</a:t>
            </a:r>
          </a:p>
        </p:txBody>
      </p:sp>
      <p:sp>
        <p:nvSpPr>
          <p:cNvPr id="16" name="Oval 15"/>
          <p:cNvSpPr/>
          <p:nvPr/>
        </p:nvSpPr>
        <p:spPr>
          <a:xfrm>
            <a:off x="7543800" y="4443983"/>
            <a:ext cx="384048" cy="384048"/>
          </a:xfrm>
          <a:prstGeom prst="ellipse">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4</a:t>
            </a:r>
          </a:p>
        </p:txBody>
      </p:sp>
      <p:sp>
        <p:nvSpPr>
          <p:cNvPr id="17" name="TextBox 16"/>
          <p:cNvSpPr txBox="1"/>
          <p:nvPr/>
        </p:nvSpPr>
        <p:spPr>
          <a:xfrm>
            <a:off x="8046720" y="4389120"/>
            <a:ext cx="3611880" cy="731520"/>
          </a:xfrm>
          <a:prstGeom prst="rect">
            <a:avLst/>
          </a:prstGeom>
          <a:noFill/>
        </p:spPr>
        <p:txBody>
          <a:bodyPr wrap="square" lIns="45720" rIns="45720" tIns="27432" bIns="27432" anchor="t">
            <a:spAutoFit/>
          </a:bodyPr>
          <a:lstStyle/>
          <a:p>
            <a:pPr algn="l">
              <a:spcAft>
                <a:spcPts val="600"/>
              </a:spcAft>
            </a:pPr>
            <a:r>
              <a:rPr sz="1600" b="1" i="0">
                <a:solidFill>
                  <a:srgbClr val="1F2A44"/>
                </a:solidFill>
                <a:latin typeface="Calibri"/>
              </a:rPr>
              <a:t>Programme</a:t>
            </a:r>
            <a:r>
              <a:rPr sz="1400" b="0" i="0">
                <a:solidFill>
                  <a:srgbClr val="6B6250"/>
                </a:solidFill>
                <a:latin typeface="Calibri"/>
              </a:rPr>
              <a:t>  type to search; limits the Level</a:t>
            </a:r>
          </a:p>
        </p:txBody>
      </p:sp>
      <p:sp>
        <p:nvSpPr>
          <p:cNvPr id="18" name="Oval 17"/>
          <p:cNvSpPr/>
          <p:nvPr/>
        </p:nvSpPr>
        <p:spPr>
          <a:xfrm>
            <a:off x="7543800" y="5221223"/>
            <a:ext cx="384048" cy="384048"/>
          </a:xfrm>
          <a:prstGeom prst="ellipse">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5</a:t>
            </a:r>
          </a:p>
        </p:txBody>
      </p:sp>
      <p:sp>
        <p:nvSpPr>
          <p:cNvPr id="19" name="TextBox 18"/>
          <p:cNvSpPr txBox="1"/>
          <p:nvPr/>
        </p:nvSpPr>
        <p:spPr>
          <a:xfrm>
            <a:off x="8046720" y="5166359"/>
            <a:ext cx="3611880" cy="731520"/>
          </a:xfrm>
          <a:prstGeom prst="rect">
            <a:avLst/>
          </a:prstGeom>
          <a:noFill/>
        </p:spPr>
        <p:txBody>
          <a:bodyPr wrap="square" lIns="45720" rIns="45720" tIns="27432" bIns="27432" anchor="t">
            <a:spAutoFit/>
          </a:bodyPr>
          <a:lstStyle/>
          <a:p>
            <a:pPr algn="l">
              <a:spcAft>
                <a:spcPts val="600"/>
              </a:spcAft>
            </a:pPr>
            <a:r>
              <a:rPr sz="1600" b="1" i="0">
                <a:solidFill>
                  <a:srgbClr val="1F2A44"/>
                </a:solidFill>
                <a:latin typeface="Calibri"/>
              </a:rPr>
              <a:t>Add to register</a:t>
            </a:r>
            <a:r>
              <a:rPr sz="1400" b="0" i="0">
                <a:solidFill>
                  <a:srgbClr val="6B6250"/>
                </a:solidFill>
                <a:latin typeface="Calibri"/>
              </a:rPr>
              <a:t>  validates, then saves to the cloud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TECHNOLOGY</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The tech stack in plain English</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6 / 16</a:t>
            </a:r>
          </a:p>
        </p:txBody>
      </p:sp>
      <p:sp>
        <p:nvSpPr>
          <p:cNvPr id="8" name="Rectangle 7"/>
          <p:cNvSpPr/>
          <p:nvPr/>
        </p:nvSpPr>
        <p:spPr>
          <a:xfrm>
            <a:off x="548640" y="1645920"/>
            <a:ext cx="3566160" cy="210312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45920"/>
            <a:ext cx="82296" cy="2103120"/>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3108960" cy="457200"/>
          </a:xfrm>
          <a:prstGeom prst="rect">
            <a:avLst/>
          </a:prstGeom>
          <a:noFill/>
        </p:spPr>
        <p:txBody>
          <a:bodyPr wrap="square" lIns="45720" rIns="45720" tIns="27432" bIns="27432" anchor="t">
            <a:spAutoFit/>
          </a:bodyPr>
          <a:lstStyle/>
          <a:p>
            <a:pPr algn="l">
              <a:spcAft>
                <a:spcPts val="600"/>
              </a:spcAft>
            </a:pPr>
            <a:r>
              <a:rPr sz="2400" b="1" i="0">
                <a:solidFill>
                  <a:srgbClr val="1F2A44"/>
                </a:solidFill>
                <a:latin typeface="Georgia"/>
              </a:rPr>
              <a:t>HTML5</a:t>
            </a:r>
          </a:p>
        </p:txBody>
      </p:sp>
      <p:sp>
        <p:nvSpPr>
          <p:cNvPr id="11" name="TextBox 10"/>
          <p:cNvSpPr txBox="1"/>
          <p:nvPr/>
        </p:nvSpPr>
        <p:spPr>
          <a:xfrm>
            <a:off x="822959" y="2304288"/>
            <a:ext cx="3108960" cy="320040"/>
          </a:xfrm>
          <a:prstGeom prst="rect">
            <a:avLst/>
          </a:prstGeom>
          <a:noFill/>
        </p:spPr>
        <p:txBody>
          <a:bodyPr wrap="square" lIns="45720" rIns="45720" tIns="27432" bIns="27432" anchor="t">
            <a:spAutoFit/>
          </a:bodyPr>
          <a:lstStyle/>
          <a:p>
            <a:pPr algn="l">
              <a:spcAft>
                <a:spcPts val="600"/>
              </a:spcAft>
            </a:pPr>
            <a:r>
              <a:rPr sz="1500" b="1" i="1">
                <a:solidFill>
                  <a:srgbClr val="A9792C"/>
                </a:solidFill>
                <a:latin typeface="Calibri"/>
              </a:rPr>
              <a:t>The skeleton</a:t>
            </a:r>
          </a:p>
        </p:txBody>
      </p:sp>
      <p:sp>
        <p:nvSpPr>
          <p:cNvPr id="12" name="TextBox 11"/>
          <p:cNvSpPr txBox="1"/>
          <p:nvPr/>
        </p:nvSpPr>
        <p:spPr>
          <a:xfrm>
            <a:off x="822959" y="2697480"/>
            <a:ext cx="3108960" cy="1005840"/>
          </a:xfrm>
          <a:prstGeom prst="rect">
            <a:avLst/>
          </a:prstGeom>
          <a:noFill/>
        </p:spPr>
        <p:txBody>
          <a:bodyPr wrap="square" lIns="45720" rIns="45720" tIns="27432" bIns="27432" anchor="t">
            <a:spAutoFit/>
          </a:bodyPr>
          <a:lstStyle/>
          <a:p>
            <a:pPr algn="l">
              <a:spcAft>
                <a:spcPts val="600"/>
              </a:spcAft>
            </a:pPr>
            <a:r>
              <a:rPr sz="1400" b="0" i="0">
                <a:solidFill>
                  <a:srgbClr val="241F14"/>
                </a:solidFill>
                <a:latin typeface="Calibri"/>
              </a:rPr>
              <a:t>Defines the structure: inputs, labels, dropdowns, the table area.</a:t>
            </a:r>
          </a:p>
        </p:txBody>
      </p:sp>
      <p:sp>
        <p:nvSpPr>
          <p:cNvPr id="13" name="Rectangle 12"/>
          <p:cNvSpPr/>
          <p:nvPr/>
        </p:nvSpPr>
        <p:spPr>
          <a:xfrm>
            <a:off x="4311396" y="1645920"/>
            <a:ext cx="3566160" cy="210312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11396" y="1645920"/>
            <a:ext cx="82296" cy="210312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85716" y="1783080"/>
            <a:ext cx="3108960" cy="457200"/>
          </a:xfrm>
          <a:prstGeom prst="rect">
            <a:avLst/>
          </a:prstGeom>
          <a:noFill/>
        </p:spPr>
        <p:txBody>
          <a:bodyPr wrap="square" lIns="45720" rIns="45720" tIns="27432" bIns="27432" anchor="t">
            <a:spAutoFit/>
          </a:bodyPr>
          <a:lstStyle/>
          <a:p>
            <a:pPr algn="l">
              <a:spcAft>
                <a:spcPts val="600"/>
              </a:spcAft>
            </a:pPr>
            <a:r>
              <a:rPr sz="2400" b="1" i="0">
                <a:solidFill>
                  <a:srgbClr val="1F2A44"/>
                </a:solidFill>
                <a:latin typeface="Georgia"/>
              </a:rPr>
              <a:t>CSS3</a:t>
            </a:r>
          </a:p>
        </p:txBody>
      </p:sp>
      <p:sp>
        <p:nvSpPr>
          <p:cNvPr id="16" name="TextBox 15"/>
          <p:cNvSpPr txBox="1"/>
          <p:nvPr/>
        </p:nvSpPr>
        <p:spPr>
          <a:xfrm>
            <a:off x="4585716" y="2304288"/>
            <a:ext cx="3108960" cy="320040"/>
          </a:xfrm>
          <a:prstGeom prst="rect">
            <a:avLst/>
          </a:prstGeom>
          <a:noFill/>
        </p:spPr>
        <p:txBody>
          <a:bodyPr wrap="square" lIns="45720" rIns="45720" tIns="27432" bIns="27432" anchor="t">
            <a:spAutoFit/>
          </a:bodyPr>
          <a:lstStyle/>
          <a:p>
            <a:pPr algn="l">
              <a:spcAft>
                <a:spcPts val="600"/>
              </a:spcAft>
            </a:pPr>
            <a:r>
              <a:rPr sz="1500" b="1" i="1">
                <a:solidFill>
                  <a:srgbClr val="A9792C"/>
                </a:solidFill>
                <a:latin typeface="Calibri"/>
              </a:rPr>
              <a:t>The clothes</a:t>
            </a:r>
          </a:p>
        </p:txBody>
      </p:sp>
      <p:sp>
        <p:nvSpPr>
          <p:cNvPr id="17" name="TextBox 16"/>
          <p:cNvSpPr txBox="1"/>
          <p:nvPr/>
        </p:nvSpPr>
        <p:spPr>
          <a:xfrm>
            <a:off x="4585716" y="2697480"/>
            <a:ext cx="3108960" cy="1005840"/>
          </a:xfrm>
          <a:prstGeom prst="rect">
            <a:avLst/>
          </a:prstGeom>
          <a:noFill/>
        </p:spPr>
        <p:txBody>
          <a:bodyPr wrap="square" lIns="45720" rIns="45720" tIns="27432" bIns="27432" anchor="t">
            <a:spAutoFit/>
          </a:bodyPr>
          <a:lstStyle/>
          <a:p>
            <a:pPr algn="l">
              <a:spcAft>
                <a:spcPts val="600"/>
              </a:spcAft>
            </a:pPr>
            <a:r>
              <a:rPr sz="1400" b="0" i="0">
                <a:solidFill>
                  <a:srgbClr val="241F14"/>
                </a:solidFill>
                <a:latin typeface="Calibri"/>
              </a:rPr>
              <a:t>The registry look: colours, fonts, CSS Grid layout, mobile-friendly rules.</a:t>
            </a:r>
          </a:p>
        </p:txBody>
      </p:sp>
      <p:sp>
        <p:nvSpPr>
          <p:cNvPr id="18" name="Rectangle 17"/>
          <p:cNvSpPr/>
          <p:nvPr/>
        </p:nvSpPr>
        <p:spPr>
          <a:xfrm>
            <a:off x="8074152" y="1645920"/>
            <a:ext cx="3566160" cy="210312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74152" y="1645920"/>
            <a:ext cx="82296" cy="2103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48472" y="1783080"/>
            <a:ext cx="3108960" cy="457200"/>
          </a:xfrm>
          <a:prstGeom prst="rect">
            <a:avLst/>
          </a:prstGeom>
          <a:noFill/>
        </p:spPr>
        <p:txBody>
          <a:bodyPr wrap="square" lIns="45720" rIns="45720" tIns="27432" bIns="27432" anchor="t">
            <a:spAutoFit/>
          </a:bodyPr>
          <a:lstStyle/>
          <a:p>
            <a:pPr algn="l">
              <a:spcAft>
                <a:spcPts val="600"/>
              </a:spcAft>
            </a:pPr>
            <a:r>
              <a:rPr sz="2400" b="1" i="0">
                <a:solidFill>
                  <a:srgbClr val="1F2A44"/>
                </a:solidFill>
                <a:latin typeface="Georgia"/>
              </a:rPr>
              <a:t>JavaScript</a:t>
            </a:r>
          </a:p>
        </p:txBody>
      </p:sp>
      <p:sp>
        <p:nvSpPr>
          <p:cNvPr id="21" name="TextBox 20"/>
          <p:cNvSpPr txBox="1"/>
          <p:nvPr/>
        </p:nvSpPr>
        <p:spPr>
          <a:xfrm>
            <a:off x="8348472" y="2304288"/>
            <a:ext cx="3108960" cy="320040"/>
          </a:xfrm>
          <a:prstGeom prst="rect">
            <a:avLst/>
          </a:prstGeom>
          <a:noFill/>
        </p:spPr>
        <p:txBody>
          <a:bodyPr wrap="square" lIns="45720" rIns="45720" tIns="27432" bIns="27432" anchor="t">
            <a:spAutoFit/>
          </a:bodyPr>
          <a:lstStyle/>
          <a:p>
            <a:pPr algn="l">
              <a:spcAft>
                <a:spcPts val="600"/>
              </a:spcAft>
            </a:pPr>
            <a:r>
              <a:rPr sz="1500" b="1" i="1">
                <a:solidFill>
                  <a:srgbClr val="A9792C"/>
                </a:solidFill>
                <a:latin typeface="Calibri"/>
              </a:rPr>
              <a:t>The brain</a:t>
            </a:r>
          </a:p>
        </p:txBody>
      </p:sp>
      <p:sp>
        <p:nvSpPr>
          <p:cNvPr id="22" name="TextBox 21"/>
          <p:cNvSpPr txBox="1"/>
          <p:nvPr/>
        </p:nvSpPr>
        <p:spPr>
          <a:xfrm>
            <a:off x="8348472" y="2697480"/>
            <a:ext cx="3108960" cy="1005840"/>
          </a:xfrm>
          <a:prstGeom prst="rect">
            <a:avLst/>
          </a:prstGeom>
          <a:noFill/>
        </p:spPr>
        <p:txBody>
          <a:bodyPr wrap="square" lIns="45720" rIns="45720" tIns="27432" bIns="27432" anchor="t">
            <a:spAutoFit/>
          </a:bodyPr>
          <a:lstStyle/>
          <a:p>
            <a:pPr algn="l">
              <a:spcAft>
                <a:spcPts val="600"/>
              </a:spcAft>
            </a:pPr>
            <a:r>
              <a:rPr sz="1400" b="0" i="0">
                <a:solidFill>
                  <a:srgbClr val="241F14"/>
                </a:solidFill>
                <a:latin typeface="Calibri"/>
              </a:rPr>
              <a:t>Handles clicks, validation, age calculation and all database calls.</a:t>
            </a:r>
          </a:p>
        </p:txBody>
      </p:sp>
      <p:sp>
        <p:nvSpPr>
          <p:cNvPr id="23" name="Rectangle 22"/>
          <p:cNvSpPr/>
          <p:nvPr/>
        </p:nvSpPr>
        <p:spPr>
          <a:xfrm>
            <a:off x="548640" y="3931920"/>
            <a:ext cx="3566160" cy="210312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48640" y="3931920"/>
            <a:ext cx="82296" cy="2103120"/>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2959" y="4069080"/>
            <a:ext cx="3108960" cy="457200"/>
          </a:xfrm>
          <a:prstGeom prst="rect">
            <a:avLst/>
          </a:prstGeom>
          <a:noFill/>
        </p:spPr>
        <p:txBody>
          <a:bodyPr wrap="square" lIns="45720" rIns="45720" tIns="27432" bIns="27432" anchor="t">
            <a:spAutoFit/>
          </a:bodyPr>
          <a:lstStyle/>
          <a:p>
            <a:pPr algn="l">
              <a:spcAft>
                <a:spcPts val="600"/>
              </a:spcAft>
            </a:pPr>
            <a:r>
              <a:rPr sz="2400" b="1" i="0">
                <a:solidFill>
                  <a:srgbClr val="1F2A44"/>
                </a:solidFill>
                <a:latin typeface="Georgia"/>
              </a:rPr>
              <a:t>Node.js</a:t>
            </a:r>
          </a:p>
        </p:txBody>
      </p:sp>
      <p:sp>
        <p:nvSpPr>
          <p:cNvPr id="26" name="TextBox 25"/>
          <p:cNvSpPr txBox="1"/>
          <p:nvPr/>
        </p:nvSpPr>
        <p:spPr>
          <a:xfrm>
            <a:off x="822959" y="4590288"/>
            <a:ext cx="3108960" cy="320040"/>
          </a:xfrm>
          <a:prstGeom prst="rect">
            <a:avLst/>
          </a:prstGeom>
          <a:noFill/>
        </p:spPr>
        <p:txBody>
          <a:bodyPr wrap="square" lIns="45720" rIns="45720" tIns="27432" bIns="27432" anchor="t">
            <a:spAutoFit/>
          </a:bodyPr>
          <a:lstStyle/>
          <a:p>
            <a:pPr algn="l">
              <a:spcAft>
                <a:spcPts val="600"/>
              </a:spcAft>
            </a:pPr>
            <a:r>
              <a:rPr sz="1500" b="1" i="1">
                <a:solidFill>
                  <a:srgbClr val="A9792C"/>
                </a:solidFill>
                <a:latin typeface="Calibri"/>
              </a:rPr>
              <a:t>The engine</a:t>
            </a:r>
          </a:p>
        </p:txBody>
      </p:sp>
      <p:sp>
        <p:nvSpPr>
          <p:cNvPr id="27" name="TextBox 26"/>
          <p:cNvSpPr txBox="1"/>
          <p:nvPr/>
        </p:nvSpPr>
        <p:spPr>
          <a:xfrm>
            <a:off x="822959" y="4983479"/>
            <a:ext cx="3108960" cy="1005840"/>
          </a:xfrm>
          <a:prstGeom prst="rect">
            <a:avLst/>
          </a:prstGeom>
          <a:noFill/>
        </p:spPr>
        <p:txBody>
          <a:bodyPr wrap="square" lIns="45720" rIns="45720" tIns="27432" bIns="27432" anchor="t">
            <a:spAutoFit/>
          </a:bodyPr>
          <a:lstStyle/>
          <a:p>
            <a:pPr algn="l">
              <a:spcAft>
                <a:spcPts val="600"/>
              </a:spcAft>
            </a:pPr>
            <a:r>
              <a:rPr sz="1400" b="0" i="0">
                <a:solidFill>
                  <a:srgbClr val="241F14"/>
                </a:solidFill>
                <a:latin typeface="Calibri"/>
              </a:rPr>
              <a:t>Lets us run JavaScript on a computer, outside of the browser.</a:t>
            </a:r>
          </a:p>
        </p:txBody>
      </p:sp>
      <p:sp>
        <p:nvSpPr>
          <p:cNvPr id="28" name="Rectangle 27"/>
          <p:cNvSpPr/>
          <p:nvPr/>
        </p:nvSpPr>
        <p:spPr>
          <a:xfrm>
            <a:off x="4311396" y="3931920"/>
            <a:ext cx="3566160" cy="210312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311396" y="3931920"/>
            <a:ext cx="82296" cy="210312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85716" y="4069080"/>
            <a:ext cx="3108960" cy="457200"/>
          </a:xfrm>
          <a:prstGeom prst="rect">
            <a:avLst/>
          </a:prstGeom>
          <a:noFill/>
        </p:spPr>
        <p:txBody>
          <a:bodyPr wrap="square" lIns="45720" rIns="45720" tIns="27432" bIns="27432" anchor="t">
            <a:spAutoFit/>
          </a:bodyPr>
          <a:lstStyle/>
          <a:p>
            <a:pPr algn="l">
              <a:spcAft>
                <a:spcPts val="600"/>
              </a:spcAft>
            </a:pPr>
            <a:r>
              <a:rPr sz="2400" b="1" i="0">
                <a:solidFill>
                  <a:srgbClr val="1F2A44"/>
                </a:solidFill>
                <a:latin typeface="Georgia"/>
              </a:rPr>
              <a:t>Express 5</a:t>
            </a:r>
          </a:p>
        </p:txBody>
      </p:sp>
      <p:sp>
        <p:nvSpPr>
          <p:cNvPr id="31" name="TextBox 30"/>
          <p:cNvSpPr txBox="1"/>
          <p:nvPr/>
        </p:nvSpPr>
        <p:spPr>
          <a:xfrm>
            <a:off x="4585716" y="4590288"/>
            <a:ext cx="3108960" cy="320040"/>
          </a:xfrm>
          <a:prstGeom prst="rect">
            <a:avLst/>
          </a:prstGeom>
          <a:noFill/>
        </p:spPr>
        <p:txBody>
          <a:bodyPr wrap="square" lIns="45720" rIns="45720" tIns="27432" bIns="27432" anchor="t">
            <a:spAutoFit/>
          </a:bodyPr>
          <a:lstStyle/>
          <a:p>
            <a:pPr algn="l">
              <a:spcAft>
                <a:spcPts val="600"/>
              </a:spcAft>
            </a:pPr>
            <a:r>
              <a:rPr sz="1500" b="1" i="1">
                <a:solidFill>
                  <a:srgbClr val="A9792C"/>
                </a:solidFill>
                <a:latin typeface="Calibri"/>
              </a:rPr>
              <a:t>The delivery person</a:t>
            </a:r>
          </a:p>
        </p:txBody>
      </p:sp>
      <p:sp>
        <p:nvSpPr>
          <p:cNvPr id="32" name="TextBox 31"/>
          <p:cNvSpPr txBox="1"/>
          <p:nvPr/>
        </p:nvSpPr>
        <p:spPr>
          <a:xfrm>
            <a:off x="4585716" y="4983479"/>
            <a:ext cx="3108960" cy="1005840"/>
          </a:xfrm>
          <a:prstGeom prst="rect">
            <a:avLst/>
          </a:prstGeom>
          <a:noFill/>
        </p:spPr>
        <p:txBody>
          <a:bodyPr wrap="square" lIns="45720" rIns="45720" tIns="27432" bIns="27432" anchor="t">
            <a:spAutoFit/>
          </a:bodyPr>
          <a:lstStyle/>
          <a:p>
            <a:pPr algn="l">
              <a:spcAft>
                <a:spcPts val="600"/>
              </a:spcAft>
            </a:pPr>
            <a:r>
              <a:rPr sz="1400" b="0" i="0">
                <a:solidFill>
                  <a:srgbClr val="241F14"/>
                </a:solidFill>
                <a:latin typeface="Calibri"/>
              </a:rPr>
              <a:t>A small web server that hands the page, CSS and JS to the browser.</a:t>
            </a:r>
          </a:p>
        </p:txBody>
      </p:sp>
      <p:sp>
        <p:nvSpPr>
          <p:cNvPr id="33" name="Rectangle 32"/>
          <p:cNvSpPr/>
          <p:nvPr/>
        </p:nvSpPr>
        <p:spPr>
          <a:xfrm>
            <a:off x="8074152" y="3931920"/>
            <a:ext cx="3566160" cy="210312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074152" y="3931920"/>
            <a:ext cx="82296" cy="2103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2" y="4069080"/>
            <a:ext cx="3108960" cy="457200"/>
          </a:xfrm>
          <a:prstGeom prst="rect">
            <a:avLst/>
          </a:prstGeom>
          <a:noFill/>
        </p:spPr>
        <p:txBody>
          <a:bodyPr wrap="square" lIns="45720" rIns="45720" tIns="27432" bIns="27432" anchor="t">
            <a:spAutoFit/>
          </a:bodyPr>
          <a:lstStyle/>
          <a:p>
            <a:pPr algn="l">
              <a:spcAft>
                <a:spcPts val="600"/>
              </a:spcAft>
            </a:pPr>
            <a:r>
              <a:rPr sz="2400" b="1" i="0">
                <a:solidFill>
                  <a:srgbClr val="1F2A44"/>
                </a:solidFill>
                <a:latin typeface="Georgia"/>
              </a:rPr>
              <a:t>Supabase</a:t>
            </a:r>
          </a:p>
        </p:txBody>
      </p:sp>
      <p:sp>
        <p:nvSpPr>
          <p:cNvPr id="36" name="TextBox 35"/>
          <p:cNvSpPr txBox="1"/>
          <p:nvPr/>
        </p:nvSpPr>
        <p:spPr>
          <a:xfrm>
            <a:off x="8348472" y="4590288"/>
            <a:ext cx="3108960" cy="320040"/>
          </a:xfrm>
          <a:prstGeom prst="rect">
            <a:avLst/>
          </a:prstGeom>
          <a:noFill/>
        </p:spPr>
        <p:txBody>
          <a:bodyPr wrap="square" lIns="45720" rIns="45720" tIns="27432" bIns="27432" anchor="t">
            <a:spAutoFit/>
          </a:bodyPr>
          <a:lstStyle/>
          <a:p>
            <a:pPr algn="l">
              <a:spcAft>
                <a:spcPts val="600"/>
              </a:spcAft>
            </a:pPr>
            <a:r>
              <a:rPr sz="1500" b="1" i="1">
                <a:solidFill>
                  <a:srgbClr val="A9792C"/>
                </a:solidFill>
                <a:latin typeface="Calibri"/>
              </a:rPr>
              <a:t>The cloud filing cabinet</a:t>
            </a:r>
          </a:p>
        </p:txBody>
      </p:sp>
      <p:sp>
        <p:nvSpPr>
          <p:cNvPr id="37" name="TextBox 36"/>
          <p:cNvSpPr txBox="1"/>
          <p:nvPr/>
        </p:nvSpPr>
        <p:spPr>
          <a:xfrm>
            <a:off x="8348472" y="4983479"/>
            <a:ext cx="3108960" cy="1005840"/>
          </a:xfrm>
          <a:prstGeom prst="rect">
            <a:avLst/>
          </a:prstGeom>
          <a:noFill/>
        </p:spPr>
        <p:txBody>
          <a:bodyPr wrap="square" lIns="45720" rIns="45720" tIns="27432" bIns="27432" anchor="t">
            <a:spAutoFit/>
          </a:bodyPr>
          <a:lstStyle/>
          <a:p>
            <a:pPr algn="l">
              <a:spcAft>
                <a:spcPts val="600"/>
              </a:spcAft>
            </a:pPr>
            <a:r>
              <a:rPr sz="1400" b="0" i="0">
                <a:solidFill>
                  <a:srgbClr val="241F14"/>
                </a:solidFill>
                <a:latin typeface="Calibri"/>
              </a:rPr>
              <a:t>A hosted PostgreSQL database with an instant REST API.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ARCHITECTURE</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How the three parts work together</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7 / 16</a:t>
            </a:r>
          </a:p>
        </p:txBody>
      </p:sp>
      <p:sp>
        <p:nvSpPr>
          <p:cNvPr id="8" name="Rectangle 7"/>
          <p:cNvSpPr/>
          <p:nvPr/>
        </p:nvSpPr>
        <p:spPr>
          <a:xfrm>
            <a:off x="548640" y="1691640"/>
            <a:ext cx="3044952" cy="2514600"/>
          </a:xfrm>
          <a:prstGeom prst="rect">
            <a:avLst/>
          </a:prstGeom>
          <a:solidFill>
            <a:srgbClr val="FBF8F0"/>
          </a:solidFill>
          <a:ln w="25400">
            <a:solidFill>
              <a:srgbClr val="3C466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3044952" cy="685800"/>
          </a:xfrm>
          <a:prstGeom prst="rect">
            <a:avLst/>
          </a:prstGeom>
          <a:solidFill>
            <a:srgbClr val="3C46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1709928"/>
            <a:ext cx="2862072" cy="365760"/>
          </a:xfrm>
          <a:prstGeom prst="rect">
            <a:avLst/>
          </a:prstGeom>
          <a:noFill/>
        </p:spPr>
        <p:txBody>
          <a:bodyPr wrap="square" lIns="45720" rIns="45720" tIns="27432" bIns="27432" anchor="t">
            <a:spAutoFit/>
          </a:bodyPr>
          <a:lstStyle/>
          <a:p>
            <a:pPr algn="ctr">
              <a:spcAft>
                <a:spcPts val="600"/>
              </a:spcAft>
            </a:pPr>
            <a:r>
              <a:rPr sz="1900" b="1" i="0">
                <a:solidFill>
                  <a:srgbClr val="FFFFFF"/>
                </a:solidFill>
                <a:latin typeface="Georgia"/>
              </a:rPr>
              <a:t>Express server</a:t>
            </a:r>
          </a:p>
        </p:txBody>
      </p:sp>
      <p:sp>
        <p:nvSpPr>
          <p:cNvPr id="11" name="TextBox 10"/>
          <p:cNvSpPr txBox="1"/>
          <p:nvPr/>
        </p:nvSpPr>
        <p:spPr>
          <a:xfrm>
            <a:off x="640080" y="2057400"/>
            <a:ext cx="2862072" cy="274320"/>
          </a:xfrm>
          <a:prstGeom prst="rect">
            <a:avLst/>
          </a:prstGeom>
          <a:noFill/>
        </p:spPr>
        <p:txBody>
          <a:bodyPr wrap="square" lIns="45720" rIns="45720" tIns="27432" bIns="27432" anchor="t">
            <a:spAutoFit/>
          </a:bodyPr>
          <a:lstStyle/>
          <a:p>
            <a:pPr algn="ctr">
              <a:spcAft>
                <a:spcPts val="600"/>
              </a:spcAft>
            </a:pPr>
            <a:r>
              <a:rPr sz="1100" b="0" i="0">
                <a:solidFill>
                  <a:srgbClr val="FFFFFF"/>
                </a:solidFill>
                <a:latin typeface="Consolas"/>
              </a:rPr>
              <a:t>server.js  ·  port 3000</a:t>
            </a:r>
          </a:p>
        </p:txBody>
      </p:sp>
      <p:sp>
        <p:nvSpPr>
          <p:cNvPr id="12" name="TextBox 11"/>
          <p:cNvSpPr txBox="1"/>
          <p:nvPr/>
        </p:nvSpPr>
        <p:spPr>
          <a:xfrm>
            <a:off x="731520" y="2560320"/>
            <a:ext cx="2697480" cy="1554480"/>
          </a:xfrm>
          <a:prstGeom prst="rect">
            <a:avLst/>
          </a:prstGeom>
          <a:noFill/>
        </p:spPr>
        <p:txBody>
          <a:bodyPr wrap="square" lIns="45720" rIns="45720" tIns="27432" bIns="27432" anchor="t">
            <a:spAutoFit/>
          </a:bodyPr>
          <a:lstStyle/>
          <a:p>
            <a:pPr algn="l" marL="237744" indent="-237744">
              <a:spcAft>
                <a:spcPts val="600"/>
              </a:spcAft>
              <a:buClr>
                <a:srgbClr val="3C4664"/>
              </a:buClr>
              <a:buChar char="•"/>
            </a:pPr>
            <a:r>
              <a:rPr sz="1400" b="0" i="0">
                <a:solidFill>
                  <a:srgbClr val="241F14"/>
                </a:solidFill>
                <a:latin typeface="Calibri"/>
              </a:rPr>
              <a:t>Serves index.html</a:t>
            </a:r>
          </a:p>
          <a:p>
            <a:pPr algn="l" marL="237744" indent="-237744">
              <a:spcAft>
                <a:spcPts val="600"/>
              </a:spcAft>
              <a:buClr>
                <a:srgbClr val="3C4664"/>
              </a:buClr>
              <a:buChar char="•"/>
            </a:pPr>
            <a:r>
              <a:rPr sz="1400" b="0" i="0">
                <a:solidFill>
                  <a:srgbClr val="241F14"/>
                </a:solidFill>
                <a:latin typeface="Calibri"/>
              </a:rPr>
              <a:t>Serves CSS and JavaScript</a:t>
            </a:r>
          </a:p>
          <a:p>
            <a:pPr algn="l" marL="237744" indent="-237744">
              <a:spcAft>
                <a:spcPts val="600"/>
              </a:spcAft>
              <a:buClr>
                <a:srgbClr val="3C4664"/>
              </a:buClr>
              <a:buChar char="•"/>
            </a:pPr>
            <a:r>
              <a:rPr sz="1400" b="0" i="0">
                <a:solidFill>
                  <a:srgbClr val="241F14"/>
                </a:solidFill>
                <a:latin typeface="Calibri"/>
              </a:rPr>
              <a:t>Never touches the database</a:t>
            </a:r>
          </a:p>
        </p:txBody>
      </p:sp>
      <p:sp>
        <p:nvSpPr>
          <p:cNvPr id="13" name="Rectangle 12"/>
          <p:cNvSpPr/>
          <p:nvPr/>
        </p:nvSpPr>
        <p:spPr>
          <a:xfrm>
            <a:off x="4572000" y="1691640"/>
            <a:ext cx="3044952" cy="2514600"/>
          </a:xfrm>
          <a:prstGeom prst="rect">
            <a:avLst/>
          </a:prstGeom>
          <a:solidFill>
            <a:srgbClr val="FBF8F0"/>
          </a:solidFill>
          <a:ln w="25400">
            <a:solidFill>
              <a:srgbClr val="2F6F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572000" y="1691640"/>
            <a:ext cx="3044952" cy="685800"/>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663440" y="1709928"/>
            <a:ext cx="2862072" cy="365760"/>
          </a:xfrm>
          <a:prstGeom prst="rect">
            <a:avLst/>
          </a:prstGeom>
          <a:noFill/>
        </p:spPr>
        <p:txBody>
          <a:bodyPr wrap="square" lIns="45720" rIns="45720" tIns="27432" bIns="27432" anchor="t">
            <a:spAutoFit/>
          </a:bodyPr>
          <a:lstStyle/>
          <a:p>
            <a:pPr algn="ctr">
              <a:spcAft>
                <a:spcPts val="600"/>
              </a:spcAft>
            </a:pPr>
            <a:r>
              <a:rPr sz="1900" b="1" i="0">
                <a:solidFill>
                  <a:srgbClr val="FFFFFF"/>
                </a:solidFill>
                <a:latin typeface="Georgia"/>
              </a:rPr>
              <a:t>Web browser</a:t>
            </a:r>
          </a:p>
        </p:txBody>
      </p:sp>
      <p:sp>
        <p:nvSpPr>
          <p:cNvPr id="16" name="TextBox 15"/>
          <p:cNvSpPr txBox="1"/>
          <p:nvPr/>
        </p:nvSpPr>
        <p:spPr>
          <a:xfrm>
            <a:off x="4663440" y="2057400"/>
            <a:ext cx="2862072" cy="274320"/>
          </a:xfrm>
          <a:prstGeom prst="rect">
            <a:avLst/>
          </a:prstGeom>
          <a:noFill/>
        </p:spPr>
        <p:txBody>
          <a:bodyPr wrap="square" lIns="45720" rIns="45720" tIns="27432" bIns="27432" anchor="t">
            <a:spAutoFit/>
          </a:bodyPr>
          <a:lstStyle/>
          <a:p>
            <a:pPr algn="ctr">
              <a:spcAft>
                <a:spcPts val="600"/>
              </a:spcAft>
            </a:pPr>
            <a:r>
              <a:rPr sz="1100" b="0" i="0">
                <a:solidFill>
                  <a:srgbClr val="FFFFFF"/>
                </a:solidFill>
                <a:latin typeface="Consolas"/>
              </a:rPr>
              <a:t>index.html · style.css · script.js</a:t>
            </a:r>
          </a:p>
        </p:txBody>
      </p:sp>
      <p:sp>
        <p:nvSpPr>
          <p:cNvPr id="17" name="TextBox 16"/>
          <p:cNvSpPr txBox="1"/>
          <p:nvPr/>
        </p:nvSpPr>
        <p:spPr>
          <a:xfrm>
            <a:off x="4754880" y="2560320"/>
            <a:ext cx="2697480" cy="1554480"/>
          </a:xfrm>
          <a:prstGeom prst="rect">
            <a:avLst/>
          </a:prstGeom>
          <a:noFill/>
        </p:spPr>
        <p:txBody>
          <a:bodyPr wrap="square" lIns="45720" rIns="45720" tIns="27432" bIns="27432" anchor="t">
            <a:spAutoFit/>
          </a:bodyPr>
          <a:lstStyle/>
          <a:p>
            <a:pPr algn="l" marL="237744" indent="-237744">
              <a:spcAft>
                <a:spcPts val="600"/>
              </a:spcAft>
              <a:buClr>
                <a:srgbClr val="2F6F62"/>
              </a:buClr>
              <a:buChar char="•"/>
            </a:pPr>
            <a:r>
              <a:rPr sz="1400" b="0" i="0">
                <a:solidFill>
                  <a:srgbClr val="241F14"/>
                </a:solidFill>
                <a:latin typeface="Calibri"/>
              </a:rPr>
              <a:t>Shows the form and table</a:t>
            </a:r>
          </a:p>
          <a:p>
            <a:pPr algn="l" marL="237744" indent="-237744">
              <a:spcAft>
                <a:spcPts val="600"/>
              </a:spcAft>
              <a:buClr>
                <a:srgbClr val="2F6F62"/>
              </a:buClr>
              <a:buChar char="•"/>
            </a:pPr>
            <a:r>
              <a:rPr sz="1400" b="0" i="0">
                <a:solidFill>
                  <a:srgbClr val="241F14"/>
                </a:solidFill>
                <a:latin typeface="Calibri"/>
              </a:rPr>
              <a:t>Validates user input</a:t>
            </a:r>
          </a:p>
          <a:p>
            <a:pPr algn="l" marL="237744" indent="-237744">
              <a:spcAft>
                <a:spcPts val="600"/>
              </a:spcAft>
              <a:buClr>
                <a:srgbClr val="2F6F62"/>
              </a:buClr>
              <a:buChar char="•"/>
            </a:pPr>
            <a:r>
              <a:rPr sz="1400" b="0" i="0">
                <a:solidFill>
                  <a:srgbClr val="241F14"/>
                </a:solidFill>
                <a:latin typeface="Calibri"/>
              </a:rPr>
              <a:t>Calls the database directly</a:t>
            </a:r>
          </a:p>
        </p:txBody>
      </p:sp>
      <p:sp>
        <p:nvSpPr>
          <p:cNvPr id="18" name="Rectangle 17"/>
          <p:cNvSpPr/>
          <p:nvPr/>
        </p:nvSpPr>
        <p:spPr>
          <a:xfrm>
            <a:off x="8595360" y="1691640"/>
            <a:ext cx="3044952" cy="2514600"/>
          </a:xfrm>
          <a:prstGeom prst="rect">
            <a:avLst/>
          </a:prstGeom>
          <a:solidFill>
            <a:srgbClr val="FBF8F0"/>
          </a:solidFill>
          <a:ln w="25400">
            <a:solidFill>
              <a:srgbClr val="A979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595360" y="1691640"/>
            <a:ext cx="3044952" cy="68580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686800" y="1709928"/>
            <a:ext cx="2862072" cy="365760"/>
          </a:xfrm>
          <a:prstGeom prst="rect">
            <a:avLst/>
          </a:prstGeom>
          <a:noFill/>
        </p:spPr>
        <p:txBody>
          <a:bodyPr wrap="square" lIns="45720" rIns="45720" tIns="27432" bIns="27432" anchor="t">
            <a:spAutoFit/>
          </a:bodyPr>
          <a:lstStyle/>
          <a:p>
            <a:pPr algn="ctr">
              <a:spcAft>
                <a:spcPts val="600"/>
              </a:spcAft>
            </a:pPr>
            <a:r>
              <a:rPr sz="1900" b="1" i="0">
                <a:solidFill>
                  <a:srgbClr val="FFFFFF"/>
                </a:solidFill>
                <a:latin typeface="Georgia"/>
              </a:rPr>
              <a:t>Supabase (cloud)</a:t>
            </a:r>
          </a:p>
        </p:txBody>
      </p:sp>
      <p:sp>
        <p:nvSpPr>
          <p:cNvPr id="21" name="TextBox 20"/>
          <p:cNvSpPr txBox="1"/>
          <p:nvPr/>
        </p:nvSpPr>
        <p:spPr>
          <a:xfrm>
            <a:off x="8686800" y="2057400"/>
            <a:ext cx="2862072" cy="274320"/>
          </a:xfrm>
          <a:prstGeom prst="rect">
            <a:avLst/>
          </a:prstGeom>
          <a:noFill/>
        </p:spPr>
        <p:txBody>
          <a:bodyPr wrap="square" lIns="45720" rIns="45720" tIns="27432" bIns="27432" anchor="t">
            <a:spAutoFit/>
          </a:bodyPr>
          <a:lstStyle/>
          <a:p>
            <a:pPr algn="ctr">
              <a:spcAft>
                <a:spcPts val="600"/>
              </a:spcAft>
            </a:pPr>
            <a:r>
              <a:rPr sz="1100" b="0" i="0">
                <a:solidFill>
                  <a:srgbClr val="FFFFFF"/>
                </a:solidFill>
                <a:latin typeface="Consolas"/>
              </a:rPr>
              <a:t>PostgREST API + PostgreSQL</a:t>
            </a:r>
          </a:p>
        </p:txBody>
      </p:sp>
      <p:sp>
        <p:nvSpPr>
          <p:cNvPr id="22" name="TextBox 21"/>
          <p:cNvSpPr txBox="1"/>
          <p:nvPr/>
        </p:nvSpPr>
        <p:spPr>
          <a:xfrm>
            <a:off x="8778240" y="2560320"/>
            <a:ext cx="2697480" cy="1554480"/>
          </a:xfrm>
          <a:prstGeom prst="rect">
            <a:avLst/>
          </a:prstGeom>
          <a:noFill/>
        </p:spPr>
        <p:txBody>
          <a:bodyPr wrap="square" lIns="45720" rIns="45720" tIns="27432" bIns="27432" anchor="t">
            <a:spAutoFit/>
          </a:bodyPr>
          <a:lstStyle/>
          <a:p>
            <a:pPr algn="l" marL="237744" indent="-237744">
              <a:spcAft>
                <a:spcPts val="600"/>
              </a:spcAft>
              <a:buClr>
                <a:srgbClr val="A9792C"/>
              </a:buClr>
              <a:buChar char="•"/>
            </a:pPr>
            <a:r>
              <a:rPr sz="1400" b="0" i="0">
                <a:solidFill>
                  <a:srgbClr val="241F14"/>
                </a:solidFill>
                <a:latin typeface="Calibri"/>
              </a:rPr>
              <a:t>“students” table</a:t>
            </a:r>
          </a:p>
          <a:p>
            <a:pPr algn="l" marL="237744" indent="-237744">
              <a:spcAft>
                <a:spcPts val="600"/>
              </a:spcAft>
              <a:buClr>
                <a:srgbClr val="A9792C"/>
              </a:buClr>
              <a:buChar char="•"/>
            </a:pPr>
            <a:r>
              <a:rPr sz="1400" b="0" i="0">
                <a:solidFill>
                  <a:srgbClr val="241F14"/>
                </a:solidFill>
                <a:latin typeface="Calibri"/>
              </a:rPr>
              <a:t>Saves, reads, updates, deletes</a:t>
            </a:r>
          </a:p>
          <a:p>
            <a:pPr algn="l" marL="237744" indent="-237744">
              <a:spcAft>
                <a:spcPts val="600"/>
              </a:spcAft>
              <a:buClr>
                <a:srgbClr val="A9792C"/>
              </a:buClr>
              <a:buChar char="•"/>
            </a:pPr>
            <a:r>
              <a:rPr sz="1400" b="0" i="0">
                <a:solidFill>
                  <a:srgbClr val="241F14"/>
                </a:solidFill>
                <a:latin typeface="Calibri"/>
              </a:rPr>
              <a:t>Replies in JSON format</a:t>
            </a:r>
          </a:p>
        </p:txBody>
      </p:sp>
      <p:cxnSp>
        <p:nvCxnSpPr>
          <p:cNvPr id="23" name="Connector 22"/>
          <p:cNvCxnSpPr/>
          <p:nvPr/>
        </p:nvCxnSpPr>
        <p:spPr>
          <a:xfrm>
            <a:off x="3639312" y="2971800"/>
            <a:ext cx="886968" cy="0"/>
          </a:xfrm>
          <a:prstGeom prst="line">
            <a:avLst/>
          </a:prstGeom>
          <a:ln w="31750">
            <a:solidFill>
              <a:srgbClr val="A9792C"/>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3831336" y="2514600"/>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Georgia"/>
              </a:rPr>
              <a:t>1</a:t>
            </a:r>
          </a:p>
        </p:txBody>
      </p:sp>
      <p:cxnSp>
        <p:nvCxnSpPr>
          <p:cNvPr id="25" name="Connector 24"/>
          <p:cNvCxnSpPr/>
          <p:nvPr/>
        </p:nvCxnSpPr>
        <p:spPr>
          <a:xfrm>
            <a:off x="7662672" y="2971800"/>
            <a:ext cx="886968" cy="0"/>
          </a:xfrm>
          <a:prstGeom prst="line">
            <a:avLst/>
          </a:prstGeom>
          <a:ln w="31750">
            <a:solidFill>
              <a:srgbClr val="A9792C"/>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7854696" y="2514600"/>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Georgia"/>
              </a:rPr>
              <a:t>2</a:t>
            </a:r>
          </a:p>
        </p:txBody>
      </p:sp>
      <p:sp>
        <p:nvSpPr>
          <p:cNvPr id="27" name="Rectangle 26"/>
          <p:cNvSpPr/>
          <p:nvPr/>
        </p:nvSpPr>
        <p:spPr>
          <a:xfrm>
            <a:off x="548640" y="4480560"/>
            <a:ext cx="5440680" cy="1783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48640" y="4480560"/>
            <a:ext cx="5440680" cy="64008"/>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31520" y="4663440"/>
            <a:ext cx="5074920" cy="457200"/>
          </a:xfrm>
          <a:prstGeom prst="rect">
            <a:avLst/>
          </a:prstGeom>
          <a:noFill/>
        </p:spPr>
        <p:txBody>
          <a:bodyPr wrap="square" lIns="45720" rIns="45720" tIns="27432" bIns="27432" anchor="t">
            <a:spAutoFit/>
          </a:bodyPr>
          <a:lstStyle/>
          <a:p>
            <a:pPr algn="l">
              <a:spcAft>
                <a:spcPts val="600"/>
              </a:spcAft>
            </a:pPr>
            <a:r>
              <a:rPr sz="1700" b="1" i="0">
                <a:solidFill>
                  <a:srgbClr val="1F2A44"/>
                </a:solidFill>
                <a:latin typeface="Georgia"/>
              </a:rPr>
              <a:t>1  Getting the page</a:t>
            </a:r>
          </a:p>
        </p:txBody>
      </p:sp>
      <p:sp>
        <p:nvSpPr>
          <p:cNvPr id="30" name="TextBox 29"/>
          <p:cNvSpPr txBox="1"/>
          <p:nvPr/>
        </p:nvSpPr>
        <p:spPr>
          <a:xfrm>
            <a:off x="731520" y="5193792"/>
            <a:ext cx="5074920" cy="960119"/>
          </a:xfrm>
          <a:prstGeom prst="rect">
            <a:avLst/>
          </a:prstGeom>
          <a:noFill/>
        </p:spPr>
        <p:txBody>
          <a:bodyPr wrap="square" lIns="45720" rIns="45720" tIns="27432" bIns="27432" anchor="t">
            <a:spAutoFit/>
          </a:bodyPr>
          <a:lstStyle/>
          <a:p>
            <a:pPr algn="l" marL="237744" indent="-237744">
              <a:spcAft>
                <a:spcPts val="500"/>
              </a:spcAft>
              <a:buClr>
                <a:srgbClr val="A9792C"/>
              </a:buClr>
              <a:buChar char="•"/>
            </a:pPr>
            <a:r>
              <a:rPr sz="1300" b="0" i="0">
                <a:solidFill>
                  <a:srgbClr val="241F14"/>
                </a:solidFill>
                <a:latin typeface="Calibri"/>
              </a:rPr>
              <a:t>You open http://localhost:3000. The browser asks Express for the page.</a:t>
            </a:r>
          </a:p>
          <a:p>
            <a:pPr algn="l" marL="237744" indent="-237744">
              <a:spcAft>
                <a:spcPts val="500"/>
              </a:spcAft>
              <a:buClr>
                <a:srgbClr val="A9792C"/>
              </a:buClr>
              <a:buChar char="•"/>
            </a:pPr>
            <a:r>
              <a:rPr sz="1300" b="0" i="0">
                <a:solidFill>
                  <a:srgbClr val="241F14"/>
                </a:solidFill>
                <a:latin typeface="Calibri"/>
              </a:rPr>
              <a:t>Express replies with index.html, then the CSS and JS files it links to.</a:t>
            </a:r>
          </a:p>
        </p:txBody>
      </p:sp>
      <p:sp>
        <p:nvSpPr>
          <p:cNvPr id="31" name="Rectangle 30"/>
          <p:cNvSpPr/>
          <p:nvPr/>
        </p:nvSpPr>
        <p:spPr>
          <a:xfrm>
            <a:off x="6199632" y="4480560"/>
            <a:ext cx="5440680" cy="1783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9632" y="4480560"/>
            <a:ext cx="5440680" cy="64008"/>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82512" y="4663440"/>
            <a:ext cx="5074920" cy="457200"/>
          </a:xfrm>
          <a:prstGeom prst="rect">
            <a:avLst/>
          </a:prstGeom>
          <a:noFill/>
        </p:spPr>
        <p:txBody>
          <a:bodyPr wrap="square" lIns="45720" rIns="45720" tIns="27432" bIns="27432" anchor="t">
            <a:spAutoFit/>
          </a:bodyPr>
          <a:lstStyle/>
          <a:p>
            <a:pPr algn="l">
              <a:spcAft>
                <a:spcPts val="600"/>
              </a:spcAft>
            </a:pPr>
            <a:r>
              <a:rPr sz="1700" b="1" i="0">
                <a:solidFill>
                  <a:srgbClr val="1F2A44"/>
                </a:solidFill>
                <a:latin typeface="Georgia"/>
              </a:rPr>
              <a:t>2  Working with the data</a:t>
            </a:r>
          </a:p>
        </p:txBody>
      </p:sp>
      <p:sp>
        <p:nvSpPr>
          <p:cNvPr id="34" name="TextBox 33"/>
          <p:cNvSpPr txBox="1"/>
          <p:nvPr/>
        </p:nvSpPr>
        <p:spPr>
          <a:xfrm>
            <a:off x="6382512" y="5193792"/>
            <a:ext cx="5074920" cy="960119"/>
          </a:xfrm>
          <a:prstGeom prst="rect">
            <a:avLst/>
          </a:prstGeom>
          <a:noFill/>
        </p:spPr>
        <p:txBody>
          <a:bodyPr wrap="square" lIns="45720" rIns="45720" tIns="27432" bIns="27432" anchor="t">
            <a:spAutoFit/>
          </a:bodyPr>
          <a:lstStyle/>
          <a:p>
            <a:pPr algn="l" marL="237744" indent="-237744">
              <a:spcAft>
                <a:spcPts val="500"/>
              </a:spcAft>
              <a:buClr>
                <a:srgbClr val="A9792C"/>
              </a:buClr>
              <a:buChar char="•"/>
            </a:pPr>
            <a:r>
              <a:rPr sz="1300" b="0" i="0">
                <a:solidFill>
                  <a:srgbClr val="241F14"/>
                </a:solidFill>
                <a:latin typeface="Calibri"/>
              </a:rPr>
              <a:t>script.js uses fetch() to send GET, POST, PATCH and DELETE requests to Supabase.</a:t>
            </a:r>
          </a:p>
          <a:p>
            <a:pPr algn="l" marL="237744" indent="-237744">
              <a:spcAft>
                <a:spcPts val="500"/>
              </a:spcAft>
              <a:buClr>
                <a:srgbClr val="A9792C"/>
              </a:buClr>
              <a:buChar char="•"/>
            </a:pPr>
            <a:r>
              <a:rPr sz="1300" b="0" i="0">
                <a:solidFill>
                  <a:srgbClr val="241F14"/>
                </a:solidFill>
                <a:latin typeface="Calibri"/>
              </a:rPr>
              <a:t>Supabase answers with JSON; the page updates without reloading.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CODE TOUR</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Project structure: where everything lives</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8 / 16</a:t>
            </a:r>
          </a:p>
        </p:txBody>
      </p:sp>
      <p:sp>
        <p:nvSpPr>
          <p:cNvPr id="8" name="Rounded Rectangle 7"/>
          <p:cNvSpPr/>
          <p:nvPr/>
        </p:nvSpPr>
        <p:spPr>
          <a:xfrm>
            <a:off x="548640" y="1645920"/>
            <a:ext cx="5212080" cy="4526280"/>
          </a:xfrm>
          <a:prstGeom prst="roundRect">
            <a:avLst>
              <a:gd name="adj" fmla="val 4000"/>
            </a:avLst>
          </a:prstGeom>
          <a:solidFill>
            <a:srgbClr val="1B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31520" y="1783080"/>
            <a:ext cx="1463040" cy="256032"/>
          </a:xfrm>
          <a:prstGeom prst="roundRect">
            <a:avLst>
              <a:gd name="adj" fmla="val 50000"/>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FFFFFF"/>
                </a:solidFill>
                <a:latin typeface="Consolas"/>
              </a:rPr>
              <a:t>project tree</a:t>
            </a:r>
          </a:p>
        </p:txBody>
      </p:sp>
      <p:sp>
        <p:nvSpPr>
          <p:cNvPr id="10" name="TextBox 9"/>
          <p:cNvSpPr txBox="1"/>
          <p:nvPr/>
        </p:nvSpPr>
        <p:spPr>
          <a:xfrm>
            <a:off x="731520" y="2148840"/>
            <a:ext cx="4846320" cy="3931920"/>
          </a:xfrm>
          <a:prstGeom prst="rect">
            <a:avLst/>
          </a:prstGeom>
          <a:noFill/>
        </p:spPr>
        <p:txBody>
          <a:bodyPr wrap="square" lIns="45720" rIns="45720" tIns="27432" bIns="27432" anchor="t">
            <a:spAutoFit/>
          </a:bodyPr>
          <a:lstStyle/>
          <a:p>
            <a:pPr algn="l">
              <a:lnSpc>
                <a:spcPct val="110000"/>
              </a:lnSpc>
              <a:spcAft>
                <a:spcPts val="0"/>
              </a:spcAft>
            </a:pPr>
            <a:r>
              <a:rPr sz="1500" b="0" i="0">
                <a:solidFill>
                  <a:srgbClr val="E8E2D0"/>
                </a:solidFill>
                <a:latin typeface="Consolas"/>
              </a:rPr>
              <a:t>student-management-system/</a:t>
            </a:r>
          </a:p>
          <a:p>
            <a:pPr algn="l">
              <a:lnSpc>
                <a:spcPct val="110000"/>
              </a:lnSpc>
              <a:spcAft>
                <a:spcPts val="0"/>
              </a:spcAft>
            </a:pPr>
            <a:r>
              <a:rPr sz="1500" b="0" i="0">
                <a:solidFill>
                  <a:srgbClr val="E8E2D0"/>
                </a:solidFill>
                <a:latin typeface="Consolas"/>
              </a:rPr>
              <a:t>├── server.js</a:t>
            </a:r>
          </a:p>
          <a:p>
            <a:pPr algn="l">
              <a:lnSpc>
                <a:spcPct val="110000"/>
              </a:lnSpc>
              <a:spcAft>
                <a:spcPts val="0"/>
              </a:spcAft>
            </a:pPr>
            <a:r>
              <a:rPr sz="1500" b="0" i="0">
                <a:solidFill>
                  <a:srgbClr val="E8E2D0"/>
                </a:solidFill>
                <a:latin typeface="Consolas"/>
              </a:rPr>
              <a:t>├── index.html</a:t>
            </a:r>
          </a:p>
          <a:p>
            <a:pPr algn="l">
              <a:lnSpc>
                <a:spcPct val="110000"/>
              </a:lnSpc>
              <a:spcAft>
                <a:spcPts val="0"/>
              </a:spcAft>
            </a:pPr>
            <a:r>
              <a:rPr sz="1500" b="0" i="0">
                <a:solidFill>
                  <a:srgbClr val="E8E2D0"/>
                </a:solidFill>
                <a:latin typeface="Consolas"/>
              </a:rPr>
              <a:t>├── package.json</a:t>
            </a:r>
          </a:p>
          <a:p>
            <a:pPr algn="l">
              <a:lnSpc>
                <a:spcPct val="110000"/>
              </a:lnSpc>
              <a:spcAft>
                <a:spcPts val="0"/>
              </a:spcAft>
            </a:pPr>
            <a:r>
              <a:rPr sz="1500" b="0" i="0">
                <a:solidFill>
                  <a:srgbClr val="E8E2D0"/>
                </a:solidFill>
                <a:latin typeface="Consolas"/>
              </a:rPr>
              <a:t>├── README.md</a:t>
            </a:r>
          </a:p>
          <a:p>
            <a:pPr algn="l">
              <a:lnSpc>
                <a:spcPct val="110000"/>
              </a:lnSpc>
              <a:spcAft>
                <a:spcPts val="0"/>
              </a:spcAft>
            </a:pPr>
            <a:r>
              <a:rPr sz="1500" b="0" i="0">
                <a:solidFill>
                  <a:srgbClr val="E8E2D0"/>
                </a:solidFill>
                <a:latin typeface="Consolas"/>
              </a:rPr>
              <a:t>├── docs/</a:t>
            </a:r>
          </a:p>
          <a:p>
            <a:pPr algn="l">
              <a:lnSpc>
                <a:spcPct val="110000"/>
              </a:lnSpc>
              <a:spcAft>
                <a:spcPts val="0"/>
              </a:spcAft>
            </a:pPr>
            <a:r>
              <a:rPr sz="1500" b="0" i="0">
                <a:solidFill>
                  <a:srgbClr val="E8E2D0"/>
                </a:solidFill>
                <a:latin typeface="Consolas"/>
              </a:rPr>
              <a:t>│   └── INTERN_ONBOARDING_GUIDE.md</a:t>
            </a:r>
          </a:p>
          <a:p>
            <a:pPr algn="l">
              <a:lnSpc>
                <a:spcPct val="110000"/>
              </a:lnSpc>
              <a:spcAft>
                <a:spcPts val="0"/>
              </a:spcAft>
            </a:pPr>
            <a:r>
              <a:rPr sz="1500" b="0" i="0">
                <a:solidFill>
                  <a:srgbClr val="E8E2D0"/>
                </a:solidFill>
                <a:latin typeface="Consolas"/>
              </a:rPr>
              <a:t>└── public/</a:t>
            </a:r>
          </a:p>
          <a:p>
            <a:pPr algn="l">
              <a:lnSpc>
                <a:spcPct val="110000"/>
              </a:lnSpc>
              <a:spcAft>
                <a:spcPts val="0"/>
              </a:spcAft>
            </a:pPr>
            <a:r>
              <a:rPr sz="1500" b="0" i="0">
                <a:solidFill>
                  <a:srgbClr val="E8E2D0"/>
                </a:solidFill>
                <a:latin typeface="Consolas"/>
              </a:rPr>
              <a:t>    ├── css/</a:t>
            </a:r>
          </a:p>
          <a:p>
            <a:pPr algn="l">
              <a:lnSpc>
                <a:spcPct val="110000"/>
              </a:lnSpc>
              <a:spcAft>
                <a:spcPts val="0"/>
              </a:spcAft>
            </a:pPr>
            <a:r>
              <a:rPr sz="1500" b="0" i="0">
                <a:solidFill>
                  <a:srgbClr val="E8E2D0"/>
                </a:solidFill>
                <a:latin typeface="Consolas"/>
              </a:rPr>
              <a:t>    │   └── style.css</a:t>
            </a:r>
          </a:p>
          <a:p>
            <a:pPr algn="l">
              <a:lnSpc>
                <a:spcPct val="110000"/>
              </a:lnSpc>
              <a:spcAft>
                <a:spcPts val="0"/>
              </a:spcAft>
            </a:pPr>
            <a:r>
              <a:rPr sz="1500" b="0" i="0">
                <a:solidFill>
                  <a:srgbClr val="E8E2D0"/>
                </a:solidFill>
                <a:latin typeface="Consolas"/>
              </a:rPr>
              <a:t>    └── js/</a:t>
            </a:r>
          </a:p>
          <a:p>
            <a:pPr algn="l">
              <a:lnSpc>
                <a:spcPct val="110000"/>
              </a:lnSpc>
              <a:spcAft>
                <a:spcPts val="0"/>
              </a:spcAft>
            </a:pPr>
            <a:r>
              <a:rPr sz="1500" b="0" i="0">
                <a:solidFill>
                  <a:srgbClr val="E8E2D0"/>
                </a:solidFill>
                <a:latin typeface="Consolas"/>
              </a:rPr>
              <a:t>        └── script.js</a:t>
            </a:r>
          </a:p>
        </p:txBody>
      </p:sp>
      <p:sp>
        <p:nvSpPr>
          <p:cNvPr id="11" name="Rectangle 10"/>
          <p:cNvSpPr/>
          <p:nvPr/>
        </p:nvSpPr>
        <p:spPr>
          <a:xfrm>
            <a:off x="6035040" y="1645920"/>
            <a:ext cx="5605272" cy="676656"/>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035040" y="1645920"/>
            <a:ext cx="64008" cy="676656"/>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17920" y="1673352"/>
            <a:ext cx="5394960" cy="274320"/>
          </a:xfrm>
          <a:prstGeom prst="rect">
            <a:avLst/>
          </a:prstGeom>
          <a:noFill/>
        </p:spPr>
        <p:txBody>
          <a:bodyPr wrap="square" lIns="45720" rIns="45720" tIns="27432" bIns="27432" anchor="t">
            <a:spAutoFit/>
          </a:bodyPr>
          <a:lstStyle/>
          <a:p>
            <a:pPr algn="l">
              <a:spcAft>
                <a:spcPts val="600"/>
              </a:spcAft>
            </a:pPr>
            <a:r>
              <a:rPr sz="1400" b="1" i="0">
                <a:solidFill>
                  <a:srgbClr val="234F45"/>
                </a:solidFill>
                <a:latin typeface="Consolas"/>
              </a:rPr>
              <a:t>server.js</a:t>
            </a:r>
          </a:p>
        </p:txBody>
      </p:sp>
      <p:sp>
        <p:nvSpPr>
          <p:cNvPr id="14" name="TextBox 13"/>
          <p:cNvSpPr txBox="1"/>
          <p:nvPr/>
        </p:nvSpPr>
        <p:spPr>
          <a:xfrm>
            <a:off x="6217920" y="1975104"/>
            <a:ext cx="5394960" cy="320040"/>
          </a:xfrm>
          <a:prstGeom prst="rect">
            <a:avLst/>
          </a:prstGeom>
          <a:noFill/>
        </p:spPr>
        <p:txBody>
          <a:bodyPr wrap="square" lIns="45720" rIns="45720" tIns="27432" bIns="27432" anchor="t">
            <a:spAutoFit/>
          </a:bodyPr>
          <a:lstStyle/>
          <a:p>
            <a:pPr algn="l">
              <a:spcAft>
                <a:spcPts val="600"/>
              </a:spcAft>
            </a:pPr>
            <a:r>
              <a:rPr sz="1300" b="0" i="0">
                <a:solidFill>
                  <a:srgbClr val="241F14"/>
                </a:solidFill>
                <a:latin typeface="Calibri"/>
              </a:rPr>
              <a:t>Back end. Starts Express and serves the files.</a:t>
            </a:r>
          </a:p>
        </p:txBody>
      </p:sp>
      <p:sp>
        <p:nvSpPr>
          <p:cNvPr id="15" name="Rectangle 14"/>
          <p:cNvSpPr/>
          <p:nvPr/>
        </p:nvSpPr>
        <p:spPr>
          <a:xfrm>
            <a:off x="6035040" y="2414016"/>
            <a:ext cx="5605272" cy="676656"/>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035040" y="2414016"/>
            <a:ext cx="64008" cy="676656"/>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17920" y="2441448"/>
            <a:ext cx="5394960" cy="274320"/>
          </a:xfrm>
          <a:prstGeom prst="rect">
            <a:avLst/>
          </a:prstGeom>
          <a:noFill/>
        </p:spPr>
        <p:txBody>
          <a:bodyPr wrap="square" lIns="45720" rIns="45720" tIns="27432" bIns="27432" anchor="t">
            <a:spAutoFit/>
          </a:bodyPr>
          <a:lstStyle/>
          <a:p>
            <a:pPr algn="l">
              <a:spcAft>
                <a:spcPts val="600"/>
              </a:spcAft>
            </a:pPr>
            <a:r>
              <a:rPr sz="1400" b="1" i="0">
                <a:solidFill>
                  <a:srgbClr val="234F45"/>
                </a:solidFill>
                <a:latin typeface="Consolas"/>
              </a:rPr>
              <a:t>index.html</a:t>
            </a:r>
          </a:p>
        </p:txBody>
      </p:sp>
      <p:sp>
        <p:nvSpPr>
          <p:cNvPr id="18" name="TextBox 17"/>
          <p:cNvSpPr txBox="1"/>
          <p:nvPr/>
        </p:nvSpPr>
        <p:spPr>
          <a:xfrm>
            <a:off x="6217920" y="2743200"/>
            <a:ext cx="5394960" cy="320040"/>
          </a:xfrm>
          <a:prstGeom prst="rect">
            <a:avLst/>
          </a:prstGeom>
          <a:noFill/>
        </p:spPr>
        <p:txBody>
          <a:bodyPr wrap="square" lIns="45720" rIns="45720" tIns="27432" bIns="27432" anchor="t">
            <a:spAutoFit/>
          </a:bodyPr>
          <a:lstStyle/>
          <a:p>
            <a:pPr algn="l">
              <a:spcAft>
                <a:spcPts val="600"/>
              </a:spcAft>
            </a:pPr>
            <a:r>
              <a:rPr sz="1300" b="0" i="0">
                <a:solidFill>
                  <a:srgbClr val="241F14"/>
                </a:solidFill>
                <a:latin typeface="Calibri"/>
              </a:rPr>
              <a:t>The page structure: header, form, register table.</a:t>
            </a:r>
          </a:p>
        </p:txBody>
      </p:sp>
      <p:sp>
        <p:nvSpPr>
          <p:cNvPr id="19" name="Rectangle 18"/>
          <p:cNvSpPr/>
          <p:nvPr/>
        </p:nvSpPr>
        <p:spPr>
          <a:xfrm>
            <a:off x="6035040" y="3182112"/>
            <a:ext cx="5605272" cy="676656"/>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035040" y="3182112"/>
            <a:ext cx="64008" cy="676656"/>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17920" y="3209544"/>
            <a:ext cx="5394960" cy="274320"/>
          </a:xfrm>
          <a:prstGeom prst="rect">
            <a:avLst/>
          </a:prstGeom>
          <a:noFill/>
        </p:spPr>
        <p:txBody>
          <a:bodyPr wrap="square" lIns="45720" rIns="45720" tIns="27432" bIns="27432" anchor="t">
            <a:spAutoFit/>
          </a:bodyPr>
          <a:lstStyle/>
          <a:p>
            <a:pPr algn="l">
              <a:spcAft>
                <a:spcPts val="600"/>
              </a:spcAft>
            </a:pPr>
            <a:r>
              <a:rPr sz="1400" b="1" i="0">
                <a:solidFill>
                  <a:srgbClr val="234F45"/>
                </a:solidFill>
                <a:latin typeface="Consolas"/>
              </a:rPr>
              <a:t>public/css/style.css</a:t>
            </a:r>
          </a:p>
        </p:txBody>
      </p:sp>
      <p:sp>
        <p:nvSpPr>
          <p:cNvPr id="22" name="TextBox 21"/>
          <p:cNvSpPr txBox="1"/>
          <p:nvPr/>
        </p:nvSpPr>
        <p:spPr>
          <a:xfrm>
            <a:off x="6217920" y="3511296"/>
            <a:ext cx="5394960" cy="320040"/>
          </a:xfrm>
          <a:prstGeom prst="rect">
            <a:avLst/>
          </a:prstGeom>
          <a:noFill/>
        </p:spPr>
        <p:txBody>
          <a:bodyPr wrap="square" lIns="45720" rIns="45720" tIns="27432" bIns="27432" anchor="t">
            <a:spAutoFit/>
          </a:bodyPr>
          <a:lstStyle/>
          <a:p>
            <a:pPr algn="l">
              <a:spcAft>
                <a:spcPts val="600"/>
              </a:spcAft>
            </a:pPr>
            <a:r>
              <a:rPr sz="1300" b="0" i="0">
                <a:solidFill>
                  <a:srgbClr val="241F14"/>
                </a:solidFill>
                <a:latin typeface="Calibri"/>
              </a:rPr>
              <a:t>The look and feel: colours, fonts, layout.</a:t>
            </a:r>
          </a:p>
        </p:txBody>
      </p:sp>
      <p:sp>
        <p:nvSpPr>
          <p:cNvPr id="23" name="Rectangle 22"/>
          <p:cNvSpPr/>
          <p:nvPr/>
        </p:nvSpPr>
        <p:spPr>
          <a:xfrm>
            <a:off x="6035040" y="3950208"/>
            <a:ext cx="5605272" cy="676656"/>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035040" y="3950208"/>
            <a:ext cx="64008" cy="676656"/>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17920" y="3977640"/>
            <a:ext cx="5394960" cy="274320"/>
          </a:xfrm>
          <a:prstGeom prst="rect">
            <a:avLst/>
          </a:prstGeom>
          <a:noFill/>
        </p:spPr>
        <p:txBody>
          <a:bodyPr wrap="square" lIns="45720" rIns="45720" tIns="27432" bIns="27432" anchor="t">
            <a:spAutoFit/>
          </a:bodyPr>
          <a:lstStyle/>
          <a:p>
            <a:pPr algn="l">
              <a:spcAft>
                <a:spcPts val="600"/>
              </a:spcAft>
            </a:pPr>
            <a:r>
              <a:rPr sz="1400" b="1" i="0">
                <a:solidFill>
                  <a:srgbClr val="234F45"/>
                </a:solidFill>
                <a:latin typeface="Consolas"/>
              </a:rPr>
              <a:t>public/js/script.js</a:t>
            </a:r>
          </a:p>
        </p:txBody>
      </p:sp>
      <p:sp>
        <p:nvSpPr>
          <p:cNvPr id="26" name="TextBox 25"/>
          <p:cNvSpPr txBox="1"/>
          <p:nvPr/>
        </p:nvSpPr>
        <p:spPr>
          <a:xfrm>
            <a:off x="6217920" y="4279392"/>
            <a:ext cx="5394960" cy="320040"/>
          </a:xfrm>
          <a:prstGeom prst="rect">
            <a:avLst/>
          </a:prstGeom>
          <a:noFill/>
        </p:spPr>
        <p:txBody>
          <a:bodyPr wrap="square" lIns="45720" rIns="45720" tIns="27432" bIns="27432" anchor="t">
            <a:spAutoFit/>
          </a:bodyPr>
          <a:lstStyle/>
          <a:p>
            <a:pPr algn="l">
              <a:spcAft>
                <a:spcPts val="600"/>
              </a:spcAft>
            </a:pPr>
            <a:r>
              <a:rPr sz="1300" b="0" i="0">
                <a:solidFill>
                  <a:srgbClr val="241F14"/>
                </a:solidFill>
                <a:latin typeface="Calibri"/>
              </a:rPr>
              <a:t>The brain: validation, age maths, all database calls.</a:t>
            </a:r>
          </a:p>
        </p:txBody>
      </p:sp>
      <p:sp>
        <p:nvSpPr>
          <p:cNvPr id="27" name="Rectangle 26"/>
          <p:cNvSpPr/>
          <p:nvPr/>
        </p:nvSpPr>
        <p:spPr>
          <a:xfrm>
            <a:off x="6035040" y="4718304"/>
            <a:ext cx="5605272" cy="676656"/>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035040" y="4718304"/>
            <a:ext cx="64008" cy="676656"/>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217920" y="4745736"/>
            <a:ext cx="5394960" cy="274320"/>
          </a:xfrm>
          <a:prstGeom prst="rect">
            <a:avLst/>
          </a:prstGeom>
          <a:noFill/>
        </p:spPr>
        <p:txBody>
          <a:bodyPr wrap="square" lIns="45720" rIns="45720" tIns="27432" bIns="27432" anchor="t">
            <a:spAutoFit/>
          </a:bodyPr>
          <a:lstStyle/>
          <a:p>
            <a:pPr algn="l">
              <a:spcAft>
                <a:spcPts val="600"/>
              </a:spcAft>
            </a:pPr>
            <a:r>
              <a:rPr sz="1400" b="1" i="0">
                <a:solidFill>
                  <a:srgbClr val="234F45"/>
                </a:solidFill>
                <a:latin typeface="Consolas"/>
              </a:rPr>
              <a:t>package.json</a:t>
            </a:r>
          </a:p>
        </p:txBody>
      </p:sp>
      <p:sp>
        <p:nvSpPr>
          <p:cNvPr id="30" name="TextBox 29"/>
          <p:cNvSpPr txBox="1"/>
          <p:nvPr/>
        </p:nvSpPr>
        <p:spPr>
          <a:xfrm>
            <a:off x="6217920" y="5047488"/>
            <a:ext cx="5394960" cy="320040"/>
          </a:xfrm>
          <a:prstGeom prst="rect">
            <a:avLst/>
          </a:prstGeom>
          <a:noFill/>
        </p:spPr>
        <p:txBody>
          <a:bodyPr wrap="square" lIns="45720" rIns="45720" tIns="27432" bIns="27432" anchor="t">
            <a:spAutoFit/>
          </a:bodyPr>
          <a:lstStyle/>
          <a:p>
            <a:pPr algn="l">
              <a:spcAft>
                <a:spcPts val="600"/>
              </a:spcAft>
            </a:pPr>
            <a:r>
              <a:rPr sz="1300" b="0" i="0">
                <a:solidFill>
                  <a:srgbClr val="241F14"/>
                </a:solidFill>
                <a:latin typeface="Calibri"/>
              </a:rPr>
              <a:t>Lists dependencies and the “npm start” command.</a:t>
            </a:r>
          </a:p>
        </p:txBody>
      </p:sp>
      <p:sp>
        <p:nvSpPr>
          <p:cNvPr id="31" name="Rectangle 30"/>
          <p:cNvSpPr/>
          <p:nvPr/>
        </p:nvSpPr>
        <p:spPr>
          <a:xfrm>
            <a:off x="6035040" y="5486400"/>
            <a:ext cx="5605272" cy="676656"/>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035040" y="5486400"/>
            <a:ext cx="64008" cy="676656"/>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0" y="5513832"/>
            <a:ext cx="5394960" cy="274320"/>
          </a:xfrm>
          <a:prstGeom prst="rect">
            <a:avLst/>
          </a:prstGeom>
          <a:noFill/>
        </p:spPr>
        <p:txBody>
          <a:bodyPr wrap="square" lIns="45720" rIns="45720" tIns="27432" bIns="27432" anchor="t">
            <a:spAutoFit/>
          </a:bodyPr>
          <a:lstStyle/>
          <a:p>
            <a:pPr algn="l">
              <a:spcAft>
                <a:spcPts val="600"/>
              </a:spcAft>
            </a:pPr>
            <a:r>
              <a:rPr sz="1400" b="1" i="0">
                <a:solidFill>
                  <a:srgbClr val="234F45"/>
                </a:solidFill>
                <a:latin typeface="Consolas"/>
              </a:rPr>
              <a:t>docs/ and README.md</a:t>
            </a:r>
          </a:p>
        </p:txBody>
      </p:sp>
      <p:sp>
        <p:nvSpPr>
          <p:cNvPr id="34" name="TextBox 33"/>
          <p:cNvSpPr txBox="1"/>
          <p:nvPr/>
        </p:nvSpPr>
        <p:spPr>
          <a:xfrm>
            <a:off x="6217920" y="5815584"/>
            <a:ext cx="5394960" cy="320040"/>
          </a:xfrm>
          <a:prstGeom prst="rect">
            <a:avLst/>
          </a:prstGeom>
          <a:noFill/>
        </p:spPr>
        <p:txBody>
          <a:bodyPr wrap="square" lIns="45720" rIns="45720" tIns="27432" bIns="27432" anchor="t">
            <a:spAutoFit/>
          </a:bodyPr>
          <a:lstStyle/>
          <a:p>
            <a:pPr algn="l">
              <a:spcAft>
                <a:spcPts val="600"/>
              </a:spcAft>
            </a:pPr>
            <a:r>
              <a:rPr sz="1300" b="0" i="0">
                <a:solidFill>
                  <a:srgbClr val="241F14"/>
                </a:solidFill>
                <a:latin typeface="Calibri"/>
              </a:rPr>
              <a:t>Written guides for new developers.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CODE WALKTHROUGH 1 / 3</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server.js: a tiny web server</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9 / 16</a:t>
            </a:r>
          </a:p>
        </p:txBody>
      </p:sp>
      <p:sp>
        <p:nvSpPr>
          <p:cNvPr id="8" name="Rounded Rectangle 7"/>
          <p:cNvSpPr/>
          <p:nvPr/>
        </p:nvSpPr>
        <p:spPr>
          <a:xfrm>
            <a:off x="548640" y="1645920"/>
            <a:ext cx="6309360" cy="4572000"/>
          </a:xfrm>
          <a:prstGeom prst="roundRect">
            <a:avLst>
              <a:gd name="adj" fmla="val 4000"/>
            </a:avLst>
          </a:prstGeom>
          <a:solidFill>
            <a:srgbClr val="1B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31520" y="1783080"/>
            <a:ext cx="2377440" cy="256032"/>
          </a:xfrm>
          <a:prstGeom prst="roundRect">
            <a:avLst>
              <a:gd name="adj" fmla="val 50000"/>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FFFFFF"/>
                </a:solidFill>
                <a:latin typeface="Consolas"/>
              </a:rPr>
              <a:t>server.js (simplified)</a:t>
            </a:r>
          </a:p>
        </p:txBody>
      </p:sp>
      <p:sp>
        <p:nvSpPr>
          <p:cNvPr id="10" name="TextBox 9"/>
          <p:cNvSpPr txBox="1"/>
          <p:nvPr/>
        </p:nvSpPr>
        <p:spPr>
          <a:xfrm>
            <a:off x="731520" y="2148840"/>
            <a:ext cx="5943600" cy="3977640"/>
          </a:xfrm>
          <a:prstGeom prst="rect">
            <a:avLst/>
          </a:prstGeom>
          <a:noFill/>
        </p:spPr>
        <p:txBody>
          <a:bodyPr wrap="square" lIns="45720" rIns="45720" tIns="27432" bIns="27432" anchor="t">
            <a:spAutoFit/>
          </a:bodyPr>
          <a:lstStyle/>
          <a:p>
            <a:pPr algn="l">
              <a:lnSpc>
                <a:spcPct val="110000"/>
              </a:lnSpc>
              <a:spcAft>
                <a:spcPts val="0"/>
              </a:spcAft>
            </a:pPr>
            <a:r>
              <a:rPr sz="1200" b="0" i="0">
                <a:solidFill>
                  <a:srgbClr val="E8E2D0"/>
                </a:solidFill>
                <a:latin typeface="Consolas"/>
              </a:rPr>
              <a:t>const express = require("express");</a:t>
            </a:r>
          </a:p>
          <a:p>
            <a:pPr algn="l">
              <a:lnSpc>
                <a:spcPct val="110000"/>
              </a:lnSpc>
              <a:spcAft>
                <a:spcPts val="0"/>
              </a:spcAft>
            </a:pPr>
            <a:r>
              <a:rPr sz="1200" b="0" i="0">
                <a:solidFill>
                  <a:srgbClr val="E8E2D0"/>
                </a:solidFill>
                <a:latin typeface="Consolas"/>
              </a:rPr>
              <a:t>const path    = require("path");</a:t>
            </a:r>
          </a:p>
          <a:p>
            <a:pPr algn="l">
              <a:lnSpc>
                <a:spcPct val="110000"/>
              </a:lnSpc>
              <a:spcAft>
                <a:spcPts val="0"/>
              </a:spcAft>
            </a:pPr>
            <a:r>
              <a:rPr sz="1200" b="0" i="0">
                <a:solidFill>
                  <a:srgbClr val="E8E2D0"/>
                </a:solidFill>
                <a:latin typeface="Consolas"/>
              </a:rPr>
              <a:t>const app     = express();</a:t>
            </a:r>
          </a:p>
          <a:p>
            <a:pPr algn="l">
              <a:lnSpc>
                <a:spcPct val="110000"/>
              </a:lnSpc>
              <a:spcAft>
                <a:spcPts val="0"/>
              </a:spcAft>
            </a:pPr>
            <a:r>
              <a:rPr sz="1200" b="0" i="0">
                <a:solidFill>
                  <a:srgbClr val="E8E2D0"/>
                </a:solidFill>
                <a:latin typeface="Consolas"/>
              </a:rPr>
              <a:t>const PORT    = process.env.PORT || 3000;</a:t>
            </a:r>
          </a:p>
          <a:p>
            <a:pPr algn="l">
              <a:lnSpc>
                <a:spcPct val="110000"/>
              </a:lnSpc>
              <a:spcAft>
                <a:spcPts val="0"/>
              </a:spcAft>
            </a:pPr>
            <a:r>
              <a:rPr sz="1200" b="0" i="0">
                <a:solidFill>
                  <a:srgbClr val="E8E2D0"/>
                </a:solidFill>
                <a:latin typeface="Consolas"/>
              </a:rPr>
              <a:t> </a:t>
            </a:r>
          </a:p>
          <a:p>
            <a:pPr algn="l">
              <a:lnSpc>
                <a:spcPct val="110000"/>
              </a:lnSpc>
              <a:spcAft>
                <a:spcPts val="0"/>
              </a:spcAft>
            </a:pPr>
            <a:r>
              <a:rPr sz="1200" b="0" i="1">
                <a:solidFill>
                  <a:srgbClr val="8FA3A0"/>
                </a:solidFill>
                <a:latin typeface="Consolas"/>
              </a:rPr>
              <a:t>// 1. Let the browser download CSS and JS</a:t>
            </a:r>
          </a:p>
          <a:p>
            <a:pPr algn="l">
              <a:lnSpc>
                <a:spcPct val="110000"/>
              </a:lnSpc>
              <a:spcAft>
                <a:spcPts val="0"/>
              </a:spcAft>
            </a:pPr>
            <a:r>
              <a:rPr sz="1200" b="0" i="0">
                <a:solidFill>
                  <a:srgbClr val="E8E2D0"/>
                </a:solidFill>
                <a:latin typeface="Consolas"/>
              </a:rPr>
              <a:t>app.use("/public",</a:t>
            </a:r>
          </a:p>
          <a:p>
            <a:pPr algn="l">
              <a:lnSpc>
                <a:spcPct val="110000"/>
              </a:lnSpc>
              <a:spcAft>
                <a:spcPts val="0"/>
              </a:spcAft>
            </a:pPr>
            <a:r>
              <a:rPr sz="1200" b="0" i="0">
                <a:solidFill>
                  <a:srgbClr val="E8E2D0"/>
                </a:solidFill>
                <a:latin typeface="Consolas"/>
              </a:rPr>
              <a:t>  express.static(path.join(__dirname, "public")));</a:t>
            </a:r>
          </a:p>
          <a:p>
            <a:pPr algn="l">
              <a:lnSpc>
                <a:spcPct val="110000"/>
              </a:lnSpc>
              <a:spcAft>
                <a:spcPts val="0"/>
              </a:spcAft>
            </a:pPr>
            <a:r>
              <a:rPr sz="1200" b="0" i="0">
                <a:solidFill>
                  <a:srgbClr val="E8E2D0"/>
                </a:solidFill>
                <a:latin typeface="Consolas"/>
              </a:rPr>
              <a:t> </a:t>
            </a:r>
          </a:p>
          <a:p>
            <a:pPr algn="l">
              <a:lnSpc>
                <a:spcPct val="110000"/>
              </a:lnSpc>
              <a:spcAft>
                <a:spcPts val="0"/>
              </a:spcAft>
            </a:pPr>
            <a:r>
              <a:rPr sz="1200" b="0" i="1">
                <a:solidFill>
                  <a:srgbClr val="8FA3A0"/>
                </a:solidFill>
                <a:latin typeface="Consolas"/>
              </a:rPr>
              <a:t>// 2. Visiting "/" returns the page</a:t>
            </a:r>
          </a:p>
          <a:p>
            <a:pPr algn="l">
              <a:lnSpc>
                <a:spcPct val="110000"/>
              </a:lnSpc>
              <a:spcAft>
                <a:spcPts val="0"/>
              </a:spcAft>
            </a:pPr>
            <a:r>
              <a:rPr sz="1200" b="0" i="0">
                <a:solidFill>
                  <a:srgbClr val="E8E2D0"/>
                </a:solidFill>
                <a:latin typeface="Consolas"/>
              </a:rPr>
              <a:t>app.get("/", (req, res) =&gt; {</a:t>
            </a:r>
          </a:p>
          <a:p>
            <a:pPr algn="l">
              <a:lnSpc>
                <a:spcPct val="110000"/>
              </a:lnSpc>
              <a:spcAft>
                <a:spcPts val="0"/>
              </a:spcAft>
            </a:pPr>
            <a:r>
              <a:rPr sz="1200" b="0" i="0">
                <a:solidFill>
                  <a:srgbClr val="E8E2D0"/>
                </a:solidFill>
                <a:latin typeface="Consolas"/>
              </a:rPr>
              <a:t>  res.sendFile(path.resolve(__dirname, "index.html"));</a:t>
            </a:r>
          </a:p>
          <a:p>
            <a:pPr algn="l">
              <a:lnSpc>
                <a:spcPct val="110000"/>
              </a:lnSpc>
              <a:spcAft>
                <a:spcPts val="0"/>
              </a:spcAft>
            </a:pPr>
            <a:r>
              <a:rPr sz="1200" b="0" i="0">
                <a:solidFill>
                  <a:srgbClr val="E8E2D0"/>
                </a:solidFill>
                <a:latin typeface="Consolas"/>
              </a:rPr>
              <a:t>});</a:t>
            </a:r>
          </a:p>
          <a:p>
            <a:pPr algn="l">
              <a:lnSpc>
                <a:spcPct val="110000"/>
              </a:lnSpc>
              <a:spcAft>
                <a:spcPts val="0"/>
              </a:spcAft>
            </a:pPr>
            <a:r>
              <a:rPr sz="1200" b="0" i="0">
                <a:solidFill>
                  <a:srgbClr val="E8E2D0"/>
                </a:solidFill>
                <a:latin typeface="Consolas"/>
              </a:rPr>
              <a:t> </a:t>
            </a:r>
          </a:p>
          <a:p>
            <a:pPr algn="l">
              <a:lnSpc>
                <a:spcPct val="110000"/>
              </a:lnSpc>
              <a:spcAft>
                <a:spcPts val="0"/>
              </a:spcAft>
            </a:pPr>
            <a:r>
              <a:rPr sz="1200" b="0" i="1">
                <a:solidFill>
                  <a:srgbClr val="8FA3A0"/>
                </a:solidFill>
                <a:latin typeface="Consolas"/>
              </a:rPr>
              <a:t>// 3. Start listening for visitors</a:t>
            </a:r>
          </a:p>
          <a:p>
            <a:pPr algn="l">
              <a:lnSpc>
                <a:spcPct val="110000"/>
              </a:lnSpc>
              <a:spcAft>
                <a:spcPts val="0"/>
              </a:spcAft>
            </a:pPr>
            <a:r>
              <a:rPr sz="1200" b="0" i="0">
                <a:solidFill>
                  <a:srgbClr val="E8E2D0"/>
                </a:solidFill>
                <a:latin typeface="Consolas"/>
              </a:rPr>
              <a:t>app.listen(PORT);</a:t>
            </a:r>
          </a:p>
        </p:txBody>
      </p:sp>
      <p:sp>
        <p:nvSpPr>
          <p:cNvPr id="11" name="Oval 10"/>
          <p:cNvSpPr/>
          <p:nvPr/>
        </p:nvSpPr>
        <p:spPr>
          <a:xfrm>
            <a:off x="7132320" y="1691640"/>
            <a:ext cx="384048" cy="384048"/>
          </a:xfrm>
          <a:prstGeom prst="ellipse">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1</a:t>
            </a:r>
          </a:p>
        </p:txBody>
      </p:sp>
      <p:sp>
        <p:nvSpPr>
          <p:cNvPr id="12" name="TextBox 11"/>
          <p:cNvSpPr txBox="1"/>
          <p:nvPr/>
        </p:nvSpPr>
        <p:spPr>
          <a:xfrm>
            <a:off x="7635240" y="1645920"/>
            <a:ext cx="4023360" cy="1097280"/>
          </a:xfrm>
          <a:prstGeom prst="rect">
            <a:avLst/>
          </a:prstGeom>
          <a:noFill/>
        </p:spPr>
        <p:txBody>
          <a:bodyPr wrap="square" lIns="45720" rIns="45720" tIns="27432" bIns="27432" anchor="t">
            <a:spAutoFit/>
          </a:bodyPr>
          <a:lstStyle/>
          <a:p>
            <a:pPr algn="l">
              <a:spcAft>
                <a:spcPts val="200"/>
              </a:spcAft>
            </a:pPr>
            <a:r>
              <a:rPr sz="1600" b="1" i="0">
                <a:solidFill>
                  <a:srgbClr val="1F2A44"/>
                </a:solidFill>
                <a:latin typeface="Calibri"/>
              </a:rPr>
              <a:t>Import and create</a:t>
            </a:r>
          </a:p>
          <a:p>
            <a:pPr algn="l">
              <a:spcAft>
                <a:spcPts val="200"/>
              </a:spcAft>
            </a:pPr>
            <a:r>
              <a:rPr sz="1350" b="0" i="0">
                <a:solidFill>
                  <a:srgbClr val="241F14"/>
                </a:solidFill>
                <a:latin typeface="Calibri"/>
              </a:rPr>
              <a:t>require() loads Express. express() creates the app object that handles every request.</a:t>
            </a:r>
          </a:p>
        </p:txBody>
      </p:sp>
      <p:sp>
        <p:nvSpPr>
          <p:cNvPr id="13" name="Oval 12"/>
          <p:cNvSpPr/>
          <p:nvPr/>
        </p:nvSpPr>
        <p:spPr>
          <a:xfrm>
            <a:off x="7132320" y="2834639"/>
            <a:ext cx="384048" cy="384048"/>
          </a:xfrm>
          <a:prstGeom prst="ellipse">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2</a:t>
            </a:r>
          </a:p>
        </p:txBody>
      </p:sp>
      <p:sp>
        <p:nvSpPr>
          <p:cNvPr id="14" name="TextBox 13"/>
          <p:cNvSpPr txBox="1"/>
          <p:nvPr/>
        </p:nvSpPr>
        <p:spPr>
          <a:xfrm>
            <a:off x="7635240" y="2788920"/>
            <a:ext cx="4023360" cy="1097280"/>
          </a:xfrm>
          <a:prstGeom prst="rect">
            <a:avLst/>
          </a:prstGeom>
          <a:noFill/>
        </p:spPr>
        <p:txBody>
          <a:bodyPr wrap="square" lIns="45720" rIns="45720" tIns="27432" bIns="27432" anchor="t">
            <a:spAutoFit/>
          </a:bodyPr>
          <a:lstStyle/>
          <a:p>
            <a:pPr algn="l">
              <a:spcAft>
                <a:spcPts val="200"/>
              </a:spcAft>
            </a:pPr>
            <a:r>
              <a:rPr sz="1600" b="1" i="0">
                <a:solidFill>
                  <a:srgbClr val="1F2A44"/>
                </a:solidFill>
                <a:latin typeface="Calibri"/>
              </a:rPr>
              <a:t>Static files</a:t>
            </a:r>
          </a:p>
          <a:p>
            <a:pPr algn="l">
              <a:spcAft>
                <a:spcPts val="200"/>
              </a:spcAft>
            </a:pPr>
            <a:r>
              <a:rPr sz="1350" b="0" i="0">
                <a:solidFill>
                  <a:srgbClr val="241F14"/>
                </a:solidFill>
                <a:latin typeface="Calibri"/>
              </a:rPr>
              <a:t>express.static is middleware: if the browser asks for /public/css/style.css, Express finds that file and sends it.</a:t>
            </a:r>
          </a:p>
        </p:txBody>
      </p:sp>
      <p:sp>
        <p:nvSpPr>
          <p:cNvPr id="15" name="Oval 14"/>
          <p:cNvSpPr/>
          <p:nvPr/>
        </p:nvSpPr>
        <p:spPr>
          <a:xfrm>
            <a:off x="7132320" y="3977639"/>
            <a:ext cx="384048" cy="384048"/>
          </a:xfrm>
          <a:prstGeom prst="ellipse">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3</a:t>
            </a:r>
          </a:p>
        </p:txBody>
      </p:sp>
      <p:sp>
        <p:nvSpPr>
          <p:cNvPr id="16" name="TextBox 15"/>
          <p:cNvSpPr txBox="1"/>
          <p:nvPr/>
        </p:nvSpPr>
        <p:spPr>
          <a:xfrm>
            <a:off x="7635240" y="3931920"/>
            <a:ext cx="4023360" cy="1097280"/>
          </a:xfrm>
          <a:prstGeom prst="rect">
            <a:avLst/>
          </a:prstGeom>
          <a:noFill/>
        </p:spPr>
        <p:txBody>
          <a:bodyPr wrap="square" lIns="45720" rIns="45720" tIns="27432" bIns="27432" anchor="t">
            <a:spAutoFit/>
          </a:bodyPr>
          <a:lstStyle/>
          <a:p>
            <a:pPr algn="l">
              <a:spcAft>
                <a:spcPts val="200"/>
              </a:spcAft>
            </a:pPr>
            <a:r>
              <a:rPr sz="1600" b="1" i="0">
                <a:solidFill>
                  <a:srgbClr val="1F2A44"/>
                </a:solidFill>
                <a:latin typeface="Calibri"/>
              </a:rPr>
              <a:t>A route</a:t>
            </a:r>
          </a:p>
          <a:p>
            <a:pPr algn="l">
              <a:spcAft>
                <a:spcPts val="200"/>
              </a:spcAft>
            </a:pPr>
            <a:r>
              <a:rPr sz="1350" b="0" i="0">
                <a:solidFill>
                  <a:srgbClr val="241F14"/>
                </a:solidFill>
                <a:latin typeface="Calibri"/>
              </a:rPr>
              <a:t>app.get("/") says: when someone visits the home page, reply with index.html.</a:t>
            </a:r>
          </a:p>
        </p:txBody>
      </p:sp>
      <p:sp>
        <p:nvSpPr>
          <p:cNvPr id="17" name="Oval 16"/>
          <p:cNvSpPr/>
          <p:nvPr/>
        </p:nvSpPr>
        <p:spPr>
          <a:xfrm>
            <a:off x="7132320" y="5120640"/>
            <a:ext cx="384048" cy="384048"/>
          </a:xfrm>
          <a:prstGeom prst="ellipse">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4</a:t>
            </a:r>
          </a:p>
        </p:txBody>
      </p:sp>
      <p:sp>
        <p:nvSpPr>
          <p:cNvPr id="18" name="TextBox 17"/>
          <p:cNvSpPr txBox="1"/>
          <p:nvPr/>
        </p:nvSpPr>
        <p:spPr>
          <a:xfrm>
            <a:off x="7635240" y="5074920"/>
            <a:ext cx="4023360" cy="1097280"/>
          </a:xfrm>
          <a:prstGeom prst="rect">
            <a:avLst/>
          </a:prstGeom>
          <a:noFill/>
        </p:spPr>
        <p:txBody>
          <a:bodyPr wrap="square" lIns="45720" rIns="45720" tIns="27432" bIns="27432" anchor="t">
            <a:spAutoFit/>
          </a:bodyPr>
          <a:lstStyle/>
          <a:p>
            <a:pPr algn="l">
              <a:spcAft>
                <a:spcPts val="200"/>
              </a:spcAft>
            </a:pPr>
            <a:r>
              <a:rPr sz="1600" b="1" i="0">
                <a:solidFill>
                  <a:srgbClr val="1F2A44"/>
                </a:solidFill>
                <a:latin typeface="Calibri"/>
              </a:rPr>
              <a:t>Listen</a:t>
            </a:r>
          </a:p>
          <a:p>
            <a:pPr algn="l">
              <a:spcAft>
                <a:spcPts val="200"/>
              </a:spcAft>
            </a:pPr>
            <a:r>
              <a:rPr sz="1350" b="0" i="0">
                <a:solidFill>
                  <a:srgbClr val="241F14"/>
                </a:solidFill>
                <a:latin typeface="Calibri"/>
              </a:rPr>
              <a:t>app.listen opens the port. PORT can be changed with an environment variable.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CODE WALKTHROUGH 2 / 3</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index.html and style.css: structure and style</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10 / 16</a:t>
            </a:r>
          </a:p>
        </p:txBody>
      </p:sp>
      <p:sp>
        <p:nvSpPr>
          <p:cNvPr id="8" name="Rectangle 7"/>
          <p:cNvSpPr/>
          <p:nvPr/>
        </p:nvSpPr>
        <p:spPr>
          <a:xfrm>
            <a:off x="548640" y="1645920"/>
            <a:ext cx="5440680" cy="45262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45920"/>
            <a:ext cx="5440680" cy="64008"/>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1828800"/>
            <a:ext cx="5074920" cy="457200"/>
          </a:xfrm>
          <a:prstGeom prst="rect">
            <a:avLst/>
          </a:prstGeom>
          <a:noFill/>
        </p:spPr>
        <p:txBody>
          <a:bodyPr wrap="square" lIns="45720" rIns="45720" tIns="27432" bIns="27432" anchor="t">
            <a:spAutoFit/>
          </a:bodyPr>
          <a:lstStyle/>
          <a:p>
            <a:pPr algn="l">
              <a:spcAft>
                <a:spcPts val="600"/>
              </a:spcAft>
            </a:pPr>
            <a:r>
              <a:rPr sz="1800" b="1" i="0">
                <a:solidFill>
                  <a:srgbClr val="1F2A44"/>
                </a:solidFill>
                <a:latin typeface="Georgia"/>
              </a:rPr>
              <a:t>index.html: the structure</a:t>
            </a:r>
          </a:p>
        </p:txBody>
      </p:sp>
      <p:sp>
        <p:nvSpPr>
          <p:cNvPr id="11" name="TextBox 10"/>
          <p:cNvSpPr txBox="1"/>
          <p:nvPr/>
        </p:nvSpPr>
        <p:spPr>
          <a:xfrm>
            <a:off x="731520" y="2359152"/>
            <a:ext cx="5074920" cy="3703320"/>
          </a:xfrm>
          <a:prstGeom prst="rect">
            <a:avLst/>
          </a:prstGeom>
          <a:noFill/>
        </p:spPr>
        <p:txBody>
          <a:bodyPr wrap="square" lIns="45720" rIns="45720" tIns="27432" bIns="27432" anchor="t">
            <a:spAutoFit/>
          </a:bodyPr>
          <a:lstStyle/>
          <a:p>
            <a:pPr algn="l" marL="237744" indent="-237744">
              <a:spcAft>
                <a:spcPts val="500"/>
              </a:spcAft>
              <a:buClr>
                <a:srgbClr val="A9792C"/>
              </a:buClr>
              <a:buChar char="•"/>
            </a:pPr>
            <a:r>
              <a:rPr sz="1450" b="0" i="0">
                <a:solidFill>
                  <a:srgbClr val="241F14"/>
                </a:solidFill>
                <a:latin typeface="Calibri"/>
              </a:rPr>
              <a:t>Semantic tags: &lt;header&gt;, &lt;form&gt;, &lt;section&gt; instead of anonymous &lt;div&gt;s</a:t>
            </a:r>
          </a:p>
          <a:p>
            <a:pPr algn="l" marL="237744" indent="-237744">
              <a:spcAft>
                <a:spcPts val="500"/>
              </a:spcAft>
              <a:buClr>
                <a:srgbClr val="A9792C"/>
              </a:buClr>
              <a:buChar char="•"/>
            </a:pPr>
            <a:r>
              <a:rPr sz="1450" b="0" i="0">
                <a:solidFill>
                  <a:srgbClr val="241F14"/>
                </a:solidFill>
                <a:latin typeface="Calibri"/>
              </a:rPr>
              <a:t>Right input types: email, date, tel, plus required for must-fill fields</a:t>
            </a:r>
          </a:p>
          <a:p>
            <a:pPr algn="l" marL="237744" indent="-237744">
              <a:spcAft>
                <a:spcPts val="500"/>
              </a:spcAft>
              <a:buClr>
                <a:srgbClr val="A9792C"/>
              </a:buClr>
              <a:buChar char="•"/>
            </a:pPr>
            <a:r>
              <a:rPr sz="1450" b="0" i="0">
                <a:solidFill>
                  <a:srgbClr val="241F14"/>
                </a:solidFill>
                <a:latin typeface="Calibri"/>
              </a:rPr>
              <a:t>inputmode="numeric" shows a number keypad on phones</a:t>
            </a:r>
          </a:p>
          <a:p>
            <a:pPr algn="l" marL="237744" indent="-237744">
              <a:spcAft>
                <a:spcPts val="500"/>
              </a:spcAft>
              <a:buClr>
                <a:srgbClr val="A9792C"/>
              </a:buClr>
              <a:buChar char="•"/>
            </a:pPr>
            <a:r>
              <a:rPr sz="1450" b="0" i="0">
                <a:solidFill>
                  <a:srgbClr val="241F14"/>
                </a:solidFill>
                <a:latin typeface="Calibri"/>
              </a:rPr>
              <a:t>&lt;datalist&gt; gives a searchable Programme dropdown</a:t>
            </a:r>
          </a:p>
          <a:p>
            <a:pPr algn="l" marL="237744" indent="-237744">
              <a:spcAft>
                <a:spcPts val="500"/>
              </a:spcAft>
              <a:buClr>
                <a:srgbClr val="A9792C"/>
              </a:buClr>
              <a:buChar char="•"/>
            </a:pPr>
            <a:r>
              <a:rPr sz="1450" b="0" i="0">
                <a:solidFill>
                  <a:srgbClr val="241F14"/>
                </a:solidFill>
                <a:latin typeface="Calibri"/>
              </a:rPr>
              <a:t>Age is readonly: JavaScript calculates it, the user cannot type it</a:t>
            </a:r>
          </a:p>
          <a:p>
            <a:pPr algn="l" marL="237744" indent="-237744">
              <a:spcAft>
                <a:spcPts val="500"/>
              </a:spcAft>
              <a:buClr>
                <a:srgbClr val="A9792C"/>
              </a:buClr>
              <a:buChar char="•"/>
            </a:pPr>
            <a:r>
              <a:rPr sz="1450" b="0" i="0">
                <a:solidFill>
                  <a:srgbClr val="241F14"/>
                </a:solidFill>
                <a:latin typeface="Calibri"/>
              </a:rPr>
              <a:t>Table rows are empty in the HTML; script.js fills them in</a:t>
            </a:r>
          </a:p>
        </p:txBody>
      </p:sp>
      <p:sp>
        <p:nvSpPr>
          <p:cNvPr id="12" name="Rectangle 11"/>
          <p:cNvSpPr/>
          <p:nvPr/>
        </p:nvSpPr>
        <p:spPr>
          <a:xfrm>
            <a:off x="6199632" y="1645920"/>
            <a:ext cx="5440680" cy="45262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199632" y="1645920"/>
            <a:ext cx="5440680" cy="64008"/>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2512" y="1828800"/>
            <a:ext cx="5029200" cy="457200"/>
          </a:xfrm>
          <a:prstGeom prst="rect">
            <a:avLst/>
          </a:prstGeom>
          <a:noFill/>
        </p:spPr>
        <p:txBody>
          <a:bodyPr wrap="square" lIns="45720" rIns="45720" tIns="27432" bIns="27432" anchor="t">
            <a:spAutoFit/>
          </a:bodyPr>
          <a:lstStyle/>
          <a:p>
            <a:pPr algn="l">
              <a:spcAft>
                <a:spcPts val="600"/>
              </a:spcAft>
            </a:pPr>
            <a:r>
              <a:rPr sz="1800" b="1" i="0">
                <a:solidFill>
                  <a:srgbClr val="1F2A44"/>
                </a:solidFill>
                <a:latin typeface="Georgia"/>
              </a:rPr>
              <a:t>style.css: the “Registry” theme</a:t>
            </a:r>
          </a:p>
        </p:txBody>
      </p:sp>
      <p:sp>
        <p:nvSpPr>
          <p:cNvPr id="15" name="Rectangle 14"/>
          <p:cNvSpPr/>
          <p:nvPr/>
        </p:nvSpPr>
        <p:spPr>
          <a:xfrm>
            <a:off x="6382512" y="2377440"/>
            <a:ext cx="868680" cy="548640"/>
          </a:xfrm>
          <a:prstGeom prst="rect">
            <a:avLst/>
          </a:prstGeom>
          <a:solidFill>
            <a:srgbClr val="1F2A44"/>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91072" y="2944368"/>
            <a:ext cx="1051560" cy="274320"/>
          </a:xfrm>
          <a:prstGeom prst="rect">
            <a:avLst/>
          </a:prstGeom>
          <a:noFill/>
        </p:spPr>
        <p:txBody>
          <a:bodyPr wrap="square" lIns="45720" rIns="45720" tIns="27432" bIns="27432" anchor="t">
            <a:spAutoFit/>
          </a:bodyPr>
          <a:lstStyle/>
          <a:p>
            <a:pPr algn="ctr">
              <a:spcAft>
                <a:spcPts val="600"/>
              </a:spcAft>
            </a:pPr>
            <a:r>
              <a:rPr sz="1100" b="0" i="0">
                <a:solidFill>
                  <a:srgbClr val="6B6250"/>
                </a:solidFill>
                <a:latin typeface="Consolas"/>
              </a:rPr>
              <a:t>--ink</a:t>
            </a:r>
          </a:p>
        </p:txBody>
      </p:sp>
      <p:sp>
        <p:nvSpPr>
          <p:cNvPr id="17" name="Rectangle 16"/>
          <p:cNvSpPr/>
          <p:nvPr/>
        </p:nvSpPr>
        <p:spPr>
          <a:xfrm>
            <a:off x="7388352" y="2377440"/>
            <a:ext cx="868680" cy="548640"/>
          </a:xfrm>
          <a:prstGeom prst="rect">
            <a:avLst/>
          </a:prstGeom>
          <a:solidFill>
            <a:srgbClr val="EEE7D6"/>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296912" y="2944368"/>
            <a:ext cx="1051560" cy="274320"/>
          </a:xfrm>
          <a:prstGeom prst="rect">
            <a:avLst/>
          </a:prstGeom>
          <a:noFill/>
        </p:spPr>
        <p:txBody>
          <a:bodyPr wrap="square" lIns="45720" rIns="45720" tIns="27432" bIns="27432" anchor="t">
            <a:spAutoFit/>
          </a:bodyPr>
          <a:lstStyle/>
          <a:p>
            <a:pPr algn="ctr">
              <a:spcAft>
                <a:spcPts val="600"/>
              </a:spcAft>
            </a:pPr>
            <a:r>
              <a:rPr sz="1100" b="0" i="0">
                <a:solidFill>
                  <a:srgbClr val="6B6250"/>
                </a:solidFill>
                <a:latin typeface="Consolas"/>
              </a:rPr>
              <a:t>--paper</a:t>
            </a:r>
          </a:p>
        </p:txBody>
      </p:sp>
      <p:sp>
        <p:nvSpPr>
          <p:cNvPr id="19" name="Rectangle 18"/>
          <p:cNvSpPr/>
          <p:nvPr/>
        </p:nvSpPr>
        <p:spPr>
          <a:xfrm>
            <a:off x="8394192" y="2377440"/>
            <a:ext cx="868680" cy="548640"/>
          </a:xfrm>
          <a:prstGeom prst="rect">
            <a:avLst/>
          </a:prstGeom>
          <a:solidFill>
            <a:srgbClr val="A9792C"/>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02752" y="2944368"/>
            <a:ext cx="1051560" cy="274320"/>
          </a:xfrm>
          <a:prstGeom prst="rect">
            <a:avLst/>
          </a:prstGeom>
          <a:noFill/>
        </p:spPr>
        <p:txBody>
          <a:bodyPr wrap="square" lIns="45720" rIns="45720" tIns="27432" bIns="27432" anchor="t">
            <a:spAutoFit/>
          </a:bodyPr>
          <a:lstStyle/>
          <a:p>
            <a:pPr algn="ctr">
              <a:spcAft>
                <a:spcPts val="600"/>
              </a:spcAft>
            </a:pPr>
            <a:r>
              <a:rPr sz="1100" b="0" i="0">
                <a:solidFill>
                  <a:srgbClr val="6B6250"/>
                </a:solidFill>
                <a:latin typeface="Consolas"/>
              </a:rPr>
              <a:t>--brass</a:t>
            </a:r>
          </a:p>
        </p:txBody>
      </p:sp>
      <p:sp>
        <p:nvSpPr>
          <p:cNvPr id="21" name="Rectangle 20"/>
          <p:cNvSpPr/>
          <p:nvPr/>
        </p:nvSpPr>
        <p:spPr>
          <a:xfrm>
            <a:off x="9400032" y="2377440"/>
            <a:ext cx="868680" cy="548640"/>
          </a:xfrm>
          <a:prstGeom prst="rect">
            <a:avLst/>
          </a:prstGeom>
          <a:solidFill>
            <a:srgbClr val="2F6F62"/>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08592" y="2944368"/>
            <a:ext cx="1051560" cy="274320"/>
          </a:xfrm>
          <a:prstGeom prst="rect">
            <a:avLst/>
          </a:prstGeom>
          <a:noFill/>
        </p:spPr>
        <p:txBody>
          <a:bodyPr wrap="square" lIns="45720" rIns="45720" tIns="27432" bIns="27432" anchor="t">
            <a:spAutoFit/>
          </a:bodyPr>
          <a:lstStyle/>
          <a:p>
            <a:pPr algn="ctr">
              <a:spcAft>
                <a:spcPts val="600"/>
              </a:spcAft>
            </a:pPr>
            <a:r>
              <a:rPr sz="1100" b="0" i="0">
                <a:solidFill>
                  <a:srgbClr val="6B6250"/>
                </a:solidFill>
                <a:latin typeface="Consolas"/>
              </a:rPr>
              <a:t>--teal</a:t>
            </a:r>
          </a:p>
        </p:txBody>
      </p:sp>
      <p:sp>
        <p:nvSpPr>
          <p:cNvPr id="23" name="Rectangle 22"/>
          <p:cNvSpPr/>
          <p:nvPr/>
        </p:nvSpPr>
        <p:spPr>
          <a:xfrm>
            <a:off x="10405872" y="2377440"/>
            <a:ext cx="868680" cy="548640"/>
          </a:xfrm>
          <a:prstGeom prst="rect">
            <a:avLst/>
          </a:prstGeom>
          <a:solidFill>
            <a:srgbClr val="9C3B3B"/>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314432" y="2944368"/>
            <a:ext cx="1051560" cy="274320"/>
          </a:xfrm>
          <a:prstGeom prst="rect">
            <a:avLst/>
          </a:prstGeom>
          <a:noFill/>
        </p:spPr>
        <p:txBody>
          <a:bodyPr wrap="square" lIns="45720" rIns="45720" tIns="27432" bIns="27432" anchor="t">
            <a:spAutoFit/>
          </a:bodyPr>
          <a:lstStyle/>
          <a:p>
            <a:pPr algn="ctr">
              <a:spcAft>
                <a:spcPts val="600"/>
              </a:spcAft>
            </a:pPr>
            <a:r>
              <a:rPr sz="1100" b="0" i="0">
                <a:solidFill>
                  <a:srgbClr val="6B6250"/>
                </a:solidFill>
                <a:latin typeface="Consolas"/>
              </a:rPr>
              <a:t>--danger</a:t>
            </a:r>
          </a:p>
        </p:txBody>
      </p:sp>
      <p:sp>
        <p:nvSpPr>
          <p:cNvPr id="25" name="TextBox 24"/>
          <p:cNvSpPr txBox="1"/>
          <p:nvPr/>
        </p:nvSpPr>
        <p:spPr>
          <a:xfrm>
            <a:off x="6382512" y="3383280"/>
            <a:ext cx="5029200" cy="2743200"/>
          </a:xfrm>
          <a:prstGeom prst="rect">
            <a:avLst/>
          </a:prstGeom>
          <a:noFill/>
        </p:spPr>
        <p:txBody>
          <a:bodyPr wrap="square" lIns="45720" rIns="45720" tIns="27432" bIns="27432" anchor="t">
            <a:spAutoFit/>
          </a:bodyPr>
          <a:lstStyle/>
          <a:p>
            <a:pPr algn="l" marL="237744" indent="-237744">
              <a:spcAft>
                <a:spcPts val="500"/>
              </a:spcAft>
              <a:buClr>
                <a:srgbClr val="A9792C"/>
              </a:buClr>
              <a:buChar char="•"/>
            </a:pPr>
            <a:r>
              <a:rPr sz="1450" b="0" i="0">
                <a:solidFill>
                  <a:srgbClr val="241F14"/>
                </a:solidFill>
                <a:latin typeface="Calibri"/>
              </a:rPr>
              <a:t>CSS variables in :root: change one colour, update the whole app</a:t>
            </a:r>
          </a:p>
          <a:p>
            <a:pPr algn="l" marL="237744" indent="-237744">
              <a:spcAft>
                <a:spcPts val="500"/>
              </a:spcAft>
              <a:buClr>
                <a:srgbClr val="A9792C"/>
              </a:buClr>
              <a:buChar char="•"/>
            </a:pPr>
            <a:r>
              <a:rPr sz="1450" b="0" i="0">
                <a:solidFill>
                  <a:srgbClr val="241F14"/>
                </a:solidFill>
                <a:latin typeface="Calibri"/>
              </a:rPr>
              <a:t>CSS Grid lays out each table row in 10 neat columns</a:t>
            </a:r>
          </a:p>
          <a:p>
            <a:pPr algn="l" marL="237744" indent="-237744">
              <a:spcAft>
                <a:spcPts val="500"/>
              </a:spcAft>
              <a:buClr>
                <a:srgbClr val="A9792C"/>
              </a:buClr>
              <a:buChar char="•"/>
            </a:pPr>
            <a:r>
              <a:rPr sz="1450" b="0" i="0">
                <a:solidFill>
                  <a:srgbClr val="241F14"/>
                </a:solidFill>
                <a:latin typeface="Calibri"/>
              </a:rPr>
              <a:t>Fonts: Source Serif 4 for headings, IBM Plex for text and IDs</a:t>
            </a:r>
          </a:p>
          <a:p>
            <a:pPr algn="l" marL="237744" indent="-237744">
              <a:spcAft>
                <a:spcPts val="500"/>
              </a:spcAft>
              <a:buClr>
                <a:srgbClr val="A9792C"/>
              </a:buClr>
              <a:buChar char="•"/>
            </a:pPr>
            <a:r>
              <a:rPr sz="1450" b="0" i="0">
                <a:solidFill>
                  <a:srgbClr val="241F14"/>
                </a:solidFill>
                <a:latin typeface="Calibri"/>
              </a:rPr>
              <a:t>A @media (max-width: 640px) rule makes it phone-friendly</a:t>
            </a:r>
          </a:p>
          <a:p>
            <a:pPr algn="l" marL="237744" indent="-237744">
              <a:spcAft>
                <a:spcPts val="500"/>
              </a:spcAft>
              <a:buClr>
                <a:srgbClr val="A9792C"/>
              </a:buClr>
              <a:buChar char="•"/>
            </a:pPr>
            <a:r>
              <a:rPr sz="1450" b="0" i="0">
                <a:solidFill>
                  <a:srgbClr val="241F14"/>
                </a:solidFill>
                <a:latin typeface="Calibri"/>
              </a:rPr>
              <a:t>Respects “reduced motion” for accessibility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CODE WALKTHROUGH 3 / 3</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script.js: talking to the database</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11 / 16</a:t>
            </a:r>
          </a:p>
        </p:txBody>
      </p:sp>
      <p:graphicFrame>
        <p:nvGraphicFramePr>
          <p:cNvPr id="8" name="Table 7"/>
          <p:cNvGraphicFramePr>
            <a:graphicFrameLocks noGrp="1"/>
          </p:cNvGraphicFramePr>
          <p:nvPr/>
        </p:nvGraphicFramePr>
        <p:xfrm>
          <a:off x="548640" y="1600200"/>
          <a:ext cx="11091672" cy="2194560"/>
        </p:xfrm>
        <a:graphic>
          <a:graphicData uri="http://schemas.openxmlformats.org/drawingml/2006/table">
            <a:tbl>
              <a:tblPr firstRow="1" bandRow="1">
                <a:tableStyleId>{5C22544A-7EE6-4342-B048-85BDC9FD1C3A}</a:tableStyleId>
              </a:tblPr>
              <a:tblGrid>
                <a:gridCol w="1463040"/>
                <a:gridCol w="2743200"/>
                <a:gridCol w="2743200"/>
                <a:gridCol w="4142232"/>
              </a:tblGrid>
              <a:tr h="438912">
                <a:tc>
                  <a:txBody>
                    <a:bodyPr/>
                    <a:lstStyle/>
                    <a:p>
                      <a:r>
                        <a:rPr sz="1400" b="1">
                          <a:solidFill>
                            <a:srgbClr val="FFFFFF"/>
                          </a:solidFill>
                          <a:latin typeface="Calibri"/>
                        </a:rPr>
                        <a:t>HTTP method</a:t>
                      </a:r>
                    </a:p>
                  </a:txBody>
                  <a:tcPr anchor="ctr" marL="109728">
                    <a:solidFill>
                      <a:srgbClr val="1F2A44"/>
                    </a:solidFill>
                  </a:tcPr>
                </a:tc>
                <a:tc>
                  <a:txBody>
                    <a:bodyPr/>
                    <a:lstStyle/>
                    <a:p>
                      <a:r>
                        <a:rPr sz="1400" b="1">
                          <a:solidFill>
                            <a:srgbClr val="FFFFFF"/>
                          </a:solidFill>
                          <a:latin typeface="Calibri"/>
                        </a:rPr>
                        <a:t>Function</a:t>
                      </a:r>
                    </a:p>
                  </a:txBody>
                  <a:tcPr anchor="ctr" marL="109728">
                    <a:solidFill>
                      <a:srgbClr val="1F2A44"/>
                    </a:solidFill>
                  </a:tcPr>
                </a:tc>
                <a:tc>
                  <a:txBody>
                    <a:bodyPr/>
                    <a:lstStyle/>
                    <a:p>
                      <a:r>
                        <a:rPr sz="1400" b="1">
                          <a:solidFill>
                            <a:srgbClr val="FFFFFF"/>
                          </a:solidFill>
                          <a:latin typeface="Calibri"/>
                        </a:rPr>
                        <a:t>What it does</a:t>
                      </a:r>
                    </a:p>
                  </a:txBody>
                  <a:tcPr anchor="ctr" marL="109728">
                    <a:solidFill>
                      <a:srgbClr val="1F2A44"/>
                    </a:solidFill>
                  </a:tcPr>
                </a:tc>
                <a:tc>
                  <a:txBody>
                    <a:bodyPr/>
                    <a:lstStyle/>
                    <a:p>
                      <a:r>
                        <a:rPr sz="1400" b="1">
                          <a:solidFill>
                            <a:srgbClr val="FFFFFF"/>
                          </a:solidFill>
                          <a:latin typeface="Calibri"/>
                        </a:rPr>
                        <a:t>URL ending</a:t>
                      </a:r>
                    </a:p>
                  </a:txBody>
                  <a:tcPr anchor="ctr" marL="109728">
                    <a:solidFill>
                      <a:srgbClr val="1F2A44"/>
                    </a:solidFill>
                  </a:tcPr>
                </a:tc>
              </a:tr>
              <a:tr h="438912">
                <a:tc>
                  <a:txBody>
                    <a:bodyPr/>
                    <a:lstStyle/>
                    <a:p>
                      <a:r>
                        <a:rPr sz="1400" b="1">
                          <a:solidFill>
                            <a:srgbClr val="234F45"/>
                          </a:solidFill>
                          <a:latin typeface="Consolas"/>
                        </a:rPr>
                        <a:t>GET</a:t>
                      </a:r>
                    </a:p>
                  </a:txBody>
                  <a:tcPr anchor="ctr" marL="109728">
                    <a:solidFill>
                      <a:srgbClr val="FBF8F0"/>
                    </a:solidFill>
                  </a:tcPr>
                </a:tc>
                <a:tc>
                  <a:txBody>
                    <a:bodyPr/>
                    <a:lstStyle/>
                    <a:p>
                      <a:r>
                        <a:rPr sz="1400" b="0">
                          <a:solidFill>
                            <a:srgbClr val="241F14"/>
                          </a:solidFill>
                          <a:latin typeface="Consolas"/>
                        </a:rPr>
                        <a:t>fetchSupabaseData()</a:t>
                      </a:r>
                    </a:p>
                  </a:txBody>
                  <a:tcPr anchor="ctr" marL="109728">
                    <a:solidFill>
                      <a:srgbClr val="FBF8F0"/>
                    </a:solidFill>
                  </a:tcPr>
                </a:tc>
                <a:tc>
                  <a:txBody>
                    <a:bodyPr/>
                    <a:lstStyle/>
                    <a:p>
                      <a:r>
                        <a:rPr sz="1400" b="0">
                          <a:solidFill>
                            <a:srgbClr val="241F14"/>
                          </a:solidFill>
                          <a:latin typeface="Calibri"/>
                        </a:rPr>
                        <a:t>Read all students</a:t>
                      </a:r>
                    </a:p>
                  </a:txBody>
                  <a:tcPr anchor="ctr" marL="109728">
                    <a:solidFill>
                      <a:srgbClr val="FBF8F0"/>
                    </a:solidFill>
                  </a:tcPr>
                </a:tc>
                <a:tc>
                  <a:txBody>
                    <a:bodyPr/>
                    <a:lstStyle/>
                    <a:p>
                      <a:r>
                        <a:rPr sz="1400" b="0">
                          <a:solidFill>
                            <a:srgbClr val="241F14"/>
                          </a:solidFill>
                          <a:latin typeface="Consolas"/>
                        </a:rPr>
                        <a:t>?select=*&amp;order=student_id.asc</a:t>
                      </a:r>
                    </a:p>
                  </a:txBody>
                  <a:tcPr anchor="ctr" marL="109728">
                    <a:solidFill>
                      <a:srgbClr val="FBF8F0"/>
                    </a:solidFill>
                  </a:tcPr>
                </a:tc>
              </a:tr>
              <a:tr h="438912">
                <a:tc>
                  <a:txBody>
                    <a:bodyPr/>
                    <a:lstStyle/>
                    <a:p>
                      <a:r>
                        <a:rPr sz="1400" b="1">
                          <a:solidFill>
                            <a:srgbClr val="234F45"/>
                          </a:solidFill>
                          <a:latin typeface="Consolas"/>
                        </a:rPr>
                        <a:t>POST</a:t>
                      </a:r>
                    </a:p>
                  </a:txBody>
                  <a:tcPr anchor="ctr" marL="109728">
                    <a:solidFill>
                      <a:srgbClr val="EEE7D6"/>
                    </a:solidFill>
                  </a:tcPr>
                </a:tc>
                <a:tc>
                  <a:txBody>
                    <a:bodyPr/>
                    <a:lstStyle/>
                    <a:p>
                      <a:r>
                        <a:rPr sz="1400" b="0">
                          <a:solidFill>
                            <a:srgbClr val="241F14"/>
                          </a:solidFill>
                          <a:latin typeface="Consolas"/>
                        </a:rPr>
                        <a:t>insertStudentData()</a:t>
                      </a:r>
                    </a:p>
                  </a:txBody>
                  <a:tcPr anchor="ctr" marL="109728">
                    <a:solidFill>
                      <a:srgbClr val="EEE7D6"/>
                    </a:solidFill>
                  </a:tcPr>
                </a:tc>
                <a:tc>
                  <a:txBody>
                    <a:bodyPr/>
                    <a:lstStyle/>
                    <a:p>
                      <a:r>
                        <a:rPr sz="1400" b="0">
                          <a:solidFill>
                            <a:srgbClr val="241F14"/>
                          </a:solidFill>
                          <a:latin typeface="Calibri"/>
                        </a:rPr>
                        <a:t>Create a student</a:t>
                      </a:r>
                    </a:p>
                  </a:txBody>
                  <a:tcPr anchor="ctr" marL="109728">
                    <a:solidFill>
                      <a:srgbClr val="EEE7D6"/>
                    </a:solidFill>
                  </a:tcPr>
                </a:tc>
                <a:tc>
                  <a:txBody>
                    <a:bodyPr/>
                    <a:lstStyle/>
                    <a:p>
                      <a:r>
                        <a:rPr sz="1400" b="0">
                          <a:solidFill>
                            <a:srgbClr val="241F14"/>
                          </a:solidFill>
                          <a:latin typeface="Consolas"/>
                        </a:rPr>
                        <a:t>(none)</a:t>
                      </a:r>
                    </a:p>
                  </a:txBody>
                  <a:tcPr anchor="ctr" marL="109728">
                    <a:solidFill>
                      <a:srgbClr val="EEE7D6"/>
                    </a:solidFill>
                  </a:tcPr>
                </a:tc>
              </a:tr>
              <a:tr h="438912">
                <a:tc>
                  <a:txBody>
                    <a:bodyPr/>
                    <a:lstStyle/>
                    <a:p>
                      <a:r>
                        <a:rPr sz="1400" b="1">
                          <a:solidFill>
                            <a:srgbClr val="234F45"/>
                          </a:solidFill>
                          <a:latin typeface="Consolas"/>
                        </a:rPr>
                        <a:t>PATCH</a:t>
                      </a:r>
                    </a:p>
                  </a:txBody>
                  <a:tcPr anchor="ctr" marL="109728">
                    <a:solidFill>
                      <a:srgbClr val="FBF8F0"/>
                    </a:solidFill>
                  </a:tcPr>
                </a:tc>
                <a:tc>
                  <a:txBody>
                    <a:bodyPr/>
                    <a:lstStyle/>
                    <a:p>
                      <a:r>
                        <a:rPr sz="1400" b="0">
                          <a:solidFill>
                            <a:srgbClr val="241F14"/>
                          </a:solidFill>
                          <a:latin typeface="Consolas"/>
                        </a:rPr>
                        <a:t>updateStudentData()</a:t>
                      </a:r>
                    </a:p>
                  </a:txBody>
                  <a:tcPr anchor="ctr" marL="109728">
                    <a:solidFill>
                      <a:srgbClr val="FBF8F0"/>
                    </a:solidFill>
                  </a:tcPr>
                </a:tc>
                <a:tc>
                  <a:txBody>
                    <a:bodyPr/>
                    <a:lstStyle/>
                    <a:p>
                      <a:r>
                        <a:rPr sz="1400" b="0">
                          <a:solidFill>
                            <a:srgbClr val="241F14"/>
                          </a:solidFill>
                          <a:latin typeface="Calibri"/>
                        </a:rPr>
                        <a:t>Update one student</a:t>
                      </a:r>
                    </a:p>
                  </a:txBody>
                  <a:tcPr anchor="ctr" marL="109728">
                    <a:solidFill>
                      <a:srgbClr val="FBF8F0"/>
                    </a:solidFill>
                  </a:tcPr>
                </a:tc>
                <a:tc>
                  <a:txBody>
                    <a:bodyPr/>
                    <a:lstStyle/>
                    <a:p>
                      <a:r>
                        <a:rPr sz="1400" b="0">
                          <a:solidFill>
                            <a:srgbClr val="241F14"/>
                          </a:solidFill>
                          <a:latin typeface="Consolas"/>
                        </a:rPr>
                        <a:t>?student_id=eq.&lt;id&gt;</a:t>
                      </a:r>
                    </a:p>
                  </a:txBody>
                  <a:tcPr anchor="ctr" marL="109728">
                    <a:solidFill>
                      <a:srgbClr val="FBF8F0"/>
                    </a:solidFill>
                  </a:tcPr>
                </a:tc>
              </a:tr>
              <a:tr h="438912">
                <a:tc>
                  <a:txBody>
                    <a:bodyPr/>
                    <a:lstStyle/>
                    <a:p>
                      <a:r>
                        <a:rPr sz="1400" b="1">
                          <a:solidFill>
                            <a:srgbClr val="234F45"/>
                          </a:solidFill>
                          <a:latin typeface="Consolas"/>
                        </a:rPr>
                        <a:t>DELETE</a:t>
                      </a:r>
                    </a:p>
                  </a:txBody>
                  <a:tcPr anchor="ctr" marL="109728">
                    <a:solidFill>
                      <a:srgbClr val="EEE7D6"/>
                    </a:solidFill>
                  </a:tcPr>
                </a:tc>
                <a:tc>
                  <a:txBody>
                    <a:bodyPr/>
                    <a:lstStyle/>
                    <a:p>
                      <a:r>
                        <a:rPr sz="1400" b="0">
                          <a:solidFill>
                            <a:srgbClr val="241F14"/>
                          </a:solidFill>
                          <a:latin typeface="Consolas"/>
                        </a:rPr>
                        <a:t>deleteStudentData()</a:t>
                      </a:r>
                    </a:p>
                  </a:txBody>
                  <a:tcPr anchor="ctr" marL="109728">
                    <a:solidFill>
                      <a:srgbClr val="EEE7D6"/>
                    </a:solidFill>
                  </a:tcPr>
                </a:tc>
                <a:tc>
                  <a:txBody>
                    <a:bodyPr/>
                    <a:lstStyle/>
                    <a:p>
                      <a:r>
                        <a:rPr sz="1400" b="0">
                          <a:solidFill>
                            <a:srgbClr val="241F14"/>
                          </a:solidFill>
                          <a:latin typeface="Calibri"/>
                        </a:rPr>
                        <a:t>Delete one student</a:t>
                      </a:r>
                    </a:p>
                  </a:txBody>
                  <a:tcPr anchor="ctr" marL="109728">
                    <a:solidFill>
                      <a:srgbClr val="EEE7D6"/>
                    </a:solidFill>
                  </a:tcPr>
                </a:tc>
                <a:tc>
                  <a:txBody>
                    <a:bodyPr/>
                    <a:lstStyle/>
                    <a:p>
                      <a:r>
                        <a:rPr sz="1400" b="0">
                          <a:solidFill>
                            <a:srgbClr val="241F14"/>
                          </a:solidFill>
                          <a:latin typeface="Consolas"/>
                        </a:rPr>
                        <a:t>?student_id=eq.&lt;id&gt;</a:t>
                      </a:r>
                    </a:p>
                  </a:txBody>
                  <a:tcPr anchor="ctr" marL="109728">
                    <a:solidFill>
                      <a:srgbClr val="EEE7D6"/>
                    </a:solidFill>
                  </a:tcPr>
                </a:tc>
              </a:tr>
            </a:tbl>
          </a:graphicData>
        </a:graphic>
      </p:graphicFrame>
      <p:sp>
        <p:nvSpPr>
          <p:cNvPr id="9" name="Rounded Rectangle 8"/>
          <p:cNvSpPr/>
          <p:nvPr/>
        </p:nvSpPr>
        <p:spPr>
          <a:xfrm>
            <a:off x="548640" y="3931920"/>
            <a:ext cx="5760720" cy="2286000"/>
          </a:xfrm>
          <a:prstGeom prst="roundRect">
            <a:avLst>
              <a:gd name="adj" fmla="val 4000"/>
            </a:avLst>
          </a:prstGeom>
          <a:solidFill>
            <a:srgbClr val="1B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4069080"/>
            <a:ext cx="5394959" cy="2057399"/>
          </a:xfrm>
          <a:prstGeom prst="rect">
            <a:avLst/>
          </a:prstGeom>
          <a:noFill/>
        </p:spPr>
        <p:txBody>
          <a:bodyPr wrap="square" lIns="45720" rIns="45720" tIns="27432" bIns="27432" anchor="t">
            <a:spAutoFit/>
          </a:bodyPr>
          <a:lstStyle/>
          <a:p>
            <a:pPr algn="l">
              <a:lnSpc>
                <a:spcPct val="110000"/>
              </a:lnSpc>
              <a:spcAft>
                <a:spcPts val="0"/>
              </a:spcAft>
            </a:pPr>
            <a:r>
              <a:rPr sz="1200" b="0" i="0">
                <a:solidFill>
                  <a:srgbClr val="E8E2D0"/>
                </a:solidFill>
                <a:latin typeface="Consolas"/>
              </a:rPr>
              <a:t>async function fetchSupabaseData() {</a:t>
            </a:r>
          </a:p>
          <a:p>
            <a:pPr algn="l">
              <a:lnSpc>
                <a:spcPct val="110000"/>
              </a:lnSpc>
              <a:spcAft>
                <a:spcPts val="0"/>
              </a:spcAft>
            </a:pPr>
            <a:r>
              <a:rPr sz="1200" b="0" i="0">
                <a:solidFill>
                  <a:srgbClr val="E8E2D0"/>
                </a:solidFill>
                <a:latin typeface="Consolas"/>
              </a:rPr>
              <a:t>  const response = await fetch(</a:t>
            </a:r>
          </a:p>
          <a:p>
            <a:pPr algn="l">
              <a:lnSpc>
                <a:spcPct val="110000"/>
              </a:lnSpc>
              <a:spcAft>
                <a:spcPts val="0"/>
              </a:spcAft>
            </a:pPr>
            <a:r>
              <a:rPr sz="1200" b="0" i="0">
                <a:solidFill>
                  <a:srgbClr val="E8E2D0"/>
                </a:solidFill>
                <a:latin typeface="Consolas"/>
              </a:rPr>
              <a:t>    `${BASE_URL}?select=*&amp;order=student_id.asc`,</a:t>
            </a:r>
          </a:p>
          <a:p>
            <a:pPr algn="l">
              <a:lnSpc>
                <a:spcPct val="110000"/>
              </a:lnSpc>
              <a:spcAft>
                <a:spcPts val="0"/>
              </a:spcAft>
            </a:pPr>
            <a:r>
              <a:rPr sz="1200" b="0" i="0">
                <a:solidFill>
                  <a:srgbClr val="E8E2D0"/>
                </a:solidFill>
                <a:latin typeface="Consolas"/>
              </a:rPr>
              <a:t>    { method: "GET", headers }</a:t>
            </a:r>
          </a:p>
          <a:p>
            <a:pPr algn="l">
              <a:lnSpc>
                <a:spcPct val="110000"/>
              </a:lnSpc>
              <a:spcAft>
                <a:spcPts val="0"/>
              </a:spcAft>
            </a:pPr>
            <a:r>
              <a:rPr sz="1200" b="0" i="0">
                <a:solidFill>
                  <a:srgbClr val="E8E2D0"/>
                </a:solidFill>
                <a:latin typeface="Consolas"/>
              </a:rPr>
              <a:t>  );</a:t>
            </a:r>
          </a:p>
          <a:p>
            <a:pPr algn="l">
              <a:lnSpc>
                <a:spcPct val="110000"/>
              </a:lnSpc>
              <a:spcAft>
                <a:spcPts val="0"/>
              </a:spcAft>
            </a:pPr>
            <a:r>
              <a:rPr sz="1200" b="0" i="0">
                <a:solidFill>
                  <a:srgbClr val="E8E2D0"/>
                </a:solidFill>
                <a:latin typeface="Consolas"/>
              </a:rPr>
              <a:t>  if (!response.ok) throw new Error(...);</a:t>
            </a:r>
          </a:p>
          <a:p>
            <a:pPr algn="l">
              <a:lnSpc>
                <a:spcPct val="110000"/>
              </a:lnSpc>
              <a:spcAft>
                <a:spcPts val="0"/>
              </a:spcAft>
            </a:pPr>
            <a:r>
              <a:rPr sz="1200" b="0" i="0">
                <a:solidFill>
                  <a:srgbClr val="E8E2D0"/>
                </a:solidFill>
                <a:latin typeface="Consolas"/>
              </a:rPr>
              <a:t>  return await response.json();</a:t>
            </a:r>
          </a:p>
          <a:p>
            <a:pPr algn="l">
              <a:lnSpc>
                <a:spcPct val="110000"/>
              </a:lnSpc>
              <a:spcAft>
                <a:spcPts val="0"/>
              </a:spcAft>
            </a:pPr>
            <a:r>
              <a:rPr sz="1200" b="0" i="0">
                <a:solidFill>
                  <a:srgbClr val="E8E2D0"/>
                </a:solidFill>
                <a:latin typeface="Consolas"/>
              </a:rPr>
              <a:t>}</a:t>
            </a:r>
          </a:p>
        </p:txBody>
      </p:sp>
      <p:sp>
        <p:nvSpPr>
          <p:cNvPr id="11" name="TextBox 10"/>
          <p:cNvSpPr txBox="1"/>
          <p:nvPr/>
        </p:nvSpPr>
        <p:spPr>
          <a:xfrm>
            <a:off x="6537960" y="3931920"/>
            <a:ext cx="5120640" cy="2377440"/>
          </a:xfrm>
          <a:prstGeom prst="rect">
            <a:avLst/>
          </a:prstGeom>
          <a:noFill/>
        </p:spPr>
        <p:txBody>
          <a:bodyPr wrap="square" lIns="45720" rIns="45720" tIns="27432" bIns="27432" anchor="t">
            <a:spAutoFit/>
          </a:bodyPr>
          <a:lstStyle/>
          <a:p>
            <a:pPr algn="l" marL="237744" indent="-237744">
              <a:spcAft>
                <a:spcPts val="700"/>
              </a:spcAft>
              <a:buClr>
                <a:srgbClr val="A9792C"/>
              </a:buClr>
              <a:buChar char="•"/>
            </a:pPr>
            <a:r>
              <a:rPr sz="1450" b="1" i="0">
                <a:solidFill>
                  <a:srgbClr val="1F2A44"/>
                </a:solidFill>
                <a:latin typeface="Calibri"/>
              </a:rPr>
              <a:t>async / await: </a:t>
            </a:r>
            <a:r>
              <a:rPr sz="1450" b="0" i="0">
                <a:solidFill>
                  <a:srgbClr val="241F14"/>
                </a:solidFill>
                <a:latin typeface="Calibri"/>
              </a:rPr>
              <a:t>wait for the network without freezing the page.</a:t>
            </a:r>
          </a:p>
          <a:p>
            <a:pPr algn="l" marL="237744" indent="-237744">
              <a:spcAft>
                <a:spcPts val="700"/>
              </a:spcAft>
              <a:buClr>
                <a:srgbClr val="A9792C"/>
              </a:buClr>
              <a:buChar char="•"/>
            </a:pPr>
            <a:r>
              <a:rPr sz="1450" b="1" i="0">
                <a:solidFill>
                  <a:srgbClr val="1F2A44"/>
                </a:solidFill>
                <a:latin typeface="Calibri"/>
              </a:rPr>
              <a:t>headers: </a:t>
            </a:r>
            <a:r>
              <a:rPr sz="1450" b="0" i="0">
                <a:solidFill>
                  <a:srgbClr val="241F14"/>
                </a:solidFill>
                <a:latin typeface="Calibri"/>
              </a:rPr>
              <a:t>API key + JSON content type sent with every request.</a:t>
            </a:r>
          </a:p>
          <a:p>
            <a:pPr algn="l" marL="237744" indent="-237744">
              <a:spcAft>
                <a:spcPts val="700"/>
              </a:spcAft>
              <a:buClr>
                <a:srgbClr val="A9792C"/>
              </a:buClr>
              <a:buChar char="•"/>
            </a:pPr>
            <a:r>
              <a:rPr sz="1450" b="1" i="0">
                <a:solidFill>
                  <a:srgbClr val="1F2A44"/>
                </a:solidFill>
                <a:latin typeface="Calibri"/>
              </a:rPr>
              <a:t>Prefer: return=representation </a:t>
            </a:r>
            <a:r>
              <a:rPr sz="1450" b="0" i="0">
                <a:solidFill>
                  <a:srgbClr val="241F14"/>
                </a:solidFill>
                <a:latin typeface="Calibri"/>
              </a:rPr>
              <a:t>makes Supabase send back the saved row.</a:t>
            </a:r>
          </a:p>
          <a:p>
            <a:pPr algn="l" marL="237744" indent="-237744">
              <a:spcAft>
                <a:spcPts val="700"/>
              </a:spcAft>
              <a:buClr>
                <a:srgbClr val="A9792C"/>
              </a:buClr>
              <a:buChar char="•"/>
            </a:pPr>
            <a:r>
              <a:rPr sz="1450" b="1" i="0">
                <a:solidFill>
                  <a:srgbClr val="1F2A44"/>
                </a:solidFill>
                <a:latin typeface="Calibri"/>
              </a:rPr>
              <a:t>try / catch: </a:t>
            </a:r>
            <a:r>
              <a:rPr sz="1450" b="0" i="0">
                <a:solidFill>
                  <a:srgbClr val="241F14"/>
                </a:solidFill>
                <a:latin typeface="Calibri"/>
              </a:rPr>
              <a:t>any error becomes a friendly status message.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SMART BEHAVIOUR</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Validation rules: catching mistakes early</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12 / 16</a:t>
            </a:r>
          </a:p>
        </p:txBody>
      </p:sp>
      <p:sp>
        <p:nvSpPr>
          <p:cNvPr id="8" name="Rectangle 7"/>
          <p:cNvSpPr/>
          <p:nvPr/>
        </p:nvSpPr>
        <p:spPr>
          <a:xfrm>
            <a:off x="548640" y="1600200"/>
            <a:ext cx="6675120" cy="640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85800" y="1709928"/>
            <a:ext cx="420624" cy="420624"/>
          </a:xfrm>
          <a:prstGeom prst="ellipse">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Georgia"/>
              </a:rPr>
              <a:t>✓</a:t>
            </a:r>
          </a:p>
        </p:txBody>
      </p:sp>
      <p:sp>
        <p:nvSpPr>
          <p:cNvPr id="10" name="TextBox 9"/>
          <p:cNvSpPr txBox="1"/>
          <p:nvPr/>
        </p:nvSpPr>
        <p:spPr>
          <a:xfrm>
            <a:off x="1280160" y="1618488"/>
            <a:ext cx="5852160" cy="603504"/>
          </a:xfrm>
          <a:prstGeom prst="rect">
            <a:avLst/>
          </a:prstGeom>
          <a:noFill/>
        </p:spPr>
        <p:txBody>
          <a:bodyPr wrap="square" lIns="45720" rIns="45720" tIns="27432" bIns="27432" anchor="ctr">
            <a:spAutoFit/>
          </a:bodyPr>
          <a:lstStyle/>
          <a:p>
            <a:pPr algn="l">
              <a:spcAft>
                <a:spcPts val="0"/>
              </a:spcAft>
            </a:pPr>
            <a:r>
              <a:rPr sz="1500" b="1" i="0">
                <a:solidFill>
                  <a:srgbClr val="1F2A44"/>
                </a:solidFill>
                <a:latin typeface="Calibri"/>
              </a:rPr>
              <a:t>Student ID   </a:t>
            </a:r>
            <a:r>
              <a:rPr sz="1350" b="0" i="0">
                <a:solidFill>
                  <a:srgbClr val="241F14"/>
                </a:solidFill>
                <a:latin typeface="Calibri"/>
              </a:rPr>
              <a:t>Digits only, exactly 8. Letters are stripped as you type.</a:t>
            </a:r>
          </a:p>
        </p:txBody>
      </p:sp>
      <p:sp>
        <p:nvSpPr>
          <p:cNvPr id="11" name="Rectangle 10"/>
          <p:cNvSpPr/>
          <p:nvPr/>
        </p:nvSpPr>
        <p:spPr>
          <a:xfrm>
            <a:off x="548640" y="2331720"/>
            <a:ext cx="6675120" cy="640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85800" y="2441448"/>
            <a:ext cx="420624" cy="420624"/>
          </a:xfrm>
          <a:prstGeom prst="ellipse">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Georgia"/>
              </a:rPr>
              <a:t>✓</a:t>
            </a:r>
          </a:p>
        </p:txBody>
      </p:sp>
      <p:sp>
        <p:nvSpPr>
          <p:cNvPr id="13" name="TextBox 12"/>
          <p:cNvSpPr txBox="1"/>
          <p:nvPr/>
        </p:nvSpPr>
        <p:spPr>
          <a:xfrm>
            <a:off x="1280160" y="2350008"/>
            <a:ext cx="5852160" cy="603504"/>
          </a:xfrm>
          <a:prstGeom prst="rect">
            <a:avLst/>
          </a:prstGeom>
          <a:noFill/>
        </p:spPr>
        <p:txBody>
          <a:bodyPr wrap="square" lIns="45720" rIns="45720" tIns="27432" bIns="27432" anchor="ctr">
            <a:spAutoFit/>
          </a:bodyPr>
          <a:lstStyle/>
          <a:p>
            <a:pPr algn="l">
              <a:spcAft>
                <a:spcPts val="0"/>
              </a:spcAft>
            </a:pPr>
            <a:r>
              <a:rPr sz="1500" b="1" i="0">
                <a:solidFill>
                  <a:srgbClr val="1F2A44"/>
                </a:solidFill>
                <a:latin typeface="Calibri"/>
              </a:rPr>
              <a:t>Duplicate check   </a:t>
            </a:r>
            <a:r>
              <a:rPr sz="1350" b="0" i="0">
                <a:solidFill>
                  <a:srgbClr val="241F14"/>
                </a:solidFill>
                <a:latin typeface="Calibri"/>
              </a:rPr>
              <a:t>An ID that is already registered is rejected.</a:t>
            </a:r>
          </a:p>
        </p:txBody>
      </p:sp>
      <p:sp>
        <p:nvSpPr>
          <p:cNvPr id="14" name="Rectangle 13"/>
          <p:cNvSpPr/>
          <p:nvPr/>
        </p:nvSpPr>
        <p:spPr>
          <a:xfrm>
            <a:off x="548640" y="3063239"/>
            <a:ext cx="6675120" cy="640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85800" y="3172968"/>
            <a:ext cx="420624" cy="420624"/>
          </a:xfrm>
          <a:prstGeom prst="ellipse">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Georgia"/>
              </a:rPr>
              <a:t>✓</a:t>
            </a:r>
          </a:p>
        </p:txBody>
      </p:sp>
      <p:sp>
        <p:nvSpPr>
          <p:cNvPr id="16" name="TextBox 15"/>
          <p:cNvSpPr txBox="1"/>
          <p:nvPr/>
        </p:nvSpPr>
        <p:spPr>
          <a:xfrm>
            <a:off x="1280160" y="3081527"/>
            <a:ext cx="5852160" cy="603504"/>
          </a:xfrm>
          <a:prstGeom prst="rect">
            <a:avLst/>
          </a:prstGeom>
          <a:noFill/>
        </p:spPr>
        <p:txBody>
          <a:bodyPr wrap="square" lIns="45720" rIns="45720" tIns="27432" bIns="27432" anchor="ctr">
            <a:spAutoFit/>
          </a:bodyPr>
          <a:lstStyle/>
          <a:p>
            <a:pPr algn="l">
              <a:spcAft>
                <a:spcPts val="0"/>
              </a:spcAft>
            </a:pPr>
            <a:r>
              <a:rPr sz="1500" b="1" i="0">
                <a:solidFill>
                  <a:srgbClr val="1F2A44"/>
                </a:solidFill>
                <a:latin typeface="Calibri"/>
              </a:rPr>
              <a:t>Phone number   </a:t>
            </a:r>
            <a:r>
              <a:rPr sz="1350" b="0" i="0">
                <a:solidFill>
                  <a:srgbClr val="241F14"/>
                </a:solidFill>
                <a:latin typeface="Calibri"/>
              </a:rPr>
              <a:t>Digits only, maximum 10.</a:t>
            </a:r>
          </a:p>
        </p:txBody>
      </p:sp>
      <p:sp>
        <p:nvSpPr>
          <p:cNvPr id="17" name="Rectangle 16"/>
          <p:cNvSpPr/>
          <p:nvPr/>
        </p:nvSpPr>
        <p:spPr>
          <a:xfrm>
            <a:off x="548640" y="3794759"/>
            <a:ext cx="6675120" cy="640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85800" y="3904487"/>
            <a:ext cx="420624" cy="420624"/>
          </a:xfrm>
          <a:prstGeom prst="ellipse">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Georgia"/>
              </a:rPr>
              <a:t>✓</a:t>
            </a:r>
          </a:p>
        </p:txBody>
      </p:sp>
      <p:sp>
        <p:nvSpPr>
          <p:cNvPr id="19" name="TextBox 18"/>
          <p:cNvSpPr txBox="1"/>
          <p:nvPr/>
        </p:nvSpPr>
        <p:spPr>
          <a:xfrm>
            <a:off x="1280160" y="3813047"/>
            <a:ext cx="5852160" cy="603504"/>
          </a:xfrm>
          <a:prstGeom prst="rect">
            <a:avLst/>
          </a:prstGeom>
          <a:noFill/>
        </p:spPr>
        <p:txBody>
          <a:bodyPr wrap="square" lIns="45720" rIns="45720" tIns="27432" bIns="27432" anchor="ctr">
            <a:spAutoFit/>
          </a:bodyPr>
          <a:lstStyle/>
          <a:p>
            <a:pPr algn="l">
              <a:spcAft>
                <a:spcPts val="0"/>
              </a:spcAft>
            </a:pPr>
            <a:r>
              <a:rPr sz="1500" b="1" i="0">
                <a:solidFill>
                  <a:srgbClr val="1F2A44"/>
                </a:solidFill>
                <a:latin typeface="Calibri"/>
              </a:rPr>
              <a:t>Date of birth   </a:t>
            </a:r>
            <a:r>
              <a:rPr sz="1350" b="0" i="0">
                <a:solidFill>
                  <a:srgbClr val="241F14"/>
                </a:solidFill>
                <a:latin typeface="Calibri"/>
              </a:rPr>
              <a:t>Cannot be in the future. Age is calculated automatically.</a:t>
            </a:r>
          </a:p>
        </p:txBody>
      </p:sp>
      <p:sp>
        <p:nvSpPr>
          <p:cNvPr id="20" name="Rectangle 19"/>
          <p:cNvSpPr/>
          <p:nvPr/>
        </p:nvSpPr>
        <p:spPr>
          <a:xfrm>
            <a:off x="548640" y="4526279"/>
            <a:ext cx="6675120" cy="640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85800" y="4636007"/>
            <a:ext cx="420624" cy="420624"/>
          </a:xfrm>
          <a:prstGeom prst="ellipse">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Georgia"/>
              </a:rPr>
              <a:t>✓</a:t>
            </a:r>
          </a:p>
        </p:txBody>
      </p:sp>
      <p:sp>
        <p:nvSpPr>
          <p:cNvPr id="22" name="TextBox 21"/>
          <p:cNvSpPr txBox="1"/>
          <p:nvPr/>
        </p:nvSpPr>
        <p:spPr>
          <a:xfrm>
            <a:off x="1280160" y="4544567"/>
            <a:ext cx="5852160" cy="603504"/>
          </a:xfrm>
          <a:prstGeom prst="rect">
            <a:avLst/>
          </a:prstGeom>
          <a:noFill/>
        </p:spPr>
        <p:txBody>
          <a:bodyPr wrap="square" lIns="45720" rIns="45720" tIns="27432" bIns="27432" anchor="ctr">
            <a:spAutoFit/>
          </a:bodyPr>
          <a:lstStyle/>
          <a:p>
            <a:pPr algn="l">
              <a:spcAft>
                <a:spcPts val="0"/>
              </a:spcAft>
            </a:pPr>
            <a:r>
              <a:rPr sz="1500" b="1" i="0">
                <a:solidFill>
                  <a:srgbClr val="1F2A44"/>
                </a:solidFill>
                <a:latin typeface="Calibri"/>
              </a:rPr>
              <a:t>Level vs programme   </a:t>
            </a:r>
            <a:r>
              <a:rPr sz="1350" b="0" i="0">
                <a:solidFill>
                  <a:srgbClr val="241F14"/>
                </a:solidFill>
                <a:latin typeface="Calibri"/>
              </a:rPr>
              <a:t>Levels above the degree length are disabled.</a:t>
            </a:r>
          </a:p>
        </p:txBody>
      </p:sp>
      <p:sp>
        <p:nvSpPr>
          <p:cNvPr id="23" name="Rectangle 22"/>
          <p:cNvSpPr/>
          <p:nvPr/>
        </p:nvSpPr>
        <p:spPr>
          <a:xfrm>
            <a:off x="548640" y="5257799"/>
            <a:ext cx="6675120" cy="6400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85800" y="5367527"/>
            <a:ext cx="420624" cy="420624"/>
          </a:xfrm>
          <a:prstGeom prst="ellipse">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Georgia"/>
              </a:rPr>
              <a:t>✓</a:t>
            </a:r>
          </a:p>
        </p:txBody>
      </p:sp>
      <p:sp>
        <p:nvSpPr>
          <p:cNvPr id="25" name="TextBox 24"/>
          <p:cNvSpPr txBox="1"/>
          <p:nvPr/>
        </p:nvSpPr>
        <p:spPr>
          <a:xfrm>
            <a:off x="1280160" y="5276087"/>
            <a:ext cx="5852160" cy="603504"/>
          </a:xfrm>
          <a:prstGeom prst="rect">
            <a:avLst/>
          </a:prstGeom>
          <a:noFill/>
        </p:spPr>
        <p:txBody>
          <a:bodyPr wrap="square" lIns="45720" rIns="45720" tIns="27432" bIns="27432" anchor="ctr">
            <a:spAutoFit/>
          </a:bodyPr>
          <a:lstStyle/>
          <a:p>
            <a:pPr algn="l">
              <a:spcAft>
                <a:spcPts val="0"/>
              </a:spcAft>
            </a:pPr>
            <a:r>
              <a:rPr sz="1500" b="1" i="0">
                <a:solidFill>
                  <a:srgbClr val="1F2A44"/>
                </a:solidFill>
                <a:latin typeface="Calibri"/>
              </a:rPr>
              <a:t>Required + email   </a:t>
            </a:r>
            <a:r>
              <a:rPr sz="1350" b="0" i="0">
                <a:solidFill>
                  <a:srgbClr val="241F14"/>
                </a:solidFill>
                <a:latin typeface="Calibri"/>
              </a:rPr>
              <a:t>Browser checks empty fields and email format.</a:t>
            </a:r>
          </a:p>
        </p:txBody>
      </p:sp>
      <p:sp>
        <p:nvSpPr>
          <p:cNvPr id="26" name="Rectangle 25"/>
          <p:cNvSpPr/>
          <p:nvPr/>
        </p:nvSpPr>
        <p:spPr>
          <a:xfrm>
            <a:off x="7498079" y="1600200"/>
            <a:ext cx="4142232" cy="283464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498079" y="1600200"/>
            <a:ext cx="4142232" cy="64008"/>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680960" y="1755648"/>
            <a:ext cx="3840480" cy="365760"/>
          </a:xfrm>
          <a:prstGeom prst="rect">
            <a:avLst/>
          </a:prstGeom>
          <a:noFill/>
        </p:spPr>
        <p:txBody>
          <a:bodyPr wrap="square" lIns="45720" rIns="45720" tIns="27432" bIns="27432" anchor="t">
            <a:spAutoFit/>
          </a:bodyPr>
          <a:lstStyle/>
          <a:p>
            <a:pPr algn="l">
              <a:spcAft>
                <a:spcPts val="600"/>
              </a:spcAft>
            </a:pPr>
            <a:r>
              <a:rPr sz="1600" b="1" i="0">
                <a:solidFill>
                  <a:srgbClr val="1F2A44"/>
                </a:solidFill>
                <a:latin typeface="Georgia"/>
              </a:rPr>
              <a:t>Programme length sets max level</a:t>
            </a:r>
          </a:p>
        </p:txBody>
      </p:sp>
      <p:sp>
        <p:nvSpPr>
          <p:cNvPr id="29" name="Rounded Rectangle 28"/>
          <p:cNvSpPr/>
          <p:nvPr/>
        </p:nvSpPr>
        <p:spPr>
          <a:xfrm>
            <a:off x="7680960" y="2231136"/>
            <a:ext cx="868680" cy="274320"/>
          </a:xfrm>
          <a:prstGeom prst="roundRect">
            <a:avLst>
              <a:gd name="adj" fmla="val 50000"/>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FFFFFF"/>
                </a:solidFill>
                <a:latin typeface="Calibri"/>
              </a:rPr>
              <a:t>4 years</a:t>
            </a:r>
          </a:p>
        </p:txBody>
      </p:sp>
      <p:sp>
        <p:nvSpPr>
          <p:cNvPr id="30" name="TextBox 29"/>
          <p:cNvSpPr txBox="1"/>
          <p:nvPr/>
        </p:nvSpPr>
        <p:spPr>
          <a:xfrm>
            <a:off x="8595360" y="2194560"/>
            <a:ext cx="2971800" cy="731520"/>
          </a:xfrm>
          <a:prstGeom prst="rect">
            <a:avLst/>
          </a:prstGeom>
          <a:noFill/>
        </p:spPr>
        <p:txBody>
          <a:bodyPr wrap="square" lIns="45720" rIns="45720" tIns="27432" bIns="27432" anchor="t">
            <a:spAutoFit/>
          </a:bodyPr>
          <a:lstStyle/>
          <a:p>
            <a:pPr algn="l">
              <a:spcAft>
                <a:spcPts val="0"/>
              </a:spcAft>
            </a:pPr>
            <a:r>
              <a:rPr sz="1300" b="1" i="0">
                <a:solidFill>
                  <a:srgbClr val="A9792C"/>
                </a:solidFill>
                <a:latin typeface="Calibri"/>
              </a:rPr>
              <a:t>max 400  </a:t>
            </a:r>
            <a:r>
              <a:rPr sz="1150" b="0" i="0">
                <a:solidFill>
                  <a:srgbClr val="241F14"/>
                </a:solidFill>
                <a:latin typeface="Calibri"/>
              </a:rPr>
              <a:t>Computer Science, IT, Engineering, Maths, Stats, Physics, Biochemistry, Nursing, LLB</a:t>
            </a:r>
          </a:p>
        </p:txBody>
      </p:sp>
      <p:sp>
        <p:nvSpPr>
          <p:cNvPr id="31" name="Rounded Rectangle 30"/>
          <p:cNvSpPr/>
          <p:nvPr/>
        </p:nvSpPr>
        <p:spPr>
          <a:xfrm>
            <a:off x="7680960" y="2962656"/>
            <a:ext cx="868680" cy="274320"/>
          </a:xfrm>
          <a:prstGeom prst="roundRect">
            <a:avLst>
              <a:gd name="adj" fmla="val 50000"/>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FFFFFF"/>
                </a:solidFill>
                <a:latin typeface="Calibri"/>
              </a:rPr>
              <a:t>5 years</a:t>
            </a:r>
          </a:p>
        </p:txBody>
      </p:sp>
      <p:sp>
        <p:nvSpPr>
          <p:cNvPr id="32" name="TextBox 31"/>
          <p:cNvSpPr txBox="1"/>
          <p:nvPr/>
        </p:nvSpPr>
        <p:spPr>
          <a:xfrm>
            <a:off x="8595360" y="2926079"/>
            <a:ext cx="2971800" cy="731520"/>
          </a:xfrm>
          <a:prstGeom prst="rect">
            <a:avLst/>
          </a:prstGeom>
          <a:noFill/>
        </p:spPr>
        <p:txBody>
          <a:bodyPr wrap="square" lIns="45720" rIns="45720" tIns="27432" bIns="27432" anchor="t">
            <a:spAutoFit/>
          </a:bodyPr>
          <a:lstStyle/>
          <a:p>
            <a:pPr algn="l">
              <a:spcAft>
                <a:spcPts val="0"/>
              </a:spcAft>
            </a:pPr>
            <a:r>
              <a:rPr sz="1300" b="1" i="0">
                <a:solidFill>
                  <a:srgbClr val="A9792C"/>
                </a:solidFill>
                <a:latin typeface="Calibri"/>
              </a:rPr>
              <a:t>max 500  </a:t>
            </a:r>
            <a:r>
              <a:rPr sz="1150" b="0" i="0">
                <a:solidFill>
                  <a:srgbClr val="241F14"/>
                </a:solidFill>
                <a:latin typeface="Calibri"/>
              </a:rPr>
              <a:t>Architecture</a:t>
            </a:r>
          </a:p>
        </p:txBody>
      </p:sp>
      <p:sp>
        <p:nvSpPr>
          <p:cNvPr id="33" name="Rounded Rectangle 32"/>
          <p:cNvSpPr/>
          <p:nvPr/>
        </p:nvSpPr>
        <p:spPr>
          <a:xfrm>
            <a:off x="7680960" y="3419856"/>
            <a:ext cx="868680" cy="274320"/>
          </a:xfrm>
          <a:prstGeom prst="roundRect">
            <a:avLst>
              <a:gd name="adj" fmla="val 50000"/>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FFFFFF"/>
                </a:solidFill>
                <a:latin typeface="Calibri"/>
              </a:rPr>
              <a:t>6 years</a:t>
            </a:r>
          </a:p>
        </p:txBody>
      </p:sp>
      <p:sp>
        <p:nvSpPr>
          <p:cNvPr id="34" name="TextBox 33"/>
          <p:cNvSpPr txBox="1"/>
          <p:nvPr/>
        </p:nvSpPr>
        <p:spPr>
          <a:xfrm>
            <a:off x="8595360" y="3383279"/>
            <a:ext cx="2971800" cy="731520"/>
          </a:xfrm>
          <a:prstGeom prst="rect">
            <a:avLst/>
          </a:prstGeom>
          <a:noFill/>
        </p:spPr>
        <p:txBody>
          <a:bodyPr wrap="square" lIns="45720" rIns="45720" tIns="27432" bIns="27432" anchor="t">
            <a:spAutoFit/>
          </a:bodyPr>
          <a:lstStyle/>
          <a:p>
            <a:pPr algn="l">
              <a:spcAft>
                <a:spcPts val="0"/>
              </a:spcAft>
            </a:pPr>
            <a:r>
              <a:rPr sz="1300" b="1" i="0">
                <a:solidFill>
                  <a:srgbClr val="A9792C"/>
                </a:solidFill>
                <a:latin typeface="Calibri"/>
              </a:rPr>
              <a:t>max 600  </a:t>
            </a:r>
            <a:r>
              <a:rPr sz="1150" b="0" i="0">
                <a:solidFill>
                  <a:srgbClr val="241F14"/>
                </a:solidFill>
                <a:latin typeface="Calibri"/>
              </a:rPr>
              <a:t>Pharm D, MB ChB</a:t>
            </a:r>
          </a:p>
        </p:txBody>
      </p:sp>
      <p:sp>
        <p:nvSpPr>
          <p:cNvPr id="35" name="Rounded Rectangle 34"/>
          <p:cNvSpPr/>
          <p:nvPr/>
        </p:nvSpPr>
        <p:spPr>
          <a:xfrm>
            <a:off x="7498079" y="4572000"/>
            <a:ext cx="4142232" cy="1645920"/>
          </a:xfrm>
          <a:prstGeom prst="roundRect">
            <a:avLst>
              <a:gd name="adj" fmla="val 4000"/>
            </a:avLst>
          </a:prstGeom>
          <a:solidFill>
            <a:srgbClr val="1B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680959" y="4709160"/>
            <a:ext cx="3776472" cy="1417319"/>
          </a:xfrm>
          <a:prstGeom prst="rect">
            <a:avLst/>
          </a:prstGeom>
          <a:noFill/>
        </p:spPr>
        <p:txBody>
          <a:bodyPr wrap="square" lIns="45720" rIns="45720" tIns="27432" bIns="27432" anchor="t">
            <a:spAutoFit/>
          </a:bodyPr>
          <a:lstStyle/>
          <a:p>
            <a:pPr algn="l">
              <a:lnSpc>
                <a:spcPct val="110000"/>
              </a:lnSpc>
              <a:spcAft>
                <a:spcPts val="0"/>
              </a:spcAft>
            </a:pPr>
            <a:r>
              <a:rPr sz="1100" b="0" i="1">
                <a:solidFill>
                  <a:srgbClr val="8FA3A0"/>
                </a:solidFill>
                <a:latin typeface="Consolas"/>
              </a:rPr>
              <a:t>// Age: subtract a year if the</a:t>
            </a:r>
          </a:p>
          <a:p>
            <a:pPr algn="l">
              <a:lnSpc>
                <a:spcPct val="110000"/>
              </a:lnSpc>
              <a:spcAft>
                <a:spcPts val="0"/>
              </a:spcAft>
            </a:pPr>
            <a:r>
              <a:rPr sz="1100" b="0" i="1">
                <a:solidFill>
                  <a:srgbClr val="8FA3A0"/>
                </a:solidFill>
                <a:latin typeface="Consolas"/>
              </a:rPr>
              <a:t>// birthday has not happened yet</a:t>
            </a:r>
          </a:p>
          <a:p>
            <a:pPr algn="l">
              <a:lnSpc>
                <a:spcPct val="110000"/>
              </a:lnSpc>
              <a:spcAft>
                <a:spcPts val="0"/>
              </a:spcAft>
            </a:pPr>
            <a:r>
              <a:rPr sz="1100" b="0" i="0">
                <a:solidFill>
                  <a:srgbClr val="E8E2D0"/>
                </a:solidFill>
                <a:latin typeface="Consolas"/>
              </a:rPr>
              <a:t>let years = now.year - dob.year;</a:t>
            </a:r>
          </a:p>
          <a:p>
            <a:pPr algn="l">
              <a:lnSpc>
                <a:spcPct val="110000"/>
              </a:lnSpc>
              <a:spcAft>
                <a:spcPts val="0"/>
              </a:spcAft>
            </a:pPr>
            <a:r>
              <a:rPr sz="1100" b="0" i="0">
                <a:solidFill>
                  <a:srgbClr val="E8E2D0"/>
                </a:solidFill>
                <a:latin typeface="Consolas"/>
              </a:rPr>
              <a:t>if (monthDiff &lt; 0 || (monthDiff === 0</a:t>
            </a:r>
          </a:p>
          <a:p>
            <a:pPr algn="l">
              <a:lnSpc>
                <a:spcPct val="110000"/>
              </a:lnSpc>
              <a:spcAft>
                <a:spcPts val="0"/>
              </a:spcAft>
            </a:pPr>
            <a:r>
              <a:rPr sz="1100" b="0" i="0">
                <a:solidFill>
                  <a:srgbClr val="E8E2D0"/>
                </a:solidFill>
                <a:latin typeface="Consolas"/>
              </a:rPr>
              <a:t>    &amp;&amp; today.date &lt; dob.date)) years--;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UNDER THE HOOD</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How “Edit” works: one variable decides everything</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13 / 16</a:t>
            </a:r>
          </a:p>
        </p:txBody>
      </p:sp>
      <p:sp>
        <p:nvSpPr>
          <p:cNvPr id="8" name="Rectangle 7"/>
          <p:cNvSpPr/>
          <p:nvPr/>
        </p:nvSpPr>
        <p:spPr>
          <a:xfrm>
            <a:off x="548640" y="1600200"/>
            <a:ext cx="2002536" cy="196596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00200"/>
            <a:ext cx="2002536" cy="64008"/>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85800" y="1783080"/>
            <a:ext cx="384048" cy="38404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1</a:t>
            </a:r>
          </a:p>
        </p:txBody>
      </p:sp>
      <p:sp>
        <p:nvSpPr>
          <p:cNvPr id="11" name="TextBox 10"/>
          <p:cNvSpPr txBox="1"/>
          <p:nvPr/>
        </p:nvSpPr>
        <p:spPr>
          <a:xfrm>
            <a:off x="1143000" y="1755648"/>
            <a:ext cx="1371600" cy="457200"/>
          </a:xfrm>
          <a:prstGeom prst="rect">
            <a:avLst/>
          </a:prstGeom>
          <a:noFill/>
        </p:spPr>
        <p:txBody>
          <a:bodyPr wrap="square" lIns="45720" rIns="45720" tIns="27432" bIns="27432" anchor="ctr">
            <a:spAutoFit/>
          </a:bodyPr>
          <a:lstStyle/>
          <a:p>
            <a:pPr algn="l">
              <a:spcAft>
                <a:spcPts val="600"/>
              </a:spcAft>
            </a:pPr>
            <a:r>
              <a:rPr sz="1400" b="1" i="0">
                <a:solidFill>
                  <a:srgbClr val="1F2A44"/>
                </a:solidFill>
                <a:latin typeface="Georgia"/>
              </a:rPr>
              <a:t>Click Edit</a:t>
            </a:r>
          </a:p>
        </p:txBody>
      </p:sp>
      <p:sp>
        <p:nvSpPr>
          <p:cNvPr id="12" name="TextBox 11"/>
          <p:cNvSpPr txBox="1"/>
          <p:nvPr/>
        </p:nvSpPr>
        <p:spPr>
          <a:xfrm>
            <a:off x="685800" y="2286000"/>
            <a:ext cx="1783080" cy="1280160"/>
          </a:xfrm>
          <a:prstGeom prst="rect">
            <a:avLst/>
          </a:prstGeom>
          <a:noFill/>
        </p:spPr>
        <p:txBody>
          <a:bodyPr wrap="square" lIns="45720" rIns="45720" tIns="27432" bIns="27432" anchor="t">
            <a:spAutoFit/>
          </a:bodyPr>
          <a:lstStyle/>
          <a:p>
            <a:pPr algn="l">
              <a:spcAft>
                <a:spcPts val="600"/>
              </a:spcAft>
            </a:pPr>
            <a:r>
              <a:rPr sz="1300" b="0" i="0">
                <a:solidFill>
                  <a:srgbClr val="241F14"/>
                </a:solidFill>
                <a:latin typeface="Calibri"/>
              </a:rPr>
              <a:t>The student's data is copied into the form.</a:t>
            </a:r>
          </a:p>
        </p:txBody>
      </p:sp>
      <p:cxnSp>
        <p:nvCxnSpPr>
          <p:cNvPr id="13" name="Connector 12"/>
          <p:cNvCxnSpPr/>
          <p:nvPr/>
        </p:nvCxnSpPr>
        <p:spPr>
          <a:xfrm>
            <a:off x="2560320" y="2560320"/>
            <a:ext cx="265176" cy="0"/>
          </a:xfrm>
          <a:prstGeom prst="line">
            <a:avLst/>
          </a:prstGeom>
          <a:ln w="31750">
            <a:solidFill>
              <a:srgbClr val="A9792C"/>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25496" y="1600200"/>
            <a:ext cx="2002536" cy="196596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825496" y="1600200"/>
            <a:ext cx="2002536" cy="64008"/>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2962656" y="1783080"/>
            <a:ext cx="384048" cy="38404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2</a:t>
            </a:r>
          </a:p>
        </p:txBody>
      </p:sp>
      <p:sp>
        <p:nvSpPr>
          <p:cNvPr id="17" name="TextBox 16"/>
          <p:cNvSpPr txBox="1"/>
          <p:nvPr/>
        </p:nvSpPr>
        <p:spPr>
          <a:xfrm>
            <a:off x="3419856" y="1755648"/>
            <a:ext cx="1371600" cy="457200"/>
          </a:xfrm>
          <a:prstGeom prst="rect">
            <a:avLst/>
          </a:prstGeom>
          <a:noFill/>
        </p:spPr>
        <p:txBody>
          <a:bodyPr wrap="square" lIns="45720" rIns="45720" tIns="27432" bIns="27432" anchor="ctr">
            <a:spAutoFit/>
          </a:bodyPr>
          <a:lstStyle/>
          <a:p>
            <a:pPr algn="l">
              <a:spcAft>
                <a:spcPts val="600"/>
              </a:spcAft>
            </a:pPr>
            <a:r>
              <a:rPr sz="1400" b="1" i="0">
                <a:solidFill>
                  <a:srgbClr val="1F2A44"/>
                </a:solidFill>
                <a:latin typeface="Georgia"/>
              </a:rPr>
              <a:t>Edit mode on</a:t>
            </a:r>
          </a:p>
        </p:txBody>
      </p:sp>
      <p:sp>
        <p:nvSpPr>
          <p:cNvPr id="18" name="TextBox 17"/>
          <p:cNvSpPr txBox="1"/>
          <p:nvPr/>
        </p:nvSpPr>
        <p:spPr>
          <a:xfrm>
            <a:off x="2962656" y="2286000"/>
            <a:ext cx="1783080" cy="1280160"/>
          </a:xfrm>
          <a:prstGeom prst="rect">
            <a:avLst/>
          </a:prstGeom>
          <a:noFill/>
        </p:spPr>
        <p:txBody>
          <a:bodyPr wrap="square" lIns="45720" rIns="45720" tIns="27432" bIns="27432" anchor="t">
            <a:spAutoFit/>
          </a:bodyPr>
          <a:lstStyle/>
          <a:p>
            <a:pPr algn="l">
              <a:spcAft>
                <a:spcPts val="600"/>
              </a:spcAft>
            </a:pPr>
            <a:r>
              <a:rPr sz="1300" b="0" i="0">
                <a:solidFill>
                  <a:srgbClr val="241F14"/>
                </a:solidFill>
                <a:latin typeface="Calibri"/>
              </a:rPr>
              <a:t>editingStudentId is set. Button says “Update student”.</a:t>
            </a:r>
          </a:p>
        </p:txBody>
      </p:sp>
      <p:cxnSp>
        <p:nvCxnSpPr>
          <p:cNvPr id="19" name="Connector 18"/>
          <p:cNvCxnSpPr/>
          <p:nvPr/>
        </p:nvCxnSpPr>
        <p:spPr>
          <a:xfrm>
            <a:off x="4837176" y="2560320"/>
            <a:ext cx="265176" cy="0"/>
          </a:xfrm>
          <a:prstGeom prst="line">
            <a:avLst/>
          </a:prstGeom>
          <a:ln w="31750">
            <a:solidFill>
              <a:srgbClr val="A9792C"/>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02352" y="1600200"/>
            <a:ext cx="2002536" cy="196596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102352" y="1600200"/>
            <a:ext cx="2002536" cy="64008"/>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5239512" y="1783080"/>
            <a:ext cx="384048" cy="38404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3</a:t>
            </a:r>
          </a:p>
        </p:txBody>
      </p:sp>
      <p:sp>
        <p:nvSpPr>
          <p:cNvPr id="23" name="TextBox 22"/>
          <p:cNvSpPr txBox="1"/>
          <p:nvPr/>
        </p:nvSpPr>
        <p:spPr>
          <a:xfrm>
            <a:off x="5696712" y="1755648"/>
            <a:ext cx="1371600" cy="457200"/>
          </a:xfrm>
          <a:prstGeom prst="rect">
            <a:avLst/>
          </a:prstGeom>
          <a:noFill/>
        </p:spPr>
        <p:txBody>
          <a:bodyPr wrap="square" lIns="45720" rIns="45720" tIns="27432" bIns="27432" anchor="ctr">
            <a:spAutoFit/>
          </a:bodyPr>
          <a:lstStyle/>
          <a:p>
            <a:pPr algn="l">
              <a:spcAft>
                <a:spcPts val="600"/>
              </a:spcAft>
            </a:pPr>
            <a:r>
              <a:rPr sz="1400" b="1" i="0">
                <a:solidFill>
                  <a:srgbClr val="1F2A44"/>
                </a:solidFill>
                <a:latin typeface="Georgia"/>
              </a:rPr>
              <a:t>Submit</a:t>
            </a:r>
          </a:p>
        </p:txBody>
      </p:sp>
      <p:sp>
        <p:nvSpPr>
          <p:cNvPr id="24" name="TextBox 23"/>
          <p:cNvSpPr txBox="1"/>
          <p:nvPr/>
        </p:nvSpPr>
        <p:spPr>
          <a:xfrm>
            <a:off x="5239512" y="2286000"/>
            <a:ext cx="1783080" cy="1280160"/>
          </a:xfrm>
          <a:prstGeom prst="rect">
            <a:avLst/>
          </a:prstGeom>
          <a:noFill/>
        </p:spPr>
        <p:txBody>
          <a:bodyPr wrap="square" lIns="45720" rIns="45720" tIns="27432" bIns="27432" anchor="t">
            <a:spAutoFit/>
          </a:bodyPr>
          <a:lstStyle/>
          <a:p>
            <a:pPr algn="l">
              <a:spcAft>
                <a:spcPts val="600"/>
              </a:spcAft>
            </a:pPr>
            <a:r>
              <a:rPr sz="1300" b="0" i="0">
                <a:solidFill>
                  <a:srgbClr val="241F14"/>
                </a:solidFill>
                <a:latin typeface="Calibri"/>
              </a:rPr>
              <a:t>Validation runs, with a duplicate-ID exception for this student.</a:t>
            </a:r>
          </a:p>
        </p:txBody>
      </p:sp>
      <p:cxnSp>
        <p:nvCxnSpPr>
          <p:cNvPr id="25" name="Connector 24"/>
          <p:cNvCxnSpPr/>
          <p:nvPr/>
        </p:nvCxnSpPr>
        <p:spPr>
          <a:xfrm>
            <a:off x="7114032" y="2560320"/>
            <a:ext cx="265176" cy="0"/>
          </a:xfrm>
          <a:prstGeom prst="line">
            <a:avLst/>
          </a:prstGeom>
          <a:ln w="31750">
            <a:solidFill>
              <a:srgbClr val="A9792C"/>
            </a:solidFill>
            <a:tailEnd type="triangle"/>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379208" y="1600200"/>
            <a:ext cx="2002536" cy="196596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379208" y="1600200"/>
            <a:ext cx="2002536" cy="64008"/>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516368" y="1783080"/>
            <a:ext cx="384048" cy="38404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4</a:t>
            </a:r>
          </a:p>
        </p:txBody>
      </p:sp>
      <p:sp>
        <p:nvSpPr>
          <p:cNvPr id="29" name="TextBox 28"/>
          <p:cNvSpPr txBox="1"/>
          <p:nvPr/>
        </p:nvSpPr>
        <p:spPr>
          <a:xfrm>
            <a:off x="7973568" y="1755648"/>
            <a:ext cx="1371600" cy="457200"/>
          </a:xfrm>
          <a:prstGeom prst="rect">
            <a:avLst/>
          </a:prstGeom>
          <a:noFill/>
        </p:spPr>
        <p:txBody>
          <a:bodyPr wrap="square" lIns="45720" rIns="45720" tIns="27432" bIns="27432" anchor="ctr">
            <a:spAutoFit/>
          </a:bodyPr>
          <a:lstStyle/>
          <a:p>
            <a:pPr algn="l">
              <a:spcAft>
                <a:spcPts val="600"/>
              </a:spcAft>
            </a:pPr>
            <a:r>
              <a:rPr sz="1400" b="1" i="0">
                <a:solidFill>
                  <a:srgbClr val="1F2A44"/>
                </a:solidFill>
                <a:latin typeface="Georgia"/>
              </a:rPr>
              <a:t>Save change</a:t>
            </a:r>
          </a:p>
        </p:txBody>
      </p:sp>
      <p:sp>
        <p:nvSpPr>
          <p:cNvPr id="30" name="TextBox 29"/>
          <p:cNvSpPr txBox="1"/>
          <p:nvPr/>
        </p:nvSpPr>
        <p:spPr>
          <a:xfrm>
            <a:off x="7516368" y="2286000"/>
            <a:ext cx="1783080" cy="1280160"/>
          </a:xfrm>
          <a:prstGeom prst="rect">
            <a:avLst/>
          </a:prstGeom>
          <a:noFill/>
        </p:spPr>
        <p:txBody>
          <a:bodyPr wrap="square" lIns="45720" rIns="45720" tIns="27432" bIns="27432" anchor="t">
            <a:spAutoFit/>
          </a:bodyPr>
          <a:lstStyle/>
          <a:p>
            <a:pPr algn="l">
              <a:spcAft>
                <a:spcPts val="600"/>
              </a:spcAft>
            </a:pPr>
            <a:r>
              <a:rPr sz="1300" b="0" i="0">
                <a:solidFill>
                  <a:srgbClr val="241F14"/>
                </a:solidFill>
                <a:latin typeface="Calibri"/>
              </a:rPr>
              <a:t>A PATCH request updates the row where student_id = the original ID.</a:t>
            </a:r>
          </a:p>
        </p:txBody>
      </p:sp>
      <p:cxnSp>
        <p:nvCxnSpPr>
          <p:cNvPr id="31" name="Connector 30"/>
          <p:cNvCxnSpPr/>
          <p:nvPr/>
        </p:nvCxnSpPr>
        <p:spPr>
          <a:xfrm>
            <a:off x="9390888" y="2560320"/>
            <a:ext cx="265176" cy="0"/>
          </a:xfrm>
          <a:prstGeom prst="line">
            <a:avLst/>
          </a:prstGeom>
          <a:ln w="31750">
            <a:solidFill>
              <a:srgbClr val="A9792C"/>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9656064" y="1600200"/>
            <a:ext cx="2002536" cy="196596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656064" y="1600200"/>
            <a:ext cx="2002536" cy="64008"/>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9793224" y="1783080"/>
            <a:ext cx="384048" cy="38404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5</a:t>
            </a:r>
          </a:p>
        </p:txBody>
      </p:sp>
      <p:sp>
        <p:nvSpPr>
          <p:cNvPr id="35" name="TextBox 34"/>
          <p:cNvSpPr txBox="1"/>
          <p:nvPr/>
        </p:nvSpPr>
        <p:spPr>
          <a:xfrm>
            <a:off x="10250424" y="1755648"/>
            <a:ext cx="1371600" cy="457200"/>
          </a:xfrm>
          <a:prstGeom prst="rect">
            <a:avLst/>
          </a:prstGeom>
          <a:noFill/>
        </p:spPr>
        <p:txBody>
          <a:bodyPr wrap="square" lIns="45720" rIns="45720" tIns="27432" bIns="27432" anchor="ctr">
            <a:spAutoFit/>
          </a:bodyPr>
          <a:lstStyle/>
          <a:p>
            <a:pPr algn="l">
              <a:spcAft>
                <a:spcPts val="600"/>
              </a:spcAft>
            </a:pPr>
            <a:r>
              <a:rPr sz="1400" b="1" i="0">
                <a:solidFill>
                  <a:srgbClr val="1F2A44"/>
                </a:solidFill>
                <a:latin typeface="Georgia"/>
              </a:rPr>
              <a:t>Update table</a:t>
            </a:r>
          </a:p>
        </p:txBody>
      </p:sp>
      <p:sp>
        <p:nvSpPr>
          <p:cNvPr id="36" name="TextBox 35"/>
          <p:cNvSpPr txBox="1"/>
          <p:nvPr/>
        </p:nvSpPr>
        <p:spPr>
          <a:xfrm>
            <a:off x="9793224" y="2286000"/>
            <a:ext cx="1783080" cy="1280160"/>
          </a:xfrm>
          <a:prstGeom prst="rect">
            <a:avLst/>
          </a:prstGeom>
          <a:noFill/>
        </p:spPr>
        <p:txBody>
          <a:bodyPr wrap="square" lIns="45720" rIns="45720" tIns="27432" bIns="27432" anchor="t">
            <a:spAutoFit/>
          </a:bodyPr>
          <a:lstStyle/>
          <a:p>
            <a:pPr algn="l">
              <a:spcAft>
                <a:spcPts val="600"/>
              </a:spcAft>
            </a:pPr>
            <a:r>
              <a:rPr sz="1300" b="0" i="0">
                <a:solidFill>
                  <a:srgbClr val="241F14"/>
                </a:solidFill>
                <a:latin typeface="Calibri"/>
              </a:rPr>
              <a:t>Old row removed, updated row added, form reset.</a:t>
            </a:r>
          </a:p>
        </p:txBody>
      </p:sp>
      <p:pic>
        <p:nvPicPr>
          <p:cNvPr id="37" name="Picture 36" descr="table_crop.png"/>
          <p:cNvPicPr>
            <a:picLocks noChangeAspect="1"/>
          </p:cNvPicPr>
          <p:nvPr/>
        </p:nvPicPr>
        <p:blipFill>
          <a:blip r:embed="rId2"/>
          <a:stretch>
            <a:fillRect/>
          </a:stretch>
        </p:blipFill>
        <p:spPr>
          <a:xfrm>
            <a:off x="548640" y="3794760"/>
            <a:ext cx="6400800" cy="2377619"/>
          </a:xfrm>
          <a:prstGeom prst="rect">
            <a:avLst/>
          </a:prstGeom>
          <a:ln w="12700">
            <a:solidFill>
              <a:srgbClr val="C9BFA2"/>
            </a:solidFill>
          </a:ln>
        </p:spPr>
      </p:pic>
      <p:sp>
        <p:nvSpPr>
          <p:cNvPr id="38" name="Rounded Rectangle 37"/>
          <p:cNvSpPr/>
          <p:nvPr/>
        </p:nvSpPr>
        <p:spPr>
          <a:xfrm>
            <a:off x="7223760" y="3794760"/>
            <a:ext cx="4416552" cy="2377440"/>
          </a:xfrm>
          <a:prstGeom prst="roundRect">
            <a:avLst>
              <a:gd name="adj" fmla="val 4000"/>
            </a:avLst>
          </a:prstGeom>
          <a:solidFill>
            <a:srgbClr val="1B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406640" y="3931920"/>
            <a:ext cx="4050791" cy="2148839"/>
          </a:xfrm>
          <a:prstGeom prst="rect">
            <a:avLst/>
          </a:prstGeom>
          <a:noFill/>
        </p:spPr>
        <p:txBody>
          <a:bodyPr wrap="square" lIns="45720" rIns="45720" tIns="27432" bIns="27432" anchor="t">
            <a:spAutoFit/>
          </a:bodyPr>
          <a:lstStyle/>
          <a:p>
            <a:pPr algn="l">
              <a:lnSpc>
                <a:spcPct val="110000"/>
              </a:lnSpc>
              <a:spcAft>
                <a:spcPts val="0"/>
              </a:spcAft>
            </a:pPr>
            <a:r>
              <a:rPr sz="1200" b="0" i="0">
                <a:solidFill>
                  <a:srgbClr val="E8E2D0"/>
                </a:solidFill>
                <a:latin typeface="Consolas"/>
              </a:rPr>
              <a:t>let editingStudentId = null;</a:t>
            </a:r>
          </a:p>
          <a:p>
            <a:pPr algn="l">
              <a:lnSpc>
                <a:spcPct val="110000"/>
              </a:lnSpc>
              <a:spcAft>
                <a:spcPts val="0"/>
              </a:spcAft>
            </a:pPr>
            <a:r>
              <a:rPr sz="1200" b="0" i="1">
                <a:solidFill>
                  <a:srgbClr val="8FA3A0"/>
                </a:solidFill>
                <a:latin typeface="Consolas"/>
              </a:rPr>
              <a:t>// null       -&gt; we are ADDING</a:t>
            </a:r>
          </a:p>
          <a:p>
            <a:pPr algn="l">
              <a:lnSpc>
                <a:spcPct val="110000"/>
              </a:lnSpc>
              <a:spcAft>
                <a:spcPts val="0"/>
              </a:spcAft>
            </a:pPr>
            <a:r>
              <a:rPr sz="1200" b="0" i="1">
                <a:solidFill>
                  <a:srgbClr val="8FA3A0"/>
                </a:solidFill>
                <a:latin typeface="Consolas"/>
              </a:rPr>
              <a:t>// "21850024" -&gt; we are EDITING</a:t>
            </a:r>
          </a:p>
          <a:p>
            <a:pPr algn="l">
              <a:lnSpc>
                <a:spcPct val="110000"/>
              </a:lnSpc>
              <a:spcAft>
                <a:spcPts val="0"/>
              </a:spcAft>
            </a:pPr>
            <a:r>
              <a:rPr sz="1200" b="0" i="0">
                <a:solidFill>
                  <a:srgbClr val="E8E2D0"/>
                </a:solidFill>
                <a:latin typeface="Consolas"/>
              </a:rPr>
              <a:t> </a:t>
            </a:r>
          </a:p>
          <a:p>
            <a:pPr algn="l">
              <a:lnSpc>
                <a:spcPct val="110000"/>
              </a:lnSpc>
              <a:spcAft>
                <a:spcPts val="0"/>
              </a:spcAft>
            </a:pPr>
            <a:r>
              <a:rPr sz="1200" b="0" i="0">
                <a:solidFill>
                  <a:srgbClr val="E8E2D0"/>
                </a:solidFill>
                <a:latin typeface="Consolas"/>
              </a:rPr>
              <a:t>if (editingStudentId !== null) {</a:t>
            </a:r>
          </a:p>
          <a:p>
            <a:pPr algn="l">
              <a:lnSpc>
                <a:spcPct val="110000"/>
              </a:lnSpc>
              <a:spcAft>
                <a:spcPts val="0"/>
              </a:spcAft>
            </a:pPr>
            <a:r>
              <a:rPr sz="1200" b="0" i="0">
                <a:solidFill>
                  <a:srgbClr val="E8E2D0"/>
                </a:solidFill>
                <a:latin typeface="Consolas"/>
              </a:rPr>
              <a:t>  await updateStudentData(...); // PATCH</a:t>
            </a:r>
          </a:p>
          <a:p>
            <a:pPr algn="l">
              <a:lnSpc>
                <a:spcPct val="110000"/>
              </a:lnSpc>
              <a:spcAft>
                <a:spcPts val="0"/>
              </a:spcAft>
            </a:pPr>
            <a:r>
              <a:rPr sz="1200" b="0" i="0">
                <a:solidFill>
                  <a:srgbClr val="E8E2D0"/>
                </a:solidFill>
                <a:latin typeface="Consolas"/>
              </a:rPr>
              <a:t>} else {</a:t>
            </a:r>
          </a:p>
          <a:p>
            <a:pPr algn="l">
              <a:lnSpc>
                <a:spcPct val="110000"/>
              </a:lnSpc>
              <a:spcAft>
                <a:spcPts val="0"/>
              </a:spcAft>
            </a:pPr>
            <a:r>
              <a:rPr sz="1200" b="0" i="0">
                <a:solidFill>
                  <a:srgbClr val="E8E2D0"/>
                </a:solidFill>
                <a:latin typeface="Consolas"/>
              </a:rPr>
              <a:t>  await insertStudentData(...); // POST</a:t>
            </a:r>
          </a:p>
          <a:p>
            <a:pPr algn="l">
              <a:lnSpc>
                <a:spcPct val="110000"/>
              </a:lnSpc>
              <a:spcAft>
                <a:spcPts val="0"/>
              </a:spcAft>
            </a:pPr>
            <a:r>
              <a:rPr sz="1200" b="0" i="0">
                <a:solidFill>
                  <a:srgbClr val="E8E2D0"/>
                </a:solidFill>
                <a:latin typeface="Consolas"/>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REFLECTION</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Challenges and lessons learned</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14 / 16</a:t>
            </a:r>
          </a:p>
        </p:txBody>
      </p:sp>
      <p:sp>
        <p:nvSpPr>
          <p:cNvPr id="8" name="Rectangle 7"/>
          <p:cNvSpPr/>
          <p:nvPr/>
        </p:nvSpPr>
        <p:spPr>
          <a:xfrm>
            <a:off x="548640" y="1600200"/>
            <a:ext cx="11091672" cy="841248"/>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00200"/>
            <a:ext cx="64008" cy="841248"/>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77240" y="1801368"/>
            <a:ext cx="438912" cy="438912"/>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Georgia"/>
              </a:rPr>
              <a:t>1</a:t>
            </a:r>
          </a:p>
        </p:txBody>
      </p:sp>
      <p:sp>
        <p:nvSpPr>
          <p:cNvPr id="11" name="TextBox 10"/>
          <p:cNvSpPr txBox="1"/>
          <p:nvPr/>
        </p:nvSpPr>
        <p:spPr>
          <a:xfrm>
            <a:off x="1417320" y="1636776"/>
            <a:ext cx="10058400" cy="777240"/>
          </a:xfrm>
          <a:prstGeom prst="rect">
            <a:avLst/>
          </a:prstGeom>
          <a:noFill/>
        </p:spPr>
        <p:txBody>
          <a:bodyPr wrap="square" lIns="45720" rIns="45720" tIns="27432" bIns="27432" anchor="ctr">
            <a:spAutoFit/>
          </a:bodyPr>
          <a:lstStyle/>
          <a:p>
            <a:pPr algn="l">
              <a:spcAft>
                <a:spcPts val="100"/>
              </a:spcAft>
            </a:pPr>
            <a:r>
              <a:rPr sz="1600" b="1" i="0">
                <a:solidFill>
                  <a:srgbClr val="1F2A44"/>
                </a:solidFill>
                <a:latin typeface="Georgia"/>
              </a:rPr>
              <a:t>File paths must match</a:t>
            </a:r>
          </a:p>
          <a:p>
            <a:pPr algn="l">
              <a:spcAft>
                <a:spcPts val="100"/>
              </a:spcAft>
            </a:pPr>
            <a:r>
              <a:rPr sz="1300" b="0" i="0">
                <a:solidFill>
                  <a:srgbClr val="241F14"/>
                </a:solidFill>
                <a:latin typeface="Calibri"/>
              </a:rPr>
              <a:t>The HTML links /public/css/style.css, so the server must serve the folder under /public. A mismatch gives a silent 404 and an unstyled page.</a:t>
            </a:r>
          </a:p>
        </p:txBody>
      </p:sp>
      <p:sp>
        <p:nvSpPr>
          <p:cNvPr id="12" name="Rectangle 11"/>
          <p:cNvSpPr/>
          <p:nvPr/>
        </p:nvSpPr>
        <p:spPr>
          <a:xfrm>
            <a:off x="548640" y="2514600"/>
            <a:ext cx="11091672" cy="841248"/>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2514600"/>
            <a:ext cx="64008" cy="841248"/>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77240" y="2715768"/>
            <a:ext cx="438912" cy="438912"/>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Georgia"/>
              </a:rPr>
              <a:t>2</a:t>
            </a:r>
          </a:p>
        </p:txBody>
      </p:sp>
      <p:sp>
        <p:nvSpPr>
          <p:cNvPr id="15" name="TextBox 14"/>
          <p:cNvSpPr txBox="1"/>
          <p:nvPr/>
        </p:nvSpPr>
        <p:spPr>
          <a:xfrm>
            <a:off x="1417320" y="2551176"/>
            <a:ext cx="10058400" cy="777240"/>
          </a:xfrm>
          <a:prstGeom prst="rect">
            <a:avLst/>
          </a:prstGeom>
          <a:noFill/>
        </p:spPr>
        <p:txBody>
          <a:bodyPr wrap="square" lIns="45720" rIns="45720" tIns="27432" bIns="27432" anchor="ctr">
            <a:spAutoFit/>
          </a:bodyPr>
          <a:lstStyle/>
          <a:p>
            <a:pPr algn="l">
              <a:spcAft>
                <a:spcPts val="100"/>
              </a:spcAft>
            </a:pPr>
            <a:r>
              <a:rPr sz="1600" b="1" i="0">
                <a:solidFill>
                  <a:srgbClr val="1F2A44"/>
                </a:solidFill>
                <a:latin typeface="Georgia"/>
              </a:rPr>
              <a:t>Asynchronous code is tricky</a:t>
            </a:r>
          </a:p>
          <a:p>
            <a:pPr algn="l">
              <a:spcAft>
                <a:spcPts val="100"/>
              </a:spcAft>
            </a:pPr>
            <a:r>
              <a:rPr sz="1300" b="0" i="0">
                <a:solidFill>
                  <a:srgbClr val="241F14"/>
                </a:solidFill>
                <a:latin typeface="Calibri"/>
              </a:rPr>
              <a:t>Network calls take time. async/await with try/catch/finally keeps the page responsive and shows clear error messages.</a:t>
            </a:r>
          </a:p>
        </p:txBody>
      </p:sp>
      <p:sp>
        <p:nvSpPr>
          <p:cNvPr id="16" name="Rectangle 15"/>
          <p:cNvSpPr/>
          <p:nvPr/>
        </p:nvSpPr>
        <p:spPr>
          <a:xfrm>
            <a:off x="548640" y="3429000"/>
            <a:ext cx="11091672" cy="841248"/>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3429000"/>
            <a:ext cx="64008" cy="841248"/>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77240" y="3630168"/>
            <a:ext cx="438912" cy="438912"/>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Georgia"/>
              </a:rPr>
              <a:t>3</a:t>
            </a:r>
          </a:p>
        </p:txBody>
      </p:sp>
      <p:sp>
        <p:nvSpPr>
          <p:cNvPr id="19" name="TextBox 18"/>
          <p:cNvSpPr txBox="1"/>
          <p:nvPr/>
        </p:nvSpPr>
        <p:spPr>
          <a:xfrm>
            <a:off x="1417320" y="3465576"/>
            <a:ext cx="10058400" cy="777240"/>
          </a:xfrm>
          <a:prstGeom prst="rect">
            <a:avLst/>
          </a:prstGeom>
          <a:noFill/>
        </p:spPr>
        <p:txBody>
          <a:bodyPr wrap="square" lIns="45720" rIns="45720" tIns="27432" bIns="27432" anchor="ctr">
            <a:spAutoFit/>
          </a:bodyPr>
          <a:lstStyle/>
          <a:p>
            <a:pPr algn="l">
              <a:spcAft>
                <a:spcPts val="100"/>
              </a:spcAft>
            </a:pPr>
            <a:r>
              <a:rPr sz="1600" b="1" i="0">
                <a:solidFill>
                  <a:srgbClr val="1F2A44"/>
                </a:solidFill>
                <a:latin typeface="Georgia"/>
              </a:rPr>
              <a:t>Keep screen and database in sync</a:t>
            </a:r>
          </a:p>
          <a:p>
            <a:pPr algn="l">
              <a:spcAft>
                <a:spcPts val="100"/>
              </a:spcAft>
            </a:pPr>
            <a:r>
              <a:rPr sz="1300" b="0" i="0">
                <a:solidFill>
                  <a:srgbClr val="241F14"/>
                </a:solidFill>
                <a:latin typeface="Calibri"/>
              </a:rPr>
              <a:t>After every save or delete I update a local ID list and a row Map, so the table always matches the database without reloading.</a:t>
            </a:r>
          </a:p>
        </p:txBody>
      </p:sp>
      <p:sp>
        <p:nvSpPr>
          <p:cNvPr id="20" name="Rectangle 19"/>
          <p:cNvSpPr/>
          <p:nvPr/>
        </p:nvSpPr>
        <p:spPr>
          <a:xfrm>
            <a:off x="548640" y="4343400"/>
            <a:ext cx="11091672" cy="841248"/>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48640" y="4343400"/>
            <a:ext cx="64008" cy="841248"/>
          </a:xfrm>
          <a:prstGeom prst="rect">
            <a:avLst/>
          </a:prstGeom>
          <a:solidFill>
            <a:srgbClr val="9C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777240" y="4544568"/>
            <a:ext cx="438912" cy="438912"/>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Georgia"/>
              </a:rPr>
              <a:t>4</a:t>
            </a:r>
          </a:p>
        </p:txBody>
      </p:sp>
      <p:sp>
        <p:nvSpPr>
          <p:cNvPr id="23" name="TextBox 22"/>
          <p:cNvSpPr txBox="1"/>
          <p:nvPr/>
        </p:nvSpPr>
        <p:spPr>
          <a:xfrm>
            <a:off x="1417320" y="4379976"/>
            <a:ext cx="10058400" cy="777240"/>
          </a:xfrm>
          <a:prstGeom prst="rect">
            <a:avLst/>
          </a:prstGeom>
          <a:noFill/>
        </p:spPr>
        <p:txBody>
          <a:bodyPr wrap="square" lIns="45720" rIns="45720" tIns="27432" bIns="27432" anchor="ctr">
            <a:spAutoFit/>
          </a:bodyPr>
          <a:lstStyle/>
          <a:p>
            <a:pPr algn="l">
              <a:spcAft>
                <a:spcPts val="100"/>
              </a:spcAft>
            </a:pPr>
            <a:r>
              <a:rPr sz="1600" b="1" i="0">
                <a:solidFill>
                  <a:srgbClr val="1F2A44"/>
                </a:solidFill>
                <a:latin typeface="Georgia"/>
              </a:rPr>
              <a:t>Browser validation is not security</a:t>
            </a:r>
          </a:p>
          <a:p>
            <a:pPr algn="l">
              <a:spcAft>
                <a:spcPts val="100"/>
              </a:spcAft>
            </a:pPr>
            <a:r>
              <a:rPr sz="1300" b="0" i="0">
                <a:solidFill>
                  <a:srgbClr val="241F14"/>
                </a:solidFill>
                <a:latin typeface="Calibri"/>
              </a:rPr>
              <a:t>A user can bypass JavaScript checks. Real protection needs database rules (unique constraints, Row Level Security).</a:t>
            </a:r>
          </a:p>
        </p:txBody>
      </p:sp>
      <p:sp>
        <p:nvSpPr>
          <p:cNvPr id="24" name="Rectangle 23"/>
          <p:cNvSpPr/>
          <p:nvPr/>
        </p:nvSpPr>
        <p:spPr>
          <a:xfrm>
            <a:off x="548640" y="5257800"/>
            <a:ext cx="11091672" cy="841248"/>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8640" y="5257800"/>
            <a:ext cx="64008" cy="841248"/>
          </a:xfrm>
          <a:prstGeom prst="rect">
            <a:avLst/>
          </a:prstGeom>
          <a:solidFill>
            <a:srgbClr val="9C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77240" y="5458968"/>
            <a:ext cx="438912" cy="438912"/>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Georgia"/>
              </a:rPr>
              <a:t>5</a:t>
            </a:r>
          </a:p>
        </p:txBody>
      </p:sp>
      <p:sp>
        <p:nvSpPr>
          <p:cNvPr id="27" name="TextBox 26"/>
          <p:cNvSpPr txBox="1"/>
          <p:nvPr/>
        </p:nvSpPr>
        <p:spPr>
          <a:xfrm>
            <a:off x="1417320" y="5294376"/>
            <a:ext cx="10058400" cy="777240"/>
          </a:xfrm>
          <a:prstGeom prst="rect">
            <a:avLst/>
          </a:prstGeom>
          <a:noFill/>
        </p:spPr>
        <p:txBody>
          <a:bodyPr wrap="square" lIns="45720" rIns="45720" tIns="27432" bIns="27432" anchor="ctr">
            <a:spAutoFit/>
          </a:bodyPr>
          <a:lstStyle/>
          <a:p>
            <a:pPr algn="l">
              <a:spcAft>
                <a:spcPts val="100"/>
              </a:spcAft>
            </a:pPr>
            <a:r>
              <a:rPr sz="1600" b="1" i="0">
                <a:solidFill>
                  <a:srgbClr val="1F2A44"/>
                </a:solidFill>
                <a:latin typeface="Georgia"/>
              </a:rPr>
              <a:t>Public keys need care</a:t>
            </a:r>
          </a:p>
          <a:p>
            <a:pPr algn="l">
              <a:spcAft>
                <a:spcPts val="100"/>
              </a:spcAft>
            </a:pPr>
            <a:r>
              <a:rPr sz="1300" b="0" i="0">
                <a:solidFill>
                  <a:srgbClr val="241F14"/>
                </a:solidFill>
                <a:latin typeface="Calibri"/>
              </a:rPr>
              <a:t>The Supabase “anon” key is designed to be public, but only safe when Row Level Security policies are enabled. Never expose a service_role key.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EE7D6"/>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45720" rIns="45720" tIns="27432" bIns="27432" anchor="t">
            <a:spAutoFit/>
          </a:bodyPr>
          <a:lstStyle/>
          <a:p>
            <a:pPr algn="l">
              <a:spcAft>
                <a:spcPts val="600"/>
              </a:spcAft>
            </a:pPr>
            <a:r>
              <a:rPr sz="1200" b="1" i="0">
                <a:solidFill>
                  <a:srgbClr val="A9792C"/>
                </a:solidFill>
                <a:latin typeface="Calibri"/>
              </a:rPr>
              <a:t>NEXT STEPS</a:t>
            </a:r>
          </a:p>
        </p:txBody>
      </p:sp>
      <p:sp>
        <p:nvSpPr>
          <p:cNvPr id="3" name="TextBox 2"/>
          <p:cNvSpPr txBox="1"/>
          <p:nvPr/>
        </p:nvSpPr>
        <p:spPr>
          <a:xfrm>
            <a:off x="548640" y="548640"/>
            <a:ext cx="11064240" cy="731520"/>
          </a:xfrm>
          <a:prstGeom prst="rect">
            <a:avLst/>
          </a:prstGeom>
          <a:noFill/>
        </p:spPr>
        <p:txBody>
          <a:bodyPr wrap="square" lIns="45720" rIns="45720" tIns="27432" bIns="27432" anchor="t">
            <a:spAutoFit/>
          </a:bodyPr>
          <a:lstStyle/>
          <a:p>
            <a:pPr algn="l">
              <a:spcAft>
                <a:spcPts val="600"/>
              </a:spcAft>
            </a:pPr>
            <a:r>
              <a:rPr sz="3000" b="1" i="0">
                <a:solidFill>
                  <a:srgbClr val="1F2A44"/>
                </a:solidFill>
                <a:latin typeface="Georgia"/>
              </a:rPr>
              <a:t>Future improvements</a:t>
            </a:r>
          </a:p>
        </p:txBody>
      </p:sp>
      <p:sp>
        <p:nvSpPr>
          <p:cNvPr id="4" name="Rectangle 3"/>
          <p:cNvSpPr/>
          <p:nvPr/>
        </p:nvSpPr>
        <p:spPr>
          <a:xfrm>
            <a:off x="548640" y="1298448"/>
            <a:ext cx="11091672" cy="2286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344168"/>
            <a:ext cx="11091672" cy="1097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46520"/>
            <a:ext cx="7315200" cy="274320"/>
          </a:xfrm>
          <a:prstGeom prst="rect">
            <a:avLst/>
          </a:prstGeom>
          <a:noFill/>
        </p:spPr>
        <p:txBody>
          <a:bodyPr wrap="square" lIns="45720" rIns="45720" tIns="27432" bIns="27432" anchor="t">
            <a:spAutoFit/>
          </a:bodyPr>
          <a:lstStyle/>
          <a:p>
            <a:pPr algn="l">
              <a:spcAft>
                <a:spcPts val="600"/>
              </a:spcAft>
            </a:pPr>
            <a:r>
              <a:rPr sz="1000" b="0" i="0">
                <a:solidFill>
                  <a:srgbClr val="6B6250"/>
                </a:solidFill>
                <a:latin typeface="Calibri"/>
              </a:rPr>
              <a:t>Student Management System  ·  KNUST Registry</a:t>
            </a:r>
          </a:p>
        </p:txBody>
      </p:sp>
      <p:sp>
        <p:nvSpPr>
          <p:cNvPr id="7" name="TextBox 6"/>
          <p:cNvSpPr txBox="1"/>
          <p:nvPr/>
        </p:nvSpPr>
        <p:spPr>
          <a:xfrm>
            <a:off x="10241280" y="6446520"/>
            <a:ext cx="1399032" cy="274320"/>
          </a:xfrm>
          <a:prstGeom prst="rect">
            <a:avLst/>
          </a:prstGeom>
          <a:noFill/>
        </p:spPr>
        <p:txBody>
          <a:bodyPr wrap="square" lIns="45720" rIns="45720" tIns="27432" bIns="27432" anchor="t">
            <a:spAutoFit/>
          </a:bodyPr>
          <a:lstStyle/>
          <a:p>
            <a:pPr algn="r">
              <a:spcAft>
                <a:spcPts val="600"/>
              </a:spcAft>
            </a:pPr>
            <a:r>
              <a:rPr sz="1000" b="0" i="0">
                <a:solidFill>
                  <a:srgbClr val="6B6250"/>
                </a:solidFill>
                <a:latin typeface="Calibri"/>
              </a:rPr>
              <a:t>15 / 16</a:t>
            </a:r>
          </a:p>
        </p:txBody>
      </p:sp>
      <p:sp>
        <p:nvSpPr>
          <p:cNvPr id="8" name="Rectangle 7"/>
          <p:cNvSpPr/>
          <p:nvPr/>
        </p:nvSpPr>
        <p:spPr>
          <a:xfrm>
            <a:off x="548640" y="1645920"/>
            <a:ext cx="3566160" cy="38404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45920"/>
            <a:ext cx="3566160" cy="640080"/>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1645920"/>
            <a:ext cx="3200400" cy="640080"/>
          </a:xfrm>
          <a:prstGeom prst="rect">
            <a:avLst/>
          </a:prstGeom>
          <a:noFill/>
        </p:spPr>
        <p:txBody>
          <a:bodyPr wrap="square" lIns="45720" rIns="45720" tIns="27432" bIns="27432" anchor="ctr">
            <a:spAutoFit/>
          </a:bodyPr>
          <a:lstStyle/>
          <a:p>
            <a:pPr algn="l">
              <a:spcAft>
                <a:spcPts val="600"/>
              </a:spcAft>
            </a:pPr>
            <a:r>
              <a:rPr sz="2100" b="1" i="0">
                <a:solidFill>
                  <a:srgbClr val="FFFFFF"/>
                </a:solidFill>
                <a:latin typeface="Georgia"/>
              </a:rPr>
              <a:t>Quick wins</a:t>
            </a:r>
          </a:p>
        </p:txBody>
      </p:sp>
      <p:sp>
        <p:nvSpPr>
          <p:cNvPr id="11" name="TextBox 10"/>
          <p:cNvSpPr txBox="1"/>
          <p:nvPr/>
        </p:nvSpPr>
        <p:spPr>
          <a:xfrm>
            <a:off x="777240" y="2560320"/>
            <a:ext cx="3154680" cy="2834640"/>
          </a:xfrm>
          <a:prstGeom prst="rect">
            <a:avLst/>
          </a:prstGeom>
          <a:noFill/>
        </p:spPr>
        <p:txBody>
          <a:bodyPr wrap="square" lIns="45720" rIns="45720" tIns="27432" bIns="27432" anchor="t">
            <a:spAutoFit/>
          </a:bodyPr>
          <a:lstStyle/>
          <a:p>
            <a:pPr algn="l" marL="237744" indent="-237744">
              <a:spcAft>
                <a:spcPts val="1000"/>
              </a:spcAft>
              <a:buClr>
                <a:srgbClr val="2F6F62"/>
              </a:buClr>
              <a:buChar char="•"/>
            </a:pPr>
            <a:r>
              <a:rPr sz="1500" b="0" i="0">
                <a:solidFill>
                  <a:srgbClr val="241F14"/>
                </a:solidFill>
                <a:latin typeface="Calibri"/>
              </a:rPr>
              <a:t>Search and filter bar above the table</a:t>
            </a:r>
          </a:p>
          <a:p>
            <a:pPr algn="l" marL="237744" indent="-237744">
              <a:spcAft>
                <a:spcPts val="1000"/>
              </a:spcAft>
              <a:buClr>
                <a:srgbClr val="2F6F62"/>
              </a:buClr>
              <a:buChar char="•"/>
            </a:pPr>
            <a:r>
              <a:rPr sz="1500" b="0" i="0">
                <a:solidFill>
                  <a:srgbClr val="241F14"/>
                </a:solidFill>
                <a:latin typeface="Calibri"/>
              </a:rPr>
              <a:t>“Clear form” button</a:t>
            </a:r>
          </a:p>
          <a:p>
            <a:pPr algn="l" marL="237744" indent="-237744">
              <a:spcAft>
                <a:spcPts val="1000"/>
              </a:spcAft>
              <a:buClr>
                <a:srgbClr val="2F6F62"/>
              </a:buClr>
              <a:buChar char="•"/>
            </a:pPr>
            <a:r>
              <a:rPr sz="1500" b="0" i="0">
                <a:solidFill>
                  <a:srgbClr val="241F14"/>
                </a:solidFill>
                <a:latin typeface="Calibri"/>
              </a:rPr>
              <a:t>Export the register to CSV</a:t>
            </a:r>
          </a:p>
          <a:p>
            <a:pPr algn="l" marL="237744" indent="-237744">
              <a:spcAft>
                <a:spcPts val="1000"/>
              </a:spcAft>
              <a:buClr>
                <a:srgbClr val="2F6F62"/>
              </a:buClr>
              <a:buChar char="•"/>
            </a:pPr>
            <a:r>
              <a:rPr sz="1500" b="0" i="0">
                <a:solidFill>
                  <a:srgbClr val="241F14"/>
                </a:solidFill>
                <a:latin typeface="Calibri"/>
              </a:rPr>
              <a:t>Friendly toast messages instead of pop-ups</a:t>
            </a:r>
          </a:p>
        </p:txBody>
      </p:sp>
      <p:sp>
        <p:nvSpPr>
          <p:cNvPr id="12" name="Rectangle 11"/>
          <p:cNvSpPr/>
          <p:nvPr/>
        </p:nvSpPr>
        <p:spPr>
          <a:xfrm>
            <a:off x="4311396" y="1645920"/>
            <a:ext cx="3566160" cy="38404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11396" y="1645920"/>
            <a:ext cx="3566160" cy="64008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94276" y="1645920"/>
            <a:ext cx="3200400" cy="640080"/>
          </a:xfrm>
          <a:prstGeom prst="rect">
            <a:avLst/>
          </a:prstGeom>
          <a:noFill/>
        </p:spPr>
        <p:txBody>
          <a:bodyPr wrap="square" lIns="45720" rIns="45720" tIns="27432" bIns="27432" anchor="ctr">
            <a:spAutoFit/>
          </a:bodyPr>
          <a:lstStyle/>
          <a:p>
            <a:pPr algn="l">
              <a:spcAft>
                <a:spcPts val="600"/>
              </a:spcAft>
            </a:pPr>
            <a:r>
              <a:rPr sz="2100" b="1" i="0">
                <a:solidFill>
                  <a:srgbClr val="FFFFFF"/>
                </a:solidFill>
                <a:latin typeface="Georgia"/>
              </a:rPr>
              <a:t>Medium term</a:t>
            </a:r>
          </a:p>
        </p:txBody>
      </p:sp>
      <p:sp>
        <p:nvSpPr>
          <p:cNvPr id="15" name="TextBox 14"/>
          <p:cNvSpPr txBox="1"/>
          <p:nvPr/>
        </p:nvSpPr>
        <p:spPr>
          <a:xfrm>
            <a:off x="4539996" y="2560320"/>
            <a:ext cx="3154680" cy="2834640"/>
          </a:xfrm>
          <a:prstGeom prst="rect">
            <a:avLst/>
          </a:prstGeom>
          <a:noFill/>
        </p:spPr>
        <p:txBody>
          <a:bodyPr wrap="square" lIns="45720" rIns="45720" tIns="27432" bIns="27432" anchor="t">
            <a:spAutoFit/>
          </a:bodyPr>
          <a:lstStyle/>
          <a:p>
            <a:pPr algn="l" marL="237744" indent="-237744">
              <a:spcAft>
                <a:spcPts val="1000"/>
              </a:spcAft>
              <a:buClr>
                <a:srgbClr val="A9792C"/>
              </a:buClr>
              <a:buChar char="•"/>
            </a:pPr>
            <a:r>
              <a:rPr sz="1500" b="0" i="0">
                <a:solidFill>
                  <a:srgbClr val="241F14"/>
                </a:solidFill>
                <a:latin typeface="Calibri"/>
              </a:rPr>
              <a:t>Pagination and column sorting</a:t>
            </a:r>
          </a:p>
          <a:p>
            <a:pPr algn="l" marL="237744" indent="-237744">
              <a:spcAft>
                <a:spcPts val="1000"/>
              </a:spcAft>
              <a:buClr>
                <a:srgbClr val="A9792C"/>
              </a:buClr>
              <a:buChar char="•"/>
            </a:pPr>
            <a:r>
              <a:rPr sz="1500" b="0" i="0">
                <a:solidFill>
                  <a:srgbClr val="241F14"/>
                </a:solidFill>
                <a:latin typeface="Calibri"/>
              </a:rPr>
              <a:t>Automated tests for validation logic</a:t>
            </a:r>
          </a:p>
          <a:p>
            <a:pPr algn="l" marL="237744" indent="-237744">
              <a:spcAft>
                <a:spcPts val="1000"/>
              </a:spcAft>
              <a:buClr>
                <a:srgbClr val="A9792C"/>
              </a:buClr>
              <a:buChar char="•"/>
            </a:pPr>
            <a:r>
              <a:rPr sz="1500" b="0" i="0">
                <a:solidFill>
                  <a:srgbClr val="241F14"/>
                </a:solidFill>
                <a:latin typeface="Calibri"/>
              </a:rPr>
              <a:t>Move settings into an environment file</a:t>
            </a:r>
          </a:p>
          <a:p>
            <a:pPr algn="l" marL="237744" indent="-237744">
              <a:spcAft>
                <a:spcPts val="1000"/>
              </a:spcAft>
              <a:buClr>
                <a:srgbClr val="A9792C"/>
              </a:buClr>
              <a:buChar char="•"/>
            </a:pPr>
            <a:r>
              <a:rPr sz="1500" b="0" i="0">
                <a:solidFill>
                  <a:srgbClr val="241F14"/>
                </a:solidFill>
                <a:latin typeface="Calibri"/>
              </a:rPr>
              <a:t>Database constraints: unique student_id</a:t>
            </a:r>
          </a:p>
        </p:txBody>
      </p:sp>
      <p:sp>
        <p:nvSpPr>
          <p:cNvPr id="16" name="Rectangle 15"/>
          <p:cNvSpPr/>
          <p:nvPr/>
        </p:nvSpPr>
        <p:spPr>
          <a:xfrm>
            <a:off x="8074152" y="1645920"/>
            <a:ext cx="3566160" cy="3840480"/>
          </a:xfrm>
          <a:prstGeom prst="rect">
            <a:avLst/>
          </a:prstGeom>
          <a:solidFill>
            <a:srgbClr val="FBF8F0"/>
          </a:solidFill>
          <a:ln w="12700">
            <a:solidFill>
              <a:srgbClr val="C9BF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74152" y="1645920"/>
            <a:ext cx="3566160" cy="640080"/>
          </a:xfrm>
          <a:prstGeom prst="rect">
            <a:avLst/>
          </a:prstGeom>
          <a:solidFill>
            <a:srgbClr val="3C46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57031" y="1645920"/>
            <a:ext cx="3200400" cy="640080"/>
          </a:xfrm>
          <a:prstGeom prst="rect">
            <a:avLst/>
          </a:prstGeom>
          <a:noFill/>
        </p:spPr>
        <p:txBody>
          <a:bodyPr wrap="square" lIns="45720" rIns="45720" tIns="27432" bIns="27432" anchor="ctr">
            <a:spAutoFit/>
          </a:bodyPr>
          <a:lstStyle/>
          <a:p>
            <a:pPr algn="l">
              <a:spcAft>
                <a:spcPts val="600"/>
              </a:spcAft>
            </a:pPr>
            <a:r>
              <a:rPr sz="2100" b="1" i="0">
                <a:solidFill>
                  <a:srgbClr val="FFFFFF"/>
                </a:solidFill>
                <a:latin typeface="Georgia"/>
              </a:rPr>
              <a:t>Long term</a:t>
            </a:r>
          </a:p>
        </p:txBody>
      </p:sp>
      <p:sp>
        <p:nvSpPr>
          <p:cNvPr id="19" name="TextBox 18"/>
          <p:cNvSpPr txBox="1"/>
          <p:nvPr/>
        </p:nvSpPr>
        <p:spPr>
          <a:xfrm>
            <a:off x="8302752" y="2560320"/>
            <a:ext cx="3154680" cy="2834640"/>
          </a:xfrm>
          <a:prstGeom prst="rect">
            <a:avLst/>
          </a:prstGeom>
          <a:noFill/>
        </p:spPr>
        <p:txBody>
          <a:bodyPr wrap="square" lIns="45720" rIns="45720" tIns="27432" bIns="27432" anchor="t">
            <a:spAutoFit/>
          </a:bodyPr>
          <a:lstStyle/>
          <a:p>
            <a:pPr algn="l" marL="237744" indent="-237744">
              <a:spcAft>
                <a:spcPts val="1000"/>
              </a:spcAft>
              <a:buClr>
                <a:srgbClr val="3C4664"/>
              </a:buClr>
              <a:buChar char="•"/>
            </a:pPr>
            <a:r>
              <a:rPr sz="1500" b="0" i="0">
                <a:solidFill>
                  <a:srgbClr val="241F14"/>
                </a:solidFill>
                <a:latin typeface="Calibri"/>
              </a:rPr>
              <a:t>Staff login with Supabase Auth</a:t>
            </a:r>
          </a:p>
          <a:p>
            <a:pPr algn="l" marL="237744" indent="-237744">
              <a:spcAft>
                <a:spcPts val="1000"/>
              </a:spcAft>
              <a:buClr>
                <a:srgbClr val="3C4664"/>
              </a:buClr>
              <a:buChar char="•"/>
            </a:pPr>
            <a:r>
              <a:rPr sz="1500" b="0" i="0">
                <a:solidFill>
                  <a:srgbClr val="241F14"/>
                </a:solidFill>
                <a:latin typeface="Calibri"/>
              </a:rPr>
              <a:t>Row Level Security policies per role</a:t>
            </a:r>
          </a:p>
          <a:p>
            <a:pPr algn="l" marL="237744" indent="-237744">
              <a:spcAft>
                <a:spcPts val="1000"/>
              </a:spcAft>
              <a:buClr>
                <a:srgbClr val="3C4664"/>
              </a:buClr>
              <a:buChar char="•"/>
            </a:pPr>
            <a:r>
              <a:rPr sz="1500" b="0" i="0">
                <a:solidFill>
                  <a:srgbClr val="241F14"/>
                </a:solidFill>
                <a:latin typeface="Calibri"/>
              </a:rPr>
              <a:t>Programmes loaded from the database</a:t>
            </a:r>
          </a:p>
          <a:p>
            <a:pPr algn="l" marL="237744" indent="-237744">
              <a:spcAft>
                <a:spcPts val="1000"/>
              </a:spcAft>
              <a:buClr>
                <a:srgbClr val="3C4664"/>
              </a:buClr>
              <a:buChar char="•"/>
            </a:pPr>
            <a:r>
              <a:rPr sz="1500" b="0" i="0">
                <a:solidFill>
                  <a:srgbClr val="241F14"/>
                </a:solidFill>
                <a:latin typeface="Calibri"/>
              </a:rPr>
              <a:t>Deploy online (Render, Netlify or Vercel)</a:t>
            </a:r>
          </a:p>
        </p:txBody>
      </p:sp>
      <p:sp>
        <p:nvSpPr>
          <p:cNvPr id="20" name="Rectangle 19"/>
          <p:cNvSpPr/>
          <p:nvPr/>
        </p:nvSpPr>
        <p:spPr>
          <a:xfrm>
            <a:off x="548640" y="5669280"/>
            <a:ext cx="11091672" cy="594360"/>
          </a:xfrm>
          <a:prstGeom prst="rect">
            <a:avLst/>
          </a:prstGeom>
          <a:solidFill>
            <a:srgbClr val="2F6F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31520" y="5669280"/>
            <a:ext cx="10789920" cy="594360"/>
          </a:xfrm>
          <a:prstGeom prst="rect">
            <a:avLst/>
          </a:prstGeom>
          <a:noFill/>
        </p:spPr>
        <p:txBody>
          <a:bodyPr wrap="square" lIns="45720" rIns="45720" tIns="27432" bIns="27432" anchor="ctr">
            <a:spAutoFit/>
          </a:bodyPr>
          <a:lstStyle/>
          <a:p>
            <a:pPr algn="l">
              <a:spcAft>
                <a:spcPts val="600"/>
              </a:spcAft>
            </a:pPr>
            <a:r>
              <a:rPr sz="1600" b="1" i="0">
                <a:solidFill>
                  <a:srgbClr val="FFFFFF"/>
                </a:solidFill>
                <a:latin typeface="Calibri"/>
              </a:rPr>
              <a:t>Starter challenges with step-by-step hints are in docs/INTERN_ONBOARDING_GUIDE.md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1097280"/>
            <a:ext cx="5120640" cy="914400"/>
          </a:xfrm>
          <a:prstGeom prst="rect">
            <a:avLst/>
          </a:prstGeom>
          <a:noFill/>
        </p:spPr>
        <p:txBody>
          <a:bodyPr wrap="square" lIns="45720" rIns="45720" tIns="27432" bIns="27432" anchor="t">
            <a:spAutoFit/>
          </a:bodyPr>
          <a:lstStyle/>
          <a:p>
            <a:pPr algn="l">
              <a:spcAft>
                <a:spcPts val="600"/>
              </a:spcAft>
            </a:pPr>
            <a:r>
              <a:rPr sz="5000" b="1" i="0">
                <a:solidFill>
                  <a:srgbClr val="EEE7D6"/>
                </a:solidFill>
                <a:latin typeface="Georgia"/>
              </a:rPr>
              <a:t>Thank you</a:t>
            </a:r>
          </a:p>
        </p:txBody>
      </p:sp>
      <p:sp>
        <p:nvSpPr>
          <p:cNvPr id="4" name="Rectangle 3"/>
          <p:cNvSpPr/>
          <p:nvPr/>
        </p:nvSpPr>
        <p:spPr>
          <a:xfrm>
            <a:off x="914400" y="2103120"/>
            <a:ext cx="2194560" cy="27432"/>
          </a:xfrm>
          <a:prstGeom prst="rect">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377440"/>
            <a:ext cx="4937760" cy="731520"/>
          </a:xfrm>
          <a:prstGeom prst="rect">
            <a:avLst/>
          </a:prstGeom>
          <a:noFill/>
        </p:spPr>
        <p:txBody>
          <a:bodyPr wrap="square" lIns="45720" rIns="45720" tIns="27432" bIns="27432" anchor="t">
            <a:spAutoFit/>
          </a:bodyPr>
          <a:lstStyle/>
          <a:p>
            <a:pPr algn="l">
              <a:spcAft>
                <a:spcPts val="600"/>
              </a:spcAft>
            </a:pPr>
            <a:r>
              <a:rPr sz="3200" b="0" i="0">
                <a:solidFill>
                  <a:srgbClr val="A9792C"/>
                </a:solidFill>
                <a:latin typeface="Georgia"/>
              </a:rPr>
              <a:t>Questions?</a:t>
            </a:r>
          </a:p>
        </p:txBody>
      </p:sp>
      <p:sp>
        <p:nvSpPr>
          <p:cNvPr id="6" name="TextBox 5"/>
          <p:cNvSpPr txBox="1"/>
          <p:nvPr/>
        </p:nvSpPr>
        <p:spPr>
          <a:xfrm>
            <a:off x="914400" y="3383280"/>
            <a:ext cx="4937760" cy="1371600"/>
          </a:xfrm>
          <a:prstGeom prst="rect">
            <a:avLst/>
          </a:prstGeom>
          <a:noFill/>
        </p:spPr>
        <p:txBody>
          <a:bodyPr wrap="square" lIns="45720" rIns="45720" tIns="27432" bIns="27432" anchor="t">
            <a:spAutoFit/>
          </a:bodyPr>
          <a:lstStyle/>
          <a:p>
            <a:pPr algn="l">
              <a:spcAft>
                <a:spcPts val="600"/>
              </a:spcAft>
            </a:pPr>
            <a:r>
              <a:rPr sz="1600" b="0" i="0">
                <a:solidFill>
                  <a:srgbClr val="C9BFA2"/>
                </a:solidFill>
                <a:latin typeface="Calibri"/>
              </a:rPr>
              <a:t>Try it yourself in four commands. Every file is commented for beginners.</a:t>
            </a:r>
          </a:p>
        </p:txBody>
      </p:sp>
      <p:sp>
        <p:nvSpPr>
          <p:cNvPr id="7" name="TextBox 6"/>
          <p:cNvSpPr txBox="1"/>
          <p:nvPr/>
        </p:nvSpPr>
        <p:spPr>
          <a:xfrm>
            <a:off x="914400" y="5029200"/>
            <a:ext cx="5029200" cy="320040"/>
          </a:xfrm>
          <a:prstGeom prst="rect">
            <a:avLst/>
          </a:prstGeom>
          <a:noFill/>
        </p:spPr>
        <p:txBody>
          <a:bodyPr wrap="square" lIns="45720" rIns="45720" tIns="27432" bIns="27432" anchor="t">
            <a:spAutoFit/>
          </a:bodyPr>
          <a:lstStyle/>
          <a:p>
            <a:pPr algn="l">
              <a:spcAft>
                <a:spcPts val="600"/>
              </a:spcAft>
            </a:pPr>
            <a:r>
              <a:rPr sz="1300" b="1" i="0">
                <a:solidFill>
                  <a:srgbClr val="A9792C"/>
                </a:solidFill>
                <a:latin typeface="Calibri"/>
              </a:rPr>
              <a:t>GitHub repository</a:t>
            </a:r>
          </a:p>
        </p:txBody>
      </p:sp>
      <p:sp>
        <p:nvSpPr>
          <p:cNvPr id="8" name="TextBox 7"/>
          <p:cNvSpPr txBox="1"/>
          <p:nvPr/>
        </p:nvSpPr>
        <p:spPr>
          <a:xfrm>
            <a:off x="914400" y="5349240"/>
            <a:ext cx="5212080" cy="822960"/>
          </a:xfrm>
          <a:prstGeom prst="rect">
            <a:avLst/>
          </a:prstGeom>
          <a:noFill/>
        </p:spPr>
        <p:txBody>
          <a:bodyPr wrap="square" lIns="45720" rIns="45720" tIns="27432" bIns="27432" anchor="t">
            <a:spAutoFit/>
          </a:bodyPr>
          <a:lstStyle/>
          <a:p>
            <a:pPr algn="l">
              <a:spcAft>
                <a:spcPts val="600"/>
              </a:spcAft>
            </a:pPr>
            <a:r>
              <a:rPr sz="1500" b="0" i="0">
                <a:solidFill>
                  <a:srgbClr val="EEE7D6"/>
                </a:solidFill>
                <a:latin typeface="Consolas"/>
              </a:rPr>
              <a:t>github.com/acheampongmaamary/
student-management-system</a:t>
            </a:r>
          </a:p>
        </p:txBody>
      </p:sp>
      <p:sp>
        <p:nvSpPr>
          <p:cNvPr id="9" name="Rounded Rectangle 8"/>
          <p:cNvSpPr/>
          <p:nvPr/>
        </p:nvSpPr>
        <p:spPr>
          <a:xfrm>
            <a:off x="6400800" y="1097280"/>
            <a:ext cx="5257800" cy="3931920"/>
          </a:xfrm>
          <a:prstGeom prst="roundRect">
            <a:avLst>
              <a:gd name="adj" fmla="val 4000"/>
            </a:avLst>
          </a:prstGeom>
          <a:solidFill>
            <a:srgbClr val="1B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583680" y="1234439"/>
            <a:ext cx="1645920" cy="256032"/>
          </a:xfrm>
          <a:prstGeom prst="roundRect">
            <a:avLst>
              <a:gd name="adj" fmla="val 50000"/>
            </a:avLst>
          </a:prstGeom>
          <a:solidFill>
            <a:srgbClr val="A9792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FFFFFF"/>
                </a:solidFill>
                <a:latin typeface="Consolas"/>
              </a:rPr>
              <a:t>run it locally</a:t>
            </a:r>
          </a:p>
        </p:txBody>
      </p:sp>
      <p:sp>
        <p:nvSpPr>
          <p:cNvPr id="11" name="TextBox 10"/>
          <p:cNvSpPr txBox="1"/>
          <p:nvPr/>
        </p:nvSpPr>
        <p:spPr>
          <a:xfrm>
            <a:off x="6583680" y="1600200"/>
            <a:ext cx="4892040" cy="3337560"/>
          </a:xfrm>
          <a:prstGeom prst="rect">
            <a:avLst/>
          </a:prstGeom>
          <a:noFill/>
        </p:spPr>
        <p:txBody>
          <a:bodyPr wrap="square" lIns="45720" rIns="45720" tIns="27432" bIns="27432" anchor="t">
            <a:spAutoFit/>
          </a:bodyPr>
          <a:lstStyle/>
          <a:p>
            <a:pPr algn="l">
              <a:lnSpc>
                <a:spcPct val="110000"/>
              </a:lnSpc>
              <a:spcAft>
                <a:spcPts val="0"/>
              </a:spcAft>
            </a:pPr>
            <a:r>
              <a:rPr sz="1300" b="0" i="0">
                <a:solidFill>
                  <a:srgbClr val="E8E2D0"/>
                </a:solidFill>
                <a:latin typeface="Consolas"/>
              </a:rPr>
              <a:t># 1. Get the code</a:t>
            </a:r>
          </a:p>
          <a:p>
            <a:pPr algn="l">
              <a:lnSpc>
                <a:spcPct val="110000"/>
              </a:lnSpc>
              <a:spcAft>
                <a:spcPts val="0"/>
              </a:spcAft>
            </a:pPr>
            <a:r>
              <a:rPr sz="1300" b="0" i="0">
                <a:solidFill>
                  <a:srgbClr val="E8E2D0"/>
                </a:solidFill>
                <a:latin typeface="Consolas"/>
              </a:rPr>
              <a:t>git clone https://github.com/acheampongmaamary/</a:t>
            </a:r>
          </a:p>
          <a:p>
            <a:pPr algn="l">
              <a:lnSpc>
                <a:spcPct val="110000"/>
              </a:lnSpc>
              <a:spcAft>
                <a:spcPts val="0"/>
              </a:spcAft>
            </a:pPr>
            <a:r>
              <a:rPr sz="1300" b="0" i="0">
                <a:solidFill>
                  <a:srgbClr val="E8E2D0"/>
                </a:solidFill>
                <a:latin typeface="Consolas"/>
              </a:rPr>
              <a:t>          student-management-system.git</a:t>
            </a:r>
          </a:p>
          <a:p>
            <a:pPr algn="l">
              <a:lnSpc>
                <a:spcPct val="110000"/>
              </a:lnSpc>
              <a:spcAft>
                <a:spcPts val="0"/>
              </a:spcAft>
            </a:pPr>
            <a:r>
              <a:rPr sz="1300" b="0" i="0">
                <a:solidFill>
                  <a:srgbClr val="E8E2D0"/>
                </a:solidFill>
                <a:latin typeface="Consolas"/>
              </a:rPr>
              <a:t>cd student-management-system</a:t>
            </a:r>
          </a:p>
          <a:p>
            <a:pPr algn="l">
              <a:lnSpc>
                <a:spcPct val="110000"/>
              </a:lnSpc>
              <a:spcAft>
                <a:spcPts val="0"/>
              </a:spcAft>
            </a:pPr>
            <a:r>
              <a:rPr sz="1300" b="0" i="0">
                <a:solidFill>
                  <a:srgbClr val="E8E2D0"/>
                </a:solidFill>
                <a:latin typeface="Consolas"/>
              </a:rPr>
              <a:t> </a:t>
            </a:r>
          </a:p>
          <a:p>
            <a:pPr algn="l">
              <a:lnSpc>
                <a:spcPct val="110000"/>
              </a:lnSpc>
              <a:spcAft>
                <a:spcPts val="0"/>
              </a:spcAft>
            </a:pPr>
            <a:r>
              <a:rPr sz="1300" b="0" i="0">
                <a:solidFill>
                  <a:srgbClr val="E8E2D0"/>
                </a:solidFill>
                <a:latin typeface="Consolas"/>
              </a:rPr>
              <a:t># 2. Install dependencies (Express)</a:t>
            </a:r>
          </a:p>
          <a:p>
            <a:pPr algn="l">
              <a:lnSpc>
                <a:spcPct val="110000"/>
              </a:lnSpc>
              <a:spcAft>
                <a:spcPts val="0"/>
              </a:spcAft>
            </a:pPr>
            <a:r>
              <a:rPr sz="1300" b="0" i="0">
                <a:solidFill>
                  <a:srgbClr val="E8E2D0"/>
                </a:solidFill>
                <a:latin typeface="Consolas"/>
              </a:rPr>
              <a:t>npm install</a:t>
            </a:r>
          </a:p>
          <a:p>
            <a:pPr algn="l">
              <a:lnSpc>
                <a:spcPct val="110000"/>
              </a:lnSpc>
              <a:spcAft>
                <a:spcPts val="0"/>
              </a:spcAft>
            </a:pPr>
            <a:r>
              <a:rPr sz="1300" b="0" i="0">
                <a:solidFill>
                  <a:srgbClr val="E8E2D0"/>
                </a:solidFill>
                <a:latin typeface="Consolas"/>
              </a:rPr>
              <a:t> </a:t>
            </a:r>
          </a:p>
          <a:p>
            <a:pPr algn="l">
              <a:lnSpc>
                <a:spcPct val="110000"/>
              </a:lnSpc>
              <a:spcAft>
                <a:spcPts val="0"/>
              </a:spcAft>
            </a:pPr>
            <a:r>
              <a:rPr sz="1300" b="0" i="0">
                <a:solidFill>
                  <a:srgbClr val="E8E2D0"/>
                </a:solidFill>
                <a:latin typeface="Consolas"/>
              </a:rPr>
              <a:t># 3. Start the server</a:t>
            </a:r>
          </a:p>
          <a:p>
            <a:pPr algn="l">
              <a:lnSpc>
                <a:spcPct val="110000"/>
              </a:lnSpc>
              <a:spcAft>
                <a:spcPts val="0"/>
              </a:spcAft>
            </a:pPr>
            <a:r>
              <a:rPr sz="1300" b="0" i="0">
                <a:solidFill>
                  <a:srgbClr val="E8E2D0"/>
                </a:solidFill>
                <a:latin typeface="Consolas"/>
              </a:rPr>
              <a:t>npm start</a:t>
            </a:r>
          </a:p>
          <a:p>
            <a:pPr algn="l">
              <a:lnSpc>
                <a:spcPct val="110000"/>
              </a:lnSpc>
              <a:spcAft>
                <a:spcPts val="0"/>
              </a:spcAft>
            </a:pPr>
            <a:r>
              <a:rPr sz="1300" b="0" i="0">
                <a:solidFill>
                  <a:srgbClr val="E8E2D0"/>
                </a:solidFill>
                <a:latin typeface="Consolas"/>
              </a:rPr>
              <a:t> </a:t>
            </a:r>
          </a:p>
          <a:p>
            <a:pPr algn="l">
              <a:lnSpc>
                <a:spcPct val="110000"/>
              </a:lnSpc>
              <a:spcAft>
                <a:spcPts val="0"/>
              </a:spcAft>
            </a:pPr>
            <a:r>
              <a:rPr sz="1300" b="0" i="0">
                <a:solidFill>
                  <a:srgbClr val="E8E2D0"/>
                </a:solidFill>
                <a:latin typeface="Consolas"/>
              </a:rPr>
              <a:t># 4. Open in your browser</a:t>
            </a:r>
          </a:p>
          <a:p>
            <a:pPr algn="l">
              <a:lnSpc>
                <a:spcPct val="110000"/>
              </a:lnSpc>
              <a:spcAft>
                <a:spcPts val="0"/>
              </a:spcAft>
            </a:pPr>
            <a:r>
              <a:rPr sz="1300" b="0" i="0">
                <a:solidFill>
                  <a:srgbClr val="E8E2D0"/>
                </a:solidFill>
                <a:latin typeface="Consolas"/>
              </a:rPr>
              <a:t>http://localhost:3000</a:t>
            </a:r>
          </a:p>
        </p:txBody>
      </p:sp>
      <p:sp>
        <p:nvSpPr>
          <p:cNvPr id="12" name="TextBox 11"/>
          <p:cNvSpPr txBox="1"/>
          <p:nvPr/>
        </p:nvSpPr>
        <p:spPr>
          <a:xfrm>
            <a:off x="6400800" y="5257800"/>
            <a:ext cx="5257800" cy="822960"/>
          </a:xfrm>
          <a:prstGeom prst="rect">
            <a:avLst/>
          </a:prstGeom>
          <a:noFill/>
        </p:spPr>
        <p:txBody>
          <a:bodyPr wrap="square" lIns="45720" rIns="45720" tIns="27432" bIns="27432" anchor="t">
            <a:spAutoFit/>
          </a:bodyPr>
          <a:lstStyle/>
          <a:p>
            <a:pPr algn="l">
              <a:spcAft>
                <a:spcPts val="600"/>
              </a:spcAft>
            </a:pPr>
            <a:r>
              <a:rPr sz="1300" b="0" i="0">
                <a:solidFill>
                  <a:srgbClr val="C9BFA2"/>
                </a:solidFill>
                <a:latin typeface="Calibri"/>
              </a:rPr>
              <a:t>Requires Node.js (nodejs.org). Press Ctrl + C in the terminal to stop the server.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