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Raleway ExtraBold"/>
      <p:bold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font" Target="fonts/Raleway-regular.fntdata"/><Relationship Id="rId16" Type="http://schemas.openxmlformats.org/officeDocument/2006/relationships/font" Target="fonts/Raleway-bold.fntdata"/><Relationship Id="rId17" Type="http://schemas.openxmlformats.org/officeDocument/2006/relationships/font" Target="fonts/Raleway-italic.fntdata"/><Relationship Id="rId18" Type="http://schemas.openxmlformats.org/officeDocument/2006/relationships/font" Target="fonts/Raleway-boldItalic.fntdata"/><Relationship Id="rId19" Type="http://schemas.openxmlformats.org/officeDocument/2006/relationships/font" Target="fonts/RalewayExtraBold-bold.fntdata"/><Relationship Id="rId20" Type="http://schemas.openxmlformats.org/officeDocument/2006/relationships/font" Target="fonts/RalewayExtraBold-boldItalic.fntdata"/><Relationship Id="rId21" Type="http://schemas.openxmlformats.org/officeDocument/2006/relationships/font" Target="fonts/Lato-regular.fntdata"/><Relationship Id="rId22" Type="http://schemas.openxmlformats.org/officeDocument/2006/relationships/font" Target="fonts/Lato-bold.fntdata"/><Relationship Id="rId23" Type="http://schemas.openxmlformats.org/officeDocument/2006/relationships/font" Target="fonts/Lato-italic.fntdata"/><Relationship Id="rId24" Type="http://schemas.openxmlformats.org/officeDocument/2006/relationships/font" Target="fonts/La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h5a12f9444e589f05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h5a12f9444e589f05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5a12f9444e589f05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h5a12f9444e589f05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h5a12f9444e589f05_1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h5a12f9444e589f05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h79d543cef4fe5a4b_0_293: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h79d543cef4fe5a4b_0_29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[~1 minute]</a:t>
            </a:r>
            <a:endParaRPr/>
          </a:p>
          <a:p>
            <a:pPr indent="0" lvl="0" marL="0" rtl="0" algn="l">
              <a:spcBef>
                <a:spcPts val="0"/>
              </a:spcBef>
              <a:spcAft>
                <a:spcPts val="0"/>
              </a:spcAft>
              <a:buNone/>
            </a:pPr>
            <a:r>
              <a:rPr lang="en"/>
              <a:t>Here is the technology, with an analogy for each piece.</a:t>
            </a:r>
            <a:endParaRPr/>
          </a:p>
          <a:p>
            <a:pPr indent="0" lvl="0" marL="0" rtl="0" algn="l">
              <a:spcBef>
                <a:spcPts val="0"/>
              </a:spcBef>
              <a:spcAft>
                <a:spcPts val="0"/>
              </a:spcAft>
              <a:buNone/>
            </a:pPr>
            <a:r>
              <a:rPr lang="en"/>
              <a:t>HTML is the skeleton: it defines what is on the page. CSS is the clothes: it makes it look good. JavaScript is the brain: it reacts to clicks, checks your input and talks to the database.</a:t>
            </a:r>
            <a:endParaRPr/>
          </a:p>
          <a:p>
            <a:pPr indent="0" lvl="0" marL="0" rtl="0" algn="l">
              <a:spcBef>
                <a:spcPts val="0"/>
              </a:spcBef>
              <a:spcAft>
                <a:spcPts val="0"/>
              </a:spcAft>
              <a:buNone/>
            </a:pPr>
            <a:r>
              <a:rPr lang="en"/>
              <a:t>Node.js lets us run JavaScript outside the browser, on a computer. Express is a tiny web server built on Node: think of it as a delivery person who hands the page to the browser.</a:t>
            </a:r>
            <a:endParaRPr/>
          </a:p>
          <a:p>
            <a:pPr indent="0" lvl="0" marL="0" rtl="0" algn="l">
              <a:spcBef>
                <a:spcPts val="0"/>
              </a:spcBef>
              <a:spcAft>
                <a:spcPts val="0"/>
              </a:spcAft>
              <a:buNone/>
            </a:pPr>
            <a:r>
              <a:rPr lang="en"/>
              <a:t>Finally Supabase is our database in the cloud. It uses PostgreSQL underneath and gives us a ready-made REST API, so I did not need to write my own backend database code.</a:t>
            </a:r>
            <a:endParaRPr/>
          </a:p>
          <a:p>
            <a:pPr indent="0" lvl="0" marL="0" rtl="0" algn="l">
              <a:spcBef>
                <a:spcPts val="0"/>
              </a:spcBef>
              <a:spcAft>
                <a:spcPts val="0"/>
              </a:spcAft>
              <a:buNone/>
            </a:pPr>
            <a:r>
              <a:rPr lang="en"/>
              <a:t>I deliberately used plain HTML, CSS and JavaScript with no front-end framework, so every concept is visible and easy to learn.</a:t>
            </a:r>
            <a:endParaRPr/>
          </a:p>
        </p:txBody>
      </p:sp>
      <p:sp>
        <p:nvSpPr>
          <p:cNvPr id="220" name="Google Shape;220;h79d543cef4fe5a4b_0_29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h327b9098fd0fbcbf_3_1127: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h327b9098fd0fbcbf_3_11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[~45 seconds]</a:t>
            </a:r>
            <a:endParaRPr/>
          </a:p>
          <a:p>
            <a:pPr indent="0" lvl="0" marL="0" rtl="0" algn="l">
              <a:spcBef>
                <a:spcPts val="0"/>
              </a:spcBef>
              <a:spcAft>
                <a:spcPts val="0"/>
              </a:spcAft>
              <a:buNone/>
            </a:pPr>
            <a:r>
              <a:rPr lang="en"/>
              <a:t>Let me quickly orient you in the code. The project is small and easy to navigate.</a:t>
            </a:r>
            <a:endParaRPr/>
          </a:p>
          <a:p>
            <a:pPr indent="0" lvl="0" marL="0" rtl="0" algn="l">
              <a:spcBef>
                <a:spcPts val="0"/>
              </a:spcBef>
              <a:spcAft>
                <a:spcPts val="0"/>
              </a:spcAft>
              <a:buNone/>
            </a:pPr>
            <a:r>
              <a:rPr lang="en"/>
              <a:t>At the top level we have server.js, which is the back end, index.html, which is the page, and package.json, which lists the dependencies. We only have one: Express.</a:t>
            </a:r>
            <a:endParaRPr/>
          </a:p>
          <a:p>
            <a:pPr indent="0" lvl="0" marL="0" rtl="0" algn="l">
              <a:spcBef>
                <a:spcPts val="0"/>
              </a:spcBef>
              <a:spcAft>
                <a:spcPts val="0"/>
              </a:spcAft>
              <a:buNone/>
            </a:pPr>
            <a:r>
              <a:rPr lang="en"/>
              <a:t>Everything the browser downloads sits in the public folder: style.css for appearance and script.js for behaviour.</a:t>
            </a:r>
            <a:endParaRPr/>
          </a:p>
          <a:p>
            <a:pPr indent="0" lvl="0" marL="0" rtl="0" algn="l">
              <a:spcBef>
                <a:spcPts val="0"/>
              </a:spcBef>
              <a:spcAft>
                <a:spcPts val="0"/>
              </a:spcAft>
              <a:buNone/>
            </a:pPr>
            <a:r>
              <a:rPr lang="en"/>
              <a:t>The README and the docs folder hold written guides, including an onboarding guide for new team members.</a:t>
            </a:r>
            <a:endParaRPr/>
          </a:p>
          <a:p>
            <a:pPr indent="0" lvl="0" marL="0" rtl="0" algn="l">
              <a:spcBef>
                <a:spcPts val="0"/>
              </a:spcBef>
              <a:spcAft>
                <a:spcPts val="0"/>
              </a:spcAft>
              <a:buNone/>
            </a:pPr>
            <a:r>
              <a:rPr lang="en"/>
              <a:t>The next three slides go through server.js, then the HTML and CSS, then script.js.</a:t>
            </a:r>
            <a:endParaRPr/>
          </a:p>
        </p:txBody>
      </p:sp>
      <p:sp>
        <p:nvSpPr>
          <p:cNvPr id="280" name="Google Shape;280;h327b9098fd0fbcbf_3_11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h79d543cef4fe5a4b_0_0: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h79d543cef4fe5a4b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[~1 minute 30 seconds, ideally a LIVE DEMO]</a:t>
            </a:r>
            <a:endParaRPr/>
          </a:p>
          <a:p>
            <a:pPr indent="0" lvl="0" marL="0" rtl="0" algn="l">
              <a:spcBef>
                <a:spcPts val="0"/>
              </a:spcBef>
              <a:spcAft>
                <a:spcPts val="0"/>
              </a:spcAft>
              <a:buNone/>
            </a:pPr>
            <a:r>
              <a:rPr lang="en"/>
              <a:t>This is the real application running on my machine at localhost:3000. The design is inspired by a traditional registry ledger: parchment colours, ruled lines and serif headings.</a:t>
            </a:r>
            <a:endParaRPr/>
          </a:p>
          <a:p>
            <a:pPr indent="0" lvl="0" marL="0" rtl="0" algn="l">
              <a:spcBef>
                <a:spcPts val="0"/>
              </a:spcBef>
              <a:spcAft>
                <a:spcPts val="0"/>
              </a:spcAft>
              <a:buNone/>
            </a:pPr>
            <a:r>
              <a:rPr lang="en"/>
              <a:t>LIVE DEMO SUGGESTION (about 60 seconds): </a:t>
            </a:r>
            <a:endParaRPr/>
          </a:p>
          <a:p>
            <a:pPr indent="0" lvl="0" marL="0" rtl="0" algn="l">
              <a:spcBef>
                <a:spcPts val="0"/>
              </a:spcBef>
              <a:spcAft>
                <a:spcPts val="0"/>
              </a:spcAft>
              <a:buNone/>
            </a:pPr>
            <a:r>
              <a:rPr lang="en"/>
              <a:t>1) Type a name. 2) In Student ID, try typing letters: they are rejected automatically. 3) Pick a date of birth and show the Age filling in by itself. 4) Choose 'Doctor Of Pharmacy' and show levels up to 600, then choose 'Bsc Computer Science' and show 500 and 600 become disabled. 5) Click 'Add to register' and show the new row appear, then click Edit and Delete on it.</a:t>
            </a:r>
            <a:endParaRPr/>
          </a:p>
          <a:p>
            <a:pPr indent="0" lvl="0" marL="0" rtl="0" algn="l">
              <a:spcBef>
                <a:spcPts val="0"/>
              </a:spcBef>
              <a:spcAft>
                <a:spcPts val="0"/>
              </a:spcAft>
              <a:buNone/>
            </a:pPr>
            <a:r>
              <a:rPr lang="en"/>
              <a:t>If the internet or demo fails, use the screenshots in this deck: the next slides show the table with its Edit and Delete buttons.</a:t>
            </a:r>
            <a:endParaRPr/>
          </a:p>
        </p:txBody>
      </p:sp>
      <p:sp>
        <p:nvSpPr>
          <p:cNvPr id="319" name="Google Shape;319;h79d543cef4fe5a4b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h327b9098fd0fbcbf_3_711: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h327b9098fd0fbcbf_3_7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minute — Intern-Friendly Speaking Guide]</a:t>
            </a:r>
          </a:p>
          <a:p>
            <a:r>
              <a:t>"Here are 5 key lessons I learned while building this project:</a:t>
            </a:r>
          </a:p>
          <a:p/>
          <a:p>
            <a:r>
              <a:t>1. Check file paths first: If styles or scripts don't load, always verify the folder paths and server routes first.</a:t>
            </a:r>
          </a:p>
          <a:p>
            <a:r>
              <a:t>2. Network requests take time: Database calls aren't instant, so async/await helps us show clear feedback and catch errors cleanly.</a:t>
            </a:r>
          </a:p>
          <a:p>
            <a:r>
              <a:t>3. Keep the screen updated: When a student is added or edited, updating the table immediately gives a smooth experience without reloading.</a:t>
            </a:r>
          </a:p>
          <a:p>
            <a:r>
              <a:t>4. Validate on both ends: Form checks in JavaScript help the user avoid mistakes, but database rules provide the real security.</a:t>
            </a:r>
          </a:p>
          <a:p>
            <a:r>
              <a:t>5. Protect secret keys: Only expose public keys in the browser, and always keep admin passwords and secret keys safe."</a:t>
            </a:r>
          </a:p>
        </p:txBody>
      </p:sp>
      <p:sp>
        <p:nvSpPr>
          <p:cNvPr id="344" name="Google Shape;344;h327b9098fd0fbcbf_3_7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h327b9098fd0fbcbf_3_512: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h327b9098fd0fbcbf_3_5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[~15 seconds, then Q&amp;A]</a:t>
            </a:r>
            <a:endParaRPr/>
          </a:p>
          <a:p>
            <a:pPr indent="0" lvl="0" marL="0" rtl="0" algn="l">
              <a:spcBef>
                <a:spcPts val="0"/>
              </a:spcBef>
              <a:spcAft>
                <a:spcPts val="0"/>
              </a:spcAft>
              <a:buNone/>
            </a:pPr>
            <a:r>
              <a:rPr lang="en"/>
              <a:t>That is the Student Management System. To try it yourself, clone the repository, run npm install, then npm start, and open localhost:3000. Thank you for listening. I'm happy to take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LIKELY QUESTIONS AND SHORT ANSWERS</a:t>
            </a:r>
            <a:endParaRPr/>
          </a:p>
          <a:p>
            <a:pPr indent="0" lvl="0" marL="0" rtl="0" algn="l">
              <a:spcBef>
                <a:spcPts val="0"/>
              </a:spcBef>
              <a:spcAft>
                <a:spcPts val="0"/>
              </a:spcAft>
              <a:buNone/>
            </a:pPr>
            <a:r>
              <a:rPr lang="en"/>
              <a:t>- Why not use a framework like React? To keep the code simple and learn the fundamentals of HTML, CSS and JavaScript first.</a:t>
            </a:r>
            <a:endParaRPr/>
          </a:p>
          <a:p>
            <a:pPr indent="0" lvl="0" marL="0" rtl="0" algn="l">
              <a:spcBef>
                <a:spcPts val="0"/>
              </a:spcBef>
              <a:spcAft>
                <a:spcPts val="0"/>
              </a:spcAft>
              <a:buNone/>
            </a:pPr>
            <a:r>
              <a:rPr lang="en"/>
              <a:t>- Is the API key a security risk? The anon key is meant to be public; the real protection is Row Level Security policies in Supabase, which I would tighten, together with staff login.</a:t>
            </a:r>
            <a:endParaRPr/>
          </a:p>
          <a:p>
            <a:pPr indent="0" lvl="0" marL="0" rtl="0" algn="l">
              <a:spcBef>
                <a:spcPts val="0"/>
              </a:spcBef>
              <a:spcAft>
                <a:spcPts val="0"/>
              </a:spcAft>
              <a:buNone/>
            </a:pPr>
            <a:r>
              <a:rPr lang="en"/>
              <a:t>- Why does the server not talk to the database? Supabase offers a REST API the browser can call directly, so the Express server only needs to deliver the files.</a:t>
            </a:r>
            <a:endParaRPr/>
          </a:p>
          <a:p>
            <a:pPr indent="0" lvl="0" marL="0" rtl="0" algn="l">
              <a:spcBef>
                <a:spcPts val="0"/>
              </a:spcBef>
              <a:spcAft>
                <a:spcPts val="0"/>
              </a:spcAft>
              <a:buNone/>
            </a:pPr>
            <a:r>
              <a:rPr lang="en"/>
              <a:t>- What happens if two people use the app at once? Each action goes to the database, so data is shared. A unique constraint on student_id in the database would stop duplicate IDs even if two people add the same one at the same time.</a:t>
            </a:r>
            <a:endParaRPr/>
          </a:p>
          <a:p>
            <a:pPr indent="0" lvl="0" marL="0" rtl="0" algn="l">
              <a:spcBef>
                <a:spcPts val="0"/>
              </a:spcBef>
              <a:spcAft>
                <a:spcPts val="0"/>
              </a:spcAft>
              <a:buNone/>
            </a:pPr>
            <a:r>
              <a:rPr lang="en"/>
              <a:t>- Why is the Supabase script included in index.html if you use fetch? It is loaded from a CDN but the project calls the REST API with fetch directly, so it could be removed or used later.</a:t>
            </a:r>
            <a:endParaRPr/>
          </a:p>
          <a:p>
            <a:pPr indent="0" lvl="0" marL="0" rtl="0" algn="l">
              <a:spcBef>
                <a:spcPts val="0"/>
              </a:spcBef>
              <a:spcAft>
                <a:spcPts val="0"/>
              </a:spcAft>
              <a:buNone/>
            </a:pPr>
            <a:r>
              <a:rPr lang="en"/>
              <a:t>- How is age calculated? Current year minus birth year, minus one if the birthday has not happened yet this year.</a:t>
            </a:r>
            <a:endParaRPr/>
          </a:p>
        </p:txBody>
      </p:sp>
      <p:sp>
        <p:nvSpPr>
          <p:cNvPr id="409" name="Google Shape;409;h327b9098fd0fbcbf_3_5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h578de572908f15c4_13_0)">
  <p:cSld name="Title and body (h578de572908f15c4_13_0)">
    <p:spTree>
      <p:nvGrpSpPr>
        <p:cNvPr id="82" name="Shape 82"/>
        <p:cNvGrpSpPr/>
        <p:nvPr/>
      </p:nvGrpSpPr>
      <p:grpSpPr>
        <a:xfrm>
          <a:off x="0" y="0"/>
          <a:ext cx="0" cy="0"/>
          <a:chOff x="0" y="0"/>
          <a:chExt cx="0" cy="0"/>
        </a:xfrm>
      </p:grpSpPr>
      <p:sp>
        <p:nvSpPr>
          <p:cNvPr id="83" name="Google Shape;83;p13"/>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84" name="Google Shape;84;p1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5" name="Google Shape;85;p1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image" Target="../media/image12.jpg"/><Relationship Id="rId6" Type="http://schemas.openxmlformats.org/officeDocument/2006/relationships/image" Target="../media/image10.jpg"/><Relationship Id="rId7" Type="http://schemas.openxmlformats.org/officeDocument/2006/relationships/image" Target="../media/image16.jpg"/><Relationship Id="rId8" Type="http://schemas.openxmlformats.org/officeDocument/2006/relationships/image" Target="../media/image15.jp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p14"/>
          <p:cNvSpPr txBox="1"/>
          <p:nvPr>
            <p:ph type="ctrTitle"/>
          </p:nvPr>
        </p:nvSpPr>
        <p:spPr>
          <a:xfrm>
            <a:off x="902025" y="1322450"/>
            <a:ext cx="7515600" cy="12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STUDENT MANAGEMENT SYSTEM</a:t>
            </a:r>
            <a:endParaRPr/>
          </a:p>
        </p:txBody>
      </p:sp>
      <p:sp>
        <p:nvSpPr>
          <p:cNvPr id="91" name="Google Shape;91;p14"/>
          <p:cNvSpPr txBox="1"/>
          <p:nvPr>
            <p:ph idx="1" type="subTitle"/>
          </p:nvPr>
        </p:nvSpPr>
        <p:spPr>
          <a:xfrm>
            <a:off x="729450" y="2805525"/>
            <a:ext cx="7274700" cy="168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web-based system designed to make it easier to register, store, manage, and retrieve student information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pSp>
        <p:nvGrpSpPr>
          <p:cNvPr id="92" name="Google Shape;92;p14"/>
          <p:cNvGrpSpPr/>
          <p:nvPr/>
        </p:nvGrpSpPr>
        <p:grpSpPr>
          <a:xfrm>
            <a:off x="844075" y="3700700"/>
            <a:ext cx="4000500" cy="857400"/>
            <a:chOff x="571500" y="3238500"/>
            <a:chExt cx="4000500" cy="857400"/>
          </a:xfrm>
        </p:grpSpPr>
        <p:sp>
          <p:nvSpPr>
            <p:cNvPr id="93" name="Google Shape;93;p14"/>
            <p:cNvSpPr/>
            <p:nvPr/>
          </p:nvSpPr>
          <p:spPr>
            <a:xfrm>
              <a:off x="571500" y="3238500"/>
              <a:ext cx="4000500" cy="857400"/>
            </a:xfrm>
            <a:prstGeom prst="roundRect">
              <a:avLst>
                <a:gd fmla="val 15555"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p14"/>
            <p:cNvSpPr txBox="1"/>
            <p:nvPr/>
          </p:nvSpPr>
          <p:spPr>
            <a:xfrm>
              <a:off x="1257300" y="3362325"/>
              <a:ext cx="31434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64748B"/>
                  </a:solidFill>
                  <a:latin typeface="Raleway"/>
                  <a:ea typeface="Raleway"/>
                  <a:cs typeface="Raleway"/>
                  <a:sym typeface="Raleway"/>
                </a:rPr>
                <a:t>GitHub Repo:</a:t>
              </a:r>
              <a:endParaRPr b="1" sz="1000">
                <a:solidFill>
                  <a:srgbClr val="64748B"/>
                </a:solidFill>
                <a:latin typeface="Raleway"/>
                <a:ea typeface="Raleway"/>
                <a:cs typeface="Raleway"/>
                <a:sym typeface="Raleway"/>
              </a:endParaRPr>
            </a:p>
            <a:p>
              <a:pPr indent="0" lvl="0" marL="0" rtl="0" algn="l">
                <a:spcBef>
                  <a:spcPts val="225"/>
                </a:spcBef>
                <a:spcAft>
                  <a:spcPts val="0"/>
                </a:spcAft>
                <a:buNone/>
              </a:pPr>
              <a:r>
                <a:rPr lang="en" sz="1050">
                  <a:solidFill>
                    <a:srgbClr val="1A9988"/>
                  </a:solidFill>
                  <a:latin typeface="Lato"/>
                  <a:ea typeface="Lato"/>
                  <a:cs typeface="Lato"/>
                  <a:sym typeface="Lato"/>
                </a:rPr>
                <a:t>https://github.com/acheampongmaamary/student-management-system</a:t>
              </a:r>
              <a:endParaRPr b="0" sz="1050">
                <a:solidFill>
                  <a:srgbClr val="1A9988"/>
                </a:solidFill>
                <a:latin typeface="Lato"/>
                <a:ea typeface="Lato"/>
                <a:cs typeface="Lato"/>
                <a:sym typeface="Lato"/>
              </a:endParaRPr>
            </a:p>
          </p:txBody>
        </p:sp>
        <p:sp>
          <p:nvSpPr>
            <p:cNvPr id="95" name="Google Shape;95;p14"/>
            <p:cNvSpPr/>
            <p:nvPr/>
          </p:nvSpPr>
          <p:spPr>
            <a:xfrm>
              <a:off x="762000" y="3476625"/>
              <a:ext cx="381000" cy="381000"/>
            </a:xfrm>
            <a:prstGeom prst="roundRect">
              <a:avLst>
                <a:gd fmla="val 25000"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4"/>
            <p:cNvSpPr txBox="1"/>
            <p:nvPr/>
          </p:nvSpPr>
          <p:spPr>
            <a:xfrm>
              <a:off x="762000" y="3505835"/>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FFFFFF"/>
                  </a:solidFill>
                  <a:latin typeface="Material Icons"/>
                  <a:ea typeface="Material Icons"/>
                  <a:cs typeface="Material Icons"/>
                  <a:sym typeface="Material Icons"/>
                </a:rPr>
                <a:t>code</a:t>
              </a:r>
              <a:endParaRPr sz="2000">
                <a:solidFill>
                  <a:srgbClr val="FFFFFF"/>
                </a:solidFill>
                <a:latin typeface="Material Icons"/>
                <a:ea typeface="Material Icons"/>
                <a:cs typeface="Material Icons"/>
                <a:sym typeface="Material Icons"/>
              </a:endParaRPr>
            </a:p>
          </p:txBody>
        </p:sp>
      </p:grpSp>
      <p:pic>
        <p:nvPicPr>
          <p:cNvPr id="97" name="Google Shape;97;p14"/>
          <p:cNvPicPr preferRelativeResize="0"/>
          <p:nvPr/>
        </p:nvPicPr>
        <p:blipFill>
          <a:blip r:embed="rId3">
            <a:alphaModFix/>
          </a:blip>
          <a:stretch>
            <a:fillRect/>
          </a:stretch>
        </p:blipFill>
        <p:spPr>
          <a:xfrm>
            <a:off x="996975" y="3922075"/>
            <a:ext cx="414648" cy="41464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grpSp>
        <p:nvGrpSpPr>
          <p:cNvPr id="102" name="Google Shape;102;p15"/>
          <p:cNvGrpSpPr/>
          <p:nvPr/>
        </p:nvGrpSpPr>
        <p:grpSpPr>
          <a:xfrm>
            <a:off x="571500" y="1047750"/>
            <a:ext cx="2381400" cy="2590800"/>
            <a:chOff x="0" y="0"/>
            <a:chExt cx="2381400" cy="2590800"/>
          </a:xfrm>
        </p:grpSpPr>
        <p:sp>
          <p:nvSpPr>
            <p:cNvPr id="103" name="Google Shape;103;p15"/>
            <p:cNvSpPr/>
            <p:nvPr/>
          </p:nvSpPr>
          <p:spPr>
            <a:xfrm>
              <a:off x="0" y="0"/>
              <a:ext cx="266700" cy="47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5"/>
            <p:cNvSpPr/>
            <p:nvPr/>
          </p:nvSpPr>
          <p:spPr>
            <a:xfrm>
              <a:off x="323850" y="0"/>
              <a:ext cx="266700" cy="47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5"/>
            <p:cNvSpPr txBox="1"/>
            <p:nvPr/>
          </p:nvSpPr>
          <p:spPr>
            <a:xfrm>
              <a:off x="0" y="209550"/>
              <a:ext cx="23814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EB5600"/>
                  </a:solidFill>
                  <a:latin typeface="Raleway ExtraBold"/>
                  <a:ea typeface="Raleway ExtraBold"/>
                  <a:cs typeface="Raleway ExtraBold"/>
                  <a:sym typeface="Raleway ExtraBold"/>
                </a:rPr>
                <a:t>AGENDA OVERVIEW</a:t>
              </a:r>
              <a:endParaRPr b="0" sz="1000">
                <a:solidFill>
                  <a:srgbClr val="EB5600"/>
                </a:solidFill>
                <a:latin typeface="Raleway ExtraBold"/>
                <a:ea typeface="Raleway ExtraBold"/>
                <a:cs typeface="Raleway ExtraBold"/>
                <a:sym typeface="Raleway ExtraBold"/>
              </a:endParaRPr>
            </a:p>
          </p:txBody>
        </p:sp>
        <p:sp>
          <p:nvSpPr>
            <p:cNvPr id="106" name="Google Shape;106;p15"/>
            <p:cNvSpPr txBox="1"/>
            <p:nvPr/>
          </p:nvSpPr>
          <p:spPr>
            <a:xfrm>
              <a:off x="0" y="495300"/>
              <a:ext cx="23814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600">
                  <a:solidFill>
                    <a:srgbClr val="0F172A"/>
                  </a:solidFill>
                  <a:latin typeface="Raleway ExtraBold"/>
                  <a:ea typeface="Raleway ExtraBold"/>
                  <a:cs typeface="Raleway ExtraBold"/>
                  <a:sym typeface="Raleway ExtraBold"/>
                </a:rPr>
                <a:t>WHAT WE</a:t>
              </a:r>
              <a:endParaRPr b="0" sz="2600">
                <a:solidFill>
                  <a:srgbClr val="0F172A"/>
                </a:solidFill>
                <a:latin typeface="Raleway ExtraBold"/>
                <a:ea typeface="Raleway ExtraBold"/>
                <a:cs typeface="Raleway ExtraBold"/>
                <a:sym typeface="Raleway ExtraBold"/>
              </a:endParaRPr>
            </a:p>
            <a:p>
              <a:pPr indent="0" lvl="0" marL="0" rtl="0" algn="l">
                <a:spcBef>
                  <a:spcPts val="0"/>
                </a:spcBef>
                <a:spcAft>
                  <a:spcPts val="0"/>
                </a:spcAft>
                <a:buNone/>
              </a:pPr>
              <a:r>
                <a:rPr b="0" lang="en" sz="2600">
                  <a:solidFill>
                    <a:srgbClr val="0F172A"/>
                  </a:solidFill>
                  <a:latin typeface="Raleway ExtraBold"/>
                  <a:ea typeface="Raleway ExtraBold"/>
                  <a:cs typeface="Raleway ExtraBold"/>
                  <a:sym typeface="Raleway ExtraBold"/>
                </a:rPr>
                <a:t>WILL COVER</a:t>
              </a:r>
              <a:endParaRPr b="0" sz="2600">
                <a:solidFill>
                  <a:srgbClr val="0F172A"/>
                </a:solidFill>
                <a:latin typeface="Raleway ExtraBold"/>
                <a:ea typeface="Raleway ExtraBold"/>
                <a:cs typeface="Raleway ExtraBold"/>
                <a:sym typeface="Raleway ExtraBold"/>
              </a:endParaRPr>
            </a:p>
          </p:txBody>
        </p:sp>
        <p:sp>
          <p:nvSpPr>
            <p:cNvPr id="107" name="Google Shape;107;p15"/>
            <p:cNvSpPr txBox="1"/>
            <p:nvPr/>
          </p:nvSpPr>
          <p:spPr>
            <a:xfrm>
              <a:off x="0" y="1447800"/>
              <a:ext cx="2286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64748B"/>
                  </a:solidFill>
                  <a:latin typeface="Lato"/>
                  <a:ea typeface="Lato"/>
                  <a:cs typeface="Lato"/>
                  <a:sym typeface="Lato"/>
                </a:rPr>
                <a:t>A comprehensive presentation covering project goals, core functionality, architecture, and key learnings.</a:t>
              </a:r>
              <a:endParaRPr b="0" sz="1100">
                <a:solidFill>
                  <a:srgbClr val="64748B"/>
                </a:solidFill>
                <a:latin typeface="Lato"/>
                <a:ea typeface="Lato"/>
                <a:cs typeface="Lato"/>
                <a:sym typeface="Lato"/>
              </a:endParaRPr>
            </a:p>
          </p:txBody>
        </p:sp>
      </p:grpSp>
      <p:pic>
        <p:nvPicPr>
          <p:cNvPr id="108" name="Google Shape;108;p15"/>
          <p:cNvPicPr preferRelativeResize="0"/>
          <p:nvPr/>
        </p:nvPicPr>
        <p:blipFill rotWithShape="1">
          <a:blip r:embed="rId4">
            <a:alphaModFix/>
          </a:blip>
          <a:srcRect b="0" l="0" r="0" t="0"/>
          <a:stretch/>
        </p:blipFill>
        <p:spPr>
          <a:xfrm>
            <a:off x="3181350" y="1333500"/>
            <a:ext cx="19200" cy="2838600"/>
          </a:xfrm>
          <a:prstGeom prst="rect">
            <a:avLst/>
          </a:prstGeom>
          <a:noFill/>
          <a:ln>
            <a:noFill/>
          </a:ln>
        </p:spPr>
      </p:pic>
      <p:grpSp>
        <p:nvGrpSpPr>
          <p:cNvPr id="109" name="Google Shape;109;p15"/>
          <p:cNvGrpSpPr/>
          <p:nvPr/>
        </p:nvGrpSpPr>
        <p:grpSpPr>
          <a:xfrm>
            <a:off x="3333750" y="1047750"/>
            <a:ext cx="5238900" cy="590700"/>
            <a:chOff x="0" y="0"/>
            <a:chExt cx="5238900" cy="590700"/>
          </a:xfrm>
        </p:grpSpPr>
        <p:sp>
          <p:nvSpPr>
            <p:cNvPr id="110" name="Google Shape;110;p15"/>
            <p:cNvSpPr/>
            <p:nvPr/>
          </p:nvSpPr>
          <p:spPr>
            <a:xfrm>
              <a:off x="0" y="0"/>
              <a:ext cx="5238900" cy="590700"/>
            </a:xfrm>
            <a:prstGeom prst="roundRect">
              <a:avLst>
                <a:gd fmla="val 1935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5"/>
            <p:cNvSpPr/>
            <p:nvPr/>
          </p:nvSpPr>
          <p:spPr>
            <a:xfrm>
              <a:off x="152400" y="104775"/>
              <a:ext cx="381000" cy="381000"/>
            </a:xfrm>
            <a:prstGeom prst="roundRect">
              <a:avLst>
                <a:gd fmla="val 20000"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5"/>
            <p:cNvSpPr txBox="1"/>
            <p:nvPr/>
          </p:nvSpPr>
          <p:spPr>
            <a:xfrm>
              <a:off x="152400" y="104775"/>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300">
                  <a:solidFill>
                    <a:srgbClr val="1A9988"/>
                  </a:solidFill>
                  <a:latin typeface="Raleway ExtraBold"/>
                  <a:ea typeface="Raleway ExtraBold"/>
                  <a:cs typeface="Raleway ExtraBold"/>
                  <a:sym typeface="Raleway ExtraBold"/>
                </a:rPr>
                <a:t>01</a:t>
              </a:r>
              <a:endParaRPr b="0" sz="1300">
                <a:solidFill>
                  <a:srgbClr val="1A9988"/>
                </a:solidFill>
                <a:latin typeface="Raleway ExtraBold"/>
                <a:ea typeface="Raleway ExtraBold"/>
                <a:cs typeface="Raleway ExtraBold"/>
                <a:sym typeface="Raleway ExtraBold"/>
              </a:endParaRPr>
            </a:p>
          </p:txBody>
        </p:sp>
        <p:sp>
          <p:nvSpPr>
            <p:cNvPr id="113" name="Google Shape;113;p15"/>
            <p:cNvSpPr txBox="1"/>
            <p:nvPr/>
          </p:nvSpPr>
          <p:spPr>
            <a:xfrm>
              <a:off x="685800" y="0"/>
              <a:ext cx="3905400" cy="5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0F172A"/>
                  </a:solidFill>
                  <a:latin typeface="Lato"/>
                  <a:ea typeface="Lato"/>
                  <a:cs typeface="Lato"/>
                  <a:sym typeface="Lato"/>
                </a:rPr>
                <a:t>The problem and the goal</a:t>
              </a:r>
              <a:endParaRPr b="1" sz="1400">
                <a:solidFill>
                  <a:srgbClr val="0F172A"/>
                </a:solidFill>
                <a:latin typeface="Lato"/>
                <a:ea typeface="Lato"/>
                <a:cs typeface="Lato"/>
                <a:sym typeface="Lato"/>
              </a:endParaRPr>
            </a:p>
          </p:txBody>
        </p:sp>
        <p:grpSp>
          <p:nvGrpSpPr>
            <p:cNvPr id="114" name="Google Shape;114;p15"/>
            <p:cNvGrpSpPr/>
            <p:nvPr/>
          </p:nvGrpSpPr>
          <p:grpSpPr>
            <a:xfrm>
              <a:off x="4705350" y="104775"/>
              <a:ext cx="381000" cy="381000"/>
              <a:chOff x="0" y="0"/>
              <a:chExt cx="381000" cy="381000"/>
            </a:xfrm>
          </p:grpSpPr>
          <p:pic>
            <p:nvPicPr>
              <p:cNvPr id="115" name="Google Shape;115;p15"/>
              <p:cNvPicPr preferRelativeResize="0"/>
              <p:nvPr/>
            </p:nvPicPr>
            <p:blipFill rotWithShape="1">
              <a:blip r:embed="rId5">
                <a:alphaModFix/>
              </a:blip>
              <a:srcRect b="0" l="16648" r="16654" t="0"/>
              <a:stretch/>
            </p:blipFill>
            <p:spPr>
              <a:xfrm>
                <a:off x="0" y="0"/>
                <a:ext cx="381000" cy="381000"/>
              </a:xfrm>
              <a:prstGeom prst="rect">
                <a:avLst/>
              </a:prstGeom>
              <a:noFill/>
              <a:ln>
                <a:noFill/>
              </a:ln>
            </p:spPr>
          </p:pic>
          <p:sp>
            <p:nvSpPr>
              <p:cNvPr id="116" name="Google Shape;116;p15"/>
              <p:cNvSpPr/>
              <p:nvPr/>
            </p:nvSpPr>
            <p:spPr>
              <a:xfrm>
                <a:off x="0" y="0"/>
                <a:ext cx="381000" cy="381000"/>
              </a:xfrm>
              <a:prstGeom prst="ellipse">
                <a:avLst/>
              </a:prstGeom>
              <a:solidFill>
                <a:srgbClr val="000000">
                  <a:alpha val="0"/>
                </a:srgbClr>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117" name="Google Shape;117;p15"/>
          <p:cNvGrpSpPr/>
          <p:nvPr/>
        </p:nvGrpSpPr>
        <p:grpSpPr>
          <a:xfrm>
            <a:off x="3333750" y="1752600"/>
            <a:ext cx="5238900" cy="590700"/>
            <a:chOff x="0" y="0"/>
            <a:chExt cx="5238900" cy="590700"/>
          </a:xfrm>
        </p:grpSpPr>
        <p:sp>
          <p:nvSpPr>
            <p:cNvPr id="118" name="Google Shape;118;p15"/>
            <p:cNvSpPr/>
            <p:nvPr/>
          </p:nvSpPr>
          <p:spPr>
            <a:xfrm>
              <a:off x="0" y="0"/>
              <a:ext cx="5238900" cy="590700"/>
            </a:xfrm>
            <a:prstGeom prst="roundRect">
              <a:avLst>
                <a:gd fmla="val 1935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5"/>
            <p:cNvSpPr/>
            <p:nvPr/>
          </p:nvSpPr>
          <p:spPr>
            <a:xfrm>
              <a:off x="152400" y="104775"/>
              <a:ext cx="381000" cy="381000"/>
            </a:xfrm>
            <a:prstGeom prst="roundRect">
              <a:avLst>
                <a:gd fmla="val 20000" name="adj"/>
              </a:avLst>
            </a:prstGeom>
            <a:solidFill>
              <a:srgbClr val="FFF1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5"/>
            <p:cNvSpPr txBox="1"/>
            <p:nvPr/>
          </p:nvSpPr>
          <p:spPr>
            <a:xfrm>
              <a:off x="152400" y="104775"/>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300">
                  <a:solidFill>
                    <a:srgbClr val="EB5600"/>
                  </a:solidFill>
                  <a:latin typeface="Raleway ExtraBold"/>
                  <a:ea typeface="Raleway ExtraBold"/>
                  <a:cs typeface="Raleway ExtraBold"/>
                  <a:sym typeface="Raleway ExtraBold"/>
                </a:rPr>
                <a:t>02</a:t>
              </a:r>
              <a:endParaRPr b="0" sz="1300">
                <a:solidFill>
                  <a:srgbClr val="EB5600"/>
                </a:solidFill>
                <a:latin typeface="Raleway ExtraBold"/>
                <a:ea typeface="Raleway ExtraBold"/>
                <a:cs typeface="Raleway ExtraBold"/>
                <a:sym typeface="Raleway ExtraBold"/>
              </a:endParaRPr>
            </a:p>
          </p:txBody>
        </p:sp>
        <p:sp>
          <p:nvSpPr>
            <p:cNvPr id="121" name="Google Shape;121;p15"/>
            <p:cNvSpPr txBox="1"/>
            <p:nvPr/>
          </p:nvSpPr>
          <p:spPr>
            <a:xfrm>
              <a:off x="685800" y="0"/>
              <a:ext cx="3905400" cy="5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0F172A"/>
                  </a:solidFill>
                  <a:latin typeface="Lato"/>
                  <a:ea typeface="Lato"/>
                  <a:cs typeface="Lato"/>
                  <a:sym typeface="Lato"/>
                </a:rPr>
                <a:t>What the app does + live demo</a:t>
              </a:r>
              <a:endParaRPr b="1" sz="1400">
                <a:solidFill>
                  <a:srgbClr val="0F172A"/>
                </a:solidFill>
                <a:latin typeface="Lato"/>
                <a:ea typeface="Lato"/>
                <a:cs typeface="Lato"/>
                <a:sym typeface="Lato"/>
              </a:endParaRPr>
            </a:p>
          </p:txBody>
        </p:sp>
        <p:grpSp>
          <p:nvGrpSpPr>
            <p:cNvPr id="122" name="Google Shape;122;p15"/>
            <p:cNvGrpSpPr/>
            <p:nvPr/>
          </p:nvGrpSpPr>
          <p:grpSpPr>
            <a:xfrm>
              <a:off x="4705350" y="104775"/>
              <a:ext cx="381000" cy="381000"/>
              <a:chOff x="0" y="0"/>
              <a:chExt cx="381000" cy="381000"/>
            </a:xfrm>
          </p:grpSpPr>
          <p:pic>
            <p:nvPicPr>
              <p:cNvPr id="123" name="Google Shape;123;p15"/>
              <p:cNvPicPr preferRelativeResize="0"/>
              <p:nvPr/>
            </p:nvPicPr>
            <p:blipFill rotWithShape="1">
              <a:blip r:embed="rId6">
                <a:alphaModFix/>
              </a:blip>
              <a:srcRect b="0" l="16627" r="16627" t="0"/>
              <a:stretch/>
            </p:blipFill>
            <p:spPr>
              <a:xfrm>
                <a:off x="0" y="0"/>
                <a:ext cx="381000" cy="381000"/>
              </a:xfrm>
              <a:prstGeom prst="rect">
                <a:avLst/>
              </a:prstGeom>
              <a:noFill/>
              <a:ln>
                <a:noFill/>
              </a:ln>
            </p:spPr>
          </p:pic>
          <p:sp>
            <p:nvSpPr>
              <p:cNvPr id="124" name="Google Shape;124;p15"/>
              <p:cNvSpPr/>
              <p:nvPr/>
            </p:nvSpPr>
            <p:spPr>
              <a:xfrm>
                <a:off x="0" y="0"/>
                <a:ext cx="381000" cy="381000"/>
              </a:xfrm>
              <a:prstGeom prst="ellipse">
                <a:avLst/>
              </a:prstGeom>
              <a:solidFill>
                <a:srgbClr val="000000">
                  <a:alpha val="0"/>
                </a:srgbClr>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125" name="Google Shape;125;p15"/>
          <p:cNvGrpSpPr/>
          <p:nvPr/>
        </p:nvGrpSpPr>
        <p:grpSpPr>
          <a:xfrm>
            <a:off x="3333750" y="2457450"/>
            <a:ext cx="5238900" cy="590700"/>
            <a:chOff x="0" y="0"/>
            <a:chExt cx="5238900" cy="590700"/>
          </a:xfrm>
        </p:grpSpPr>
        <p:sp>
          <p:nvSpPr>
            <p:cNvPr id="126" name="Google Shape;126;p15"/>
            <p:cNvSpPr/>
            <p:nvPr/>
          </p:nvSpPr>
          <p:spPr>
            <a:xfrm>
              <a:off x="0" y="0"/>
              <a:ext cx="5238900" cy="590700"/>
            </a:xfrm>
            <a:prstGeom prst="roundRect">
              <a:avLst>
                <a:gd fmla="val 1935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5"/>
            <p:cNvSpPr/>
            <p:nvPr/>
          </p:nvSpPr>
          <p:spPr>
            <a:xfrm>
              <a:off x="152400" y="104775"/>
              <a:ext cx="381000" cy="381000"/>
            </a:xfrm>
            <a:prstGeom prst="roundRect">
              <a:avLst>
                <a:gd fmla="val 20000"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5"/>
            <p:cNvSpPr txBox="1"/>
            <p:nvPr/>
          </p:nvSpPr>
          <p:spPr>
            <a:xfrm>
              <a:off x="152400" y="104775"/>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300">
                  <a:solidFill>
                    <a:srgbClr val="1A9988"/>
                  </a:solidFill>
                  <a:latin typeface="Raleway ExtraBold"/>
                  <a:ea typeface="Raleway ExtraBold"/>
                  <a:cs typeface="Raleway ExtraBold"/>
                  <a:sym typeface="Raleway ExtraBold"/>
                </a:rPr>
                <a:t>03</a:t>
              </a:r>
              <a:endParaRPr b="0" sz="1300">
                <a:solidFill>
                  <a:srgbClr val="1A9988"/>
                </a:solidFill>
                <a:latin typeface="Raleway ExtraBold"/>
                <a:ea typeface="Raleway ExtraBold"/>
                <a:cs typeface="Raleway ExtraBold"/>
                <a:sym typeface="Raleway ExtraBold"/>
              </a:endParaRPr>
            </a:p>
          </p:txBody>
        </p:sp>
        <p:sp>
          <p:nvSpPr>
            <p:cNvPr id="129" name="Google Shape;129;p15"/>
            <p:cNvSpPr txBox="1"/>
            <p:nvPr/>
          </p:nvSpPr>
          <p:spPr>
            <a:xfrm>
              <a:off x="685800" y="0"/>
              <a:ext cx="3905400" cy="5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0F172A"/>
                  </a:solidFill>
                  <a:latin typeface="Lato"/>
                  <a:ea typeface="Lato"/>
                  <a:cs typeface="Lato"/>
                  <a:sym typeface="Lato"/>
                </a:rPr>
                <a:t>Tech stack and architecture</a:t>
              </a:r>
              <a:endParaRPr b="1" sz="1400">
                <a:solidFill>
                  <a:srgbClr val="0F172A"/>
                </a:solidFill>
                <a:latin typeface="Lato"/>
                <a:ea typeface="Lato"/>
                <a:cs typeface="Lato"/>
                <a:sym typeface="Lato"/>
              </a:endParaRPr>
            </a:p>
          </p:txBody>
        </p:sp>
        <p:grpSp>
          <p:nvGrpSpPr>
            <p:cNvPr id="130" name="Google Shape;130;p15"/>
            <p:cNvGrpSpPr/>
            <p:nvPr/>
          </p:nvGrpSpPr>
          <p:grpSpPr>
            <a:xfrm>
              <a:off x="4705350" y="104775"/>
              <a:ext cx="381000" cy="381000"/>
              <a:chOff x="0" y="0"/>
              <a:chExt cx="381000" cy="381000"/>
            </a:xfrm>
          </p:grpSpPr>
          <p:pic>
            <p:nvPicPr>
              <p:cNvPr id="131" name="Google Shape;131;p15"/>
              <p:cNvPicPr preferRelativeResize="0"/>
              <p:nvPr/>
            </p:nvPicPr>
            <p:blipFill rotWithShape="1">
              <a:blip r:embed="rId7">
                <a:alphaModFix/>
              </a:blip>
              <a:srcRect b="0" l="16676" r="16676" t="0"/>
              <a:stretch/>
            </p:blipFill>
            <p:spPr>
              <a:xfrm>
                <a:off x="0" y="0"/>
                <a:ext cx="381000" cy="381000"/>
              </a:xfrm>
              <a:prstGeom prst="rect">
                <a:avLst/>
              </a:prstGeom>
              <a:noFill/>
              <a:ln>
                <a:noFill/>
              </a:ln>
            </p:spPr>
          </p:pic>
          <p:sp>
            <p:nvSpPr>
              <p:cNvPr id="132" name="Google Shape;132;p15"/>
              <p:cNvSpPr/>
              <p:nvPr/>
            </p:nvSpPr>
            <p:spPr>
              <a:xfrm>
                <a:off x="0" y="0"/>
                <a:ext cx="381000" cy="381000"/>
              </a:xfrm>
              <a:prstGeom prst="ellipse">
                <a:avLst/>
              </a:prstGeom>
              <a:solidFill>
                <a:srgbClr val="000000">
                  <a:alpha val="0"/>
                </a:srgbClr>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133" name="Google Shape;133;p15"/>
          <p:cNvGrpSpPr/>
          <p:nvPr/>
        </p:nvGrpSpPr>
        <p:grpSpPr>
          <a:xfrm>
            <a:off x="3333750" y="3162300"/>
            <a:ext cx="5238900" cy="590700"/>
            <a:chOff x="0" y="0"/>
            <a:chExt cx="5238900" cy="590700"/>
          </a:xfrm>
        </p:grpSpPr>
        <p:sp>
          <p:nvSpPr>
            <p:cNvPr id="134" name="Google Shape;134;p15"/>
            <p:cNvSpPr/>
            <p:nvPr/>
          </p:nvSpPr>
          <p:spPr>
            <a:xfrm>
              <a:off x="0" y="0"/>
              <a:ext cx="5238900" cy="590700"/>
            </a:xfrm>
            <a:prstGeom prst="roundRect">
              <a:avLst>
                <a:gd fmla="val 1935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5"/>
            <p:cNvSpPr/>
            <p:nvPr/>
          </p:nvSpPr>
          <p:spPr>
            <a:xfrm>
              <a:off x="152400" y="104775"/>
              <a:ext cx="381000" cy="381000"/>
            </a:xfrm>
            <a:prstGeom prst="roundRect">
              <a:avLst>
                <a:gd fmla="val 20000" name="adj"/>
              </a:avLst>
            </a:prstGeom>
            <a:solidFill>
              <a:srgbClr val="FFF1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5"/>
            <p:cNvSpPr txBox="1"/>
            <p:nvPr/>
          </p:nvSpPr>
          <p:spPr>
            <a:xfrm>
              <a:off x="152400" y="104775"/>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300">
                  <a:solidFill>
                    <a:srgbClr val="EB5600"/>
                  </a:solidFill>
                  <a:latin typeface="Raleway ExtraBold"/>
                  <a:ea typeface="Raleway ExtraBold"/>
                  <a:cs typeface="Raleway ExtraBold"/>
                  <a:sym typeface="Raleway ExtraBold"/>
                </a:rPr>
                <a:t>04</a:t>
              </a:r>
              <a:endParaRPr b="0" sz="1300">
                <a:solidFill>
                  <a:srgbClr val="EB5600"/>
                </a:solidFill>
                <a:latin typeface="Raleway ExtraBold"/>
                <a:ea typeface="Raleway ExtraBold"/>
                <a:cs typeface="Raleway ExtraBold"/>
                <a:sym typeface="Raleway ExtraBold"/>
              </a:endParaRPr>
            </a:p>
          </p:txBody>
        </p:sp>
        <p:sp>
          <p:nvSpPr>
            <p:cNvPr id="137" name="Google Shape;137;p15"/>
            <p:cNvSpPr txBox="1"/>
            <p:nvPr/>
          </p:nvSpPr>
          <p:spPr>
            <a:xfrm>
              <a:off x="685800" y="0"/>
              <a:ext cx="3905400" cy="5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0F172A"/>
                  </a:solidFill>
                  <a:latin typeface="Lato"/>
                  <a:ea typeface="Lato"/>
                  <a:cs typeface="Lato"/>
                  <a:sym typeface="Lato"/>
                </a:rPr>
                <a:t>Project walkthrough</a:t>
              </a:r>
              <a:endParaRPr b="1" sz="1400">
                <a:solidFill>
                  <a:srgbClr val="0F172A"/>
                </a:solidFill>
                <a:latin typeface="Lato"/>
                <a:ea typeface="Lato"/>
                <a:cs typeface="Lato"/>
                <a:sym typeface="Lato"/>
              </a:endParaRPr>
            </a:p>
          </p:txBody>
        </p:sp>
        <p:grpSp>
          <p:nvGrpSpPr>
            <p:cNvPr id="138" name="Google Shape;138;p15"/>
            <p:cNvGrpSpPr/>
            <p:nvPr/>
          </p:nvGrpSpPr>
          <p:grpSpPr>
            <a:xfrm>
              <a:off x="4705350" y="104775"/>
              <a:ext cx="381000" cy="381000"/>
              <a:chOff x="0" y="0"/>
              <a:chExt cx="381000" cy="381000"/>
            </a:xfrm>
          </p:grpSpPr>
          <p:pic>
            <p:nvPicPr>
              <p:cNvPr id="139" name="Google Shape;139;p15"/>
              <p:cNvPicPr preferRelativeResize="0"/>
              <p:nvPr/>
            </p:nvPicPr>
            <p:blipFill rotWithShape="1">
              <a:blip r:embed="rId8">
                <a:alphaModFix/>
              </a:blip>
              <a:srcRect b="0" l="16648" r="16654" t="0"/>
              <a:stretch/>
            </p:blipFill>
            <p:spPr>
              <a:xfrm>
                <a:off x="0" y="0"/>
                <a:ext cx="381000" cy="381000"/>
              </a:xfrm>
              <a:prstGeom prst="rect">
                <a:avLst/>
              </a:prstGeom>
              <a:noFill/>
              <a:ln>
                <a:noFill/>
              </a:ln>
            </p:spPr>
          </p:pic>
          <p:sp>
            <p:nvSpPr>
              <p:cNvPr id="140" name="Google Shape;140;p15"/>
              <p:cNvSpPr/>
              <p:nvPr/>
            </p:nvSpPr>
            <p:spPr>
              <a:xfrm>
                <a:off x="0" y="0"/>
                <a:ext cx="381000" cy="381000"/>
              </a:xfrm>
              <a:prstGeom prst="ellipse">
                <a:avLst/>
              </a:prstGeom>
              <a:solidFill>
                <a:srgbClr val="000000">
                  <a:alpha val="0"/>
                </a:srgbClr>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141" name="Google Shape;141;p15"/>
          <p:cNvGrpSpPr/>
          <p:nvPr/>
        </p:nvGrpSpPr>
        <p:grpSpPr>
          <a:xfrm>
            <a:off x="3333750" y="3867150"/>
            <a:ext cx="5238900" cy="590700"/>
            <a:chOff x="0" y="0"/>
            <a:chExt cx="5238900" cy="590700"/>
          </a:xfrm>
        </p:grpSpPr>
        <p:sp>
          <p:nvSpPr>
            <p:cNvPr id="142" name="Google Shape;142;p15"/>
            <p:cNvSpPr/>
            <p:nvPr/>
          </p:nvSpPr>
          <p:spPr>
            <a:xfrm>
              <a:off x="0" y="0"/>
              <a:ext cx="5238900" cy="590700"/>
            </a:xfrm>
            <a:prstGeom prst="roundRect">
              <a:avLst>
                <a:gd fmla="val 1935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5"/>
            <p:cNvSpPr/>
            <p:nvPr/>
          </p:nvSpPr>
          <p:spPr>
            <a:xfrm>
              <a:off x="152400" y="104775"/>
              <a:ext cx="381000" cy="381000"/>
            </a:xfrm>
            <a:prstGeom prst="roundRect">
              <a:avLst>
                <a:gd fmla="val 20000"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5"/>
            <p:cNvSpPr txBox="1"/>
            <p:nvPr/>
          </p:nvSpPr>
          <p:spPr>
            <a:xfrm>
              <a:off x="152400" y="104775"/>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300">
                  <a:solidFill>
                    <a:srgbClr val="1A9988"/>
                  </a:solidFill>
                  <a:latin typeface="Raleway ExtraBold"/>
                  <a:ea typeface="Raleway ExtraBold"/>
                  <a:cs typeface="Raleway ExtraBold"/>
                  <a:sym typeface="Raleway ExtraBold"/>
                </a:rPr>
                <a:t>05</a:t>
              </a:r>
              <a:endParaRPr b="0" sz="1300">
                <a:solidFill>
                  <a:srgbClr val="1A9988"/>
                </a:solidFill>
                <a:latin typeface="Raleway ExtraBold"/>
                <a:ea typeface="Raleway ExtraBold"/>
                <a:cs typeface="Raleway ExtraBold"/>
                <a:sym typeface="Raleway ExtraBold"/>
              </a:endParaRPr>
            </a:p>
          </p:txBody>
        </p:sp>
        <p:sp>
          <p:nvSpPr>
            <p:cNvPr id="145" name="Google Shape;145;p15"/>
            <p:cNvSpPr txBox="1"/>
            <p:nvPr/>
          </p:nvSpPr>
          <p:spPr>
            <a:xfrm>
              <a:off x="685800" y="0"/>
              <a:ext cx="3905400" cy="5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0F172A"/>
                  </a:solidFill>
                  <a:latin typeface="Lato"/>
                  <a:ea typeface="Lato"/>
                  <a:cs typeface="Lato"/>
                  <a:sym typeface="Lato"/>
                </a:rPr>
                <a:t>Lessons learnt</a:t>
              </a:r>
              <a:endParaRPr b="1" sz="1400">
                <a:solidFill>
                  <a:srgbClr val="0F172A"/>
                </a:solidFill>
                <a:latin typeface="Lato"/>
                <a:ea typeface="Lato"/>
                <a:cs typeface="Lato"/>
                <a:sym typeface="Lato"/>
              </a:endParaRPr>
            </a:p>
          </p:txBody>
        </p:sp>
        <p:grpSp>
          <p:nvGrpSpPr>
            <p:cNvPr id="146" name="Google Shape;146;p15"/>
            <p:cNvGrpSpPr/>
            <p:nvPr/>
          </p:nvGrpSpPr>
          <p:grpSpPr>
            <a:xfrm>
              <a:off x="4705350" y="104775"/>
              <a:ext cx="381000" cy="381000"/>
              <a:chOff x="0" y="0"/>
              <a:chExt cx="381000" cy="381000"/>
            </a:xfrm>
          </p:grpSpPr>
          <p:pic>
            <p:nvPicPr>
              <p:cNvPr id="147" name="Google Shape;147;p15"/>
              <p:cNvPicPr preferRelativeResize="0"/>
              <p:nvPr/>
            </p:nvPicPr>
            <p:blipFill rotWithShape="1">
              <a:blip r:embed="rId9">
                <a:alphaModFix/>
              </a:blip>
              <a:srcRect b="0" l="0" r="0" t="0"/>
              <a:stretch/>
            </p:blipFill>
            <p:spPr>
              <a:xfrm>
                <a:off x="0" y="0"/>
                <a:ext cx="381000" cy="381000"/>
              </a:xfrm>
              <a:prstGeom prst="rect">
                <a:avLst/>
              </a:prstGeom>
              <a:noFill/>
              <a:ln>
                <a:noFill/>
              </a:ln>
            </p:spPr>
          </p:pic>
          <p:sp>
            <p:nvSpPr>
              <p:cNvPr id="148" name="Google Shape;148;p15"/>
              <p:cNvSpPr/>
              <p:nvPr/>
            </p:nvSpPr>
            <p:spPr>
              <a:xfrm>
                <a:off x="0" y="0"/>
                <a:ext cx="381000" cy="381000"/>
              </a:xfrm>
              <a:prstGeom prst="ellipse">
                <a:avLst/>
              </a:prstGeom>
              <a:solidFill>
                <a:srgbClr val="000000">
                  <a:alpha val="0"/>
                </a:srgbClr>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 name="Shape 152"/>
        <p:cNvGrpSpPr/>
        <p:nvPr/>
      </p:nvGrpSpPr>
      <p:grpSpPr>
        <a:xfrm>
          <a:off x="0" y="0"/>
          <a:ext cx="0" cy="0"/>
          <a:chOff x="0" y="0"/>
          <a:chExt cx="0" cy="0"/>
        </a:xfrm>
      </p:grpSpPr>
      <p:grpSp>
        <p:nvGrpSpPr>
          <p:cNvPr id="153" name="Google Shape;153;p16"/>
          <p:cNvGrpSpPr/>
          <p:nvPr/>
        </p:nvGrpSpPr>
        <p:grpSpPr>
          <a:xfrm>
            <a:off x="571500" y="400050"/>
            <a:ext cx="8001000" cy="562050"/>
            <a:chOff x="0" y="0"/>
            <a:chExt cx="8001000" cy="562050"/>
          </a:xfrm>
        </p:grpSpPr>
        <p:sp>
          <p:nvSpPr>
            <p:cNvPr id="154" name="Google Shape;154;p16"/>
            <p:cNvSpPr/>
            <p:nvPr/>
          </p:nvSpPr>
          <p:spPr>
            <a:xfrm>
              <a:off x="0" y="0"/>
              <a:ext cx="304800" cy="47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6"/>
            <p:cNvSpPr/>
            <p:nvPr/>
          </p:nvSpPr>
          <p:spPr>
            <a:xfrm>
              <a:off x="361950" y="0"/>
              <a:ext cx="304800" cy="47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6"/>
            <p:cNvSpPr txBox="1"/>
            <p:nvPr/>
          </p:nvSpPr>
          <p:spPr>
            <a:xfrm>
              <a:off x="0" y="133350"/>
              <a:ext cx="8001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200">
                  <a:solidFill>
                    <a:srgbClr val="0F172A"/>
                  </a:solidFill>
                  <a:latin typeface="Raleway ExtraBold"/>
                  <a:ea typeface="Raleway ExtraBold"/>
                  <a:cs typeface="Raleway ExtraBold"/>
                  <a:sym typeface="Raleway ExtraBold"/>
                </a:rPr>
                <a:t>THE PROBLEM &amp; THE GOAL</a:t>
              </a:r>
              <a:endParaRPr b="0" sz="2200">
                <a:solidFill>
                  <a:srgbClr val="0F172A"/>
                </a:solidFill>
                <a:latin typeface="Raleway ExtraBold"/>
                <a:ea typeface="Raleway ExtraBold"/>
                <a:cs typeface="Raleway ExtraBold"/>
                <a:sym typeface="Raleway ExtraBold"/>
              </a:endParaRPr>
            </a:p>
          </p:txBody>
        </p:sp>
      </p:grpSp>
      <p:grpSp>
        <p:nvGrpSpPr>
          <p:cNvPr id="157" name="Google Shape;157;p16"/>
          <p:cNvGrpSpPr/>
          <p:nvPr/>
        </p:nvGrpSpPr>
        <p:grpSpPr>
          <a:xfrm>
            <a:off x="571500" y="1095375"/>
            <a:ext cx="3857700" cy="3619500"/>
            <a:chOff x="0" y="0"/>
            <a:chExt cx="3857700" cy="3619500"/>
          </a:xfrm>
        </p:grpSpPr>
        <p:sp>
          <p:nvSpPr>
            <p:cNvPr id="158" name="Google Shape;158;p16"/>
            <p:cNvSpPr/>
            <p:nvPr/>
          </p:nvSpPr>
          <p:spPr>
            <a:xfrm>
              <a:off x="0" y="0"/>
              <a:ext cx="3857700" cy="3619500"/>
            </a:xfrm>
            <a:prstGeom prst="roundRect">
              <a:avLst>
                <a:gd fmla="val 368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6"/>
            <p:cNvSpPr/>
            <p:nvPr/>
          </p:nvSpPr>
          <p:spPr>
            <a:xfrm>
              <a:off x="228600" y="228600"/>
              <a:ext cx="438300" cy="438300"/>
            </a:xfrm>
            <a:prstGeom prst="roundRect">
              <a:avLst>
                <a:gd fmla="val 21739" name="adj"/>
              </a:avLst>
            </a:prstGeom>
            <a:solidFill>
              <a:srgbClr val="FFF1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6"/>
            <p:cNvSpPr txBox="1"/>
            <p:nvPr/>
          </p:nvSpPr>
          <p:spPr>
            <a:xfrm>
              <a:off x="228600" y="260731"/>
              <a:ext cx="4383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200">
                  <a:solidFill>
                    <a:srgbClr val="EB5600"/>
                  </a:solidFill>
                  <a:latin typeface="Material Icons"/>
                  <a:ea typeface="Material Icons"/>
                  <a:cs typeface="Material Icons"/>
                  <a:sym typeface="Material Icons"/>
                </a:rPr>
                <a:t>warning_amber</a:t>
              </a:r>
              <a:endParaRPr sz="2200">
                <a:solidFill>
                  <a:srgbClr val="EB5600"/>
                </a:solidFill>
                <a:latin typeface="Material Icons"/>
                <a:ea typeface="Material Icons"/>
                <a:cs typeface="Material Icons"/>
                <a:sym typeface="Material Icons"/>
              </a:endParaRPr>
            </a:p>
          </p:txBody>
        </p:sp>
        <p:sp>
          <p:nvSpPr>
            <p:cNvPr id="161" name="Google Shape;161;p16"/>
            <p:cNvSpPr txBox="1"/>
            <p:nvPr/>
          </p:nvSpPr>
          <p:spPr>
            <a:xfrm>
              <a:off x="781050" y="228600"/>
              <a:ext cx="28479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800">
                  <a:solidFill>
                    <a:srgbClr val="EB5600"/>
                  </a:solidFill>
                  <a:latin typeface="Raleway ExtraBold"/>
                  <a:ea typeface="Raleway ExtraBold"/>
                  <a:cs typeface="Raleway ExtraBold"/>
                  <a:sym typeface="Raleway ExtraBold"/>
                </a:rPr>
                <a:t>The Problem</a:t>
              </a:r>
              <a:endParaRPr b="0" sz="1800">
                <a:solidFill>
                  <a:srgbClr val="EB5600"/>
                </a:solidFill>
                <a:latin typeface="Raleway ExtraBold"/>
                <a:ea typeface="Raleway ExtraBold"/>
                <a:cs typeface="Raleway ExtraBold"/>
                <a:sym typeface="Raleway ExtraBold"/>
              </a:endParaRPr>
            </a:p>
          </p:txBody>
        </p:sp>
        <p:sp>
          <p:nvSpPr>
            <p:cNvPr id="162" name="Google Shape;162;p16"/>
            <p:cNvSpPr txBox="1"/>
            <p:nvPr/>
          </p:nvSpPr>
          <p:spPr>
            <a:xfrm>
              <a:off x="228600" y="838200"/>
              <a:ext cx="3400500" cy="2552700"/>
            </a:xfrm>
            <a:prstGeom prst="rect">
              <a:avLst/>
            </a:prstGeom>
            <a:noFill/>
            <a:ln>
              <a:noFill/>
            </a:ln>
          </p:spPr>
          <p:txBody>
            <a:bodyPr anchorCtr="0" anchor="t" bIns="0" lIns="0" spcFirstLastPara="1" rIns="0" wrap="square" tIns="0">
              <a:noAutofit/>
            </a:bodyPr>
            <a:lstStyle/>
            <a:p>
              <a:pPr indent="-307975" lvl="0" marL="457200" rtl="0" algn="l">
                <a:spcBef>
                  <a:spcPts val="0"/>
                </a:spcBef>
                <a:spcAft>
                  <a:spcPts val="0"/>
                </a:spcAft>
                <a:buClr>
                  <a:srgbClr val="334155"/>
                </a:buClr>
                <a:buSzPts val="1250"/>
                <a:buFont typeface="Lato"/>
                <a:buChar char="●"/>
              </a:pPr>
              <a:r>
                <a:rPr b="1" lang="en" sz="1250">
                  <a:solidFill>
                    <a:srgbClr val="0F172A"/>
                  </a:solidFill>
                  <a:latin typeface="Lato"/>
                  <a:ea typeface="Lato"/>
                  <a:cs typeface="Lato"/>
                  <a:sym typeface="Lato"/>
                </a:rPr>
                <a:t>Complex Record Keeping:</a:t>
              </a:r>
              <a:r>
                <a:rPr b="0" lang="en" sz="1250">
                  <a:solidFill>
                    <a:srgbClr val="334155"/>
                  </a:solidFill>
                  <a:latin typeface="Lato"/>
                  <a:ea typeface="Lato"/>
                  <a:cs typeface="Lato"/>
                  <a:sym typeface="Lato"/>
                </a:rPr>
                <a:t> A registry keeps many details per student (names, ID, contacts, programme, level).</a:t>
              </a:r>
              <a:endParaRPr b="0" sz="1250">
                <a:solidFill>
                  <a:srgbClr val="334155"/>
                </a:solidFill>
                <a:latin typeface="Lato"/>
                <a:ea typeface="Lato"/>
                <a:cs typeface="Lato"/>
                <a:sym typeface="Lato"/>
              </a:endParaRPr>
            </a:p>
            <a:p>
              <a:pPr indent="-307975" lvl="0" marL="457200" rtl="0" algn="l">
                <a:spcBef>
                  <a:spcPts val="1200"/>
                </a:spcBef>
                <a:spcAft>
                  <a:spcPts val="0"/>
                </a:spcAft>
                <a:buClr>
                  <a:srgbClr val="334155"/>
                </a:buClr>
                <a:buSzPts val="1250"/>
                <a:buFont typeface="Lato"/>
                <a:buChar char="●"/>
              </a:pPr>
              <a:r>
                <a:rPr b="1" lang="en" sz="1250">
                  <a:solidFill>
                    <a:srgbClr val="0F172A"/>
                  </a:solidFill>
                  <a:latin typeface="Lato"/>
                  <a:ea typeface="Lato"/>
                  <a:cs typeface="Lato"/>
                  <a:sym typeface="Lato"/>
                </a:rPr>
                <a:t>Inefficient Systems:</a:t>
              </a:r>
              <a:r>
                <a:rPr b="0" lang="en" sz="1250">
                  <a:solidFill>
                    <a:srgbClr val="334155"/>
                  </a:solidFill>
                  <a:latin typeface="Lato"/>
                  <a:ea typeface="Lato"/>
                  <a:cs typeface="Lato"/>
                  <a:sym typeface="Lato"/>
                </a:rPr>
                <a:t> Paper ledgers and loose spreadsheets are slow to search and easy to mistype.</a:t>
              </a:r>
              <a:endParaRPr b="0" sz="1250">
                <a:solidFill>
                  <a:srgbClr val="334155"/>
                </a:solidFill>
                <a:latin typeface="Lato"/>
                <a:ea typeface="Lato"/>
                <a:cs typeface="Lato"/>
                <a:sym typeface="Lato"/>
              </a:endParaRPr>
            </a:p>
            <a:p>
              <a:pPr indent="-307975" lvl="0" marL="457200" rtl="0" algn="l">
                <a:spcBef>
                  <a:spcPts val="1200"/>
                </a:spcBef>
                <a:spcAft>
                  <a:spcPts val="0"/>
                </a:spcAft>
                <a:buClr>
                  <a:srgbClr val="334155"/>
                </a:buClr>
                <a:buSzPts val="1250"/>
                <a:buFont typeface="Lato"/>
                <a:buChar char="●"/>
              </a:pPr>
              <a:r>
                <a:rPr b="1" lang="en" sz="1250">
                  <a:solidFill>
                    <a:srgbClr val="0F172A"/>
                  </a:solidFill>
                  <a:latin typeface="Lato"/>
                  <a:ea typeface="Lato"/>
                  <a:cs typeface="Lato"/>
                  <a:sym typeface="Lato"/>
                </a:rPr>
                <a:t>Data Errors:</a:t>
              </a:r>
              <a:r>
                <a:rPr b="0" lang="en" sz="1250">
                  <a:solidFill>
                    <a:srgbClr val="334155"/>
                  </a:solidFill>
                  <a:latin typeface="Lato"/>
                  <a:ea typeface="Lato"/>
                  <a:cs typeface="Lato"/>
                  <a:sym typeface="Lato"/>
                </a:rPr>
                <a:t> Duplicate IDs and impossible values slip in unnoticed.</a:t>
              </a:r>
              <a:endParaRPr b="0" sz="1250">
                <a:solidFill>
                  <a:srgbClr val="334155"/>
                </a:solidFill>
                <a:latin typeface="Lato"/>
                <a:ea typeface="Lato"/>
                <a:cs typeface="Lato"/>
                <a:sym typeface="Lato"/>
              </a:endParaRPr>
            </a:p>
          </p:txBody>
        </p:sp>
      </p:grpSp>
      <p:grpSp>
        <p:nvGrpSpPr>
          <p:cNvPr id="163" name="Google Shape;163;p16"/>
          <p:cNvGrpSpPr/>
          <p:nvPr/>
        </p:nvGrpSpPr>
        <p:grpSpPr>
          <a:xfrm>
            <a:off x="4714875" y="1095375"/>
            <a:ext cx="3857700" cy="3619500"/>
            <a:chOff x="0" y="0"/>
            <a:chExt cx="3857700" cy="3619500"/>
          </a:xfrm>
        </p:grpSpPr>
        <p:sp>
          <p:nvSpPr>
            <p:cNvPr id="164" name="Google Shape;164;p16"/>
            <p:cNvSpPr/>
            <p:nvPr/>
          </p:nvSpPr>
          <p:spPr>
            <a:xfrm>
              <a:off x="0" y="0"/>
              <a:ext cx="3857700" cy="3619500"/>
            </a:xfrm>
            <a:prstGeom prst="roundRect">
              <a:avLst>
                <a:gd fmla="val 368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6"/>
            <p:cNvSpPr/>
            <p:nvPr/>
          </p:nvSpPr>
          <p:spPr>
            <a:xfrm>
              <a:off x="228600" y="228600"/>
              <a:ext cx="438300" cy="438300"/>
            </a:xfrm>
            <a:prstGeom prst="roundRect">
              <a:avLst>
                <a:gd fmla="val 21739"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6"/>
            <p:cNvSpPr txBox="1"/>
            <p:nvPr/>
          </p:nvSpPr>
          <p:spPr>
            <a:xfrm>
              <a:off x="228600" y="260731"/>
              <a:ext cx="4383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200">
                  <a:solidFill>
                    <a:srgbClr val="1A9988"/>
                  </a:solidFill>
                  <a:latin typeface="Material Icons"/>
                  <a:ea typeface="Material Icons"/>
                  <a:cs typeface="Material Icons"/>
                  <a:sym typeface="Material Icons"/>
                </a:rPr>
                <a:t>check_circle_outline</a:t>
              </a:r>
              <a:endParaRPr sz="2200">
                <a:solidFill>
                  <a:srgbClr val="1A9988"/>
                </a:solidFill>
                <a:latin typeface="Material Icons"/>
                <a:ea typeface="Material Icons"/>
                <a:cs typeface="Material Icons"/>
                <a:sym typeface="Material Icons"/>
              </a:endParaRPr>
            </a:p>
          </p:txBody>
        </p:sp>
        <p:sp>
          <p:nvSpPr>
            <p:cNvPr id="167" name="Google Shape;167;p16"/>
            <p:cNvSpPr txBox="1"/>
            <p:nvPr/>
          </p:nvSpPr>
          <p:spPr>
            <a:xfrm>
              <a:off x="781050" y="228600"/>
              <a:ext cx="28479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800">
                  <a:solidFill>
                    <a:srgbClr val="1A9988"/>
                  </a:solidFill>
                  <a:latin typeface="Raleway ExtraBold"/>
                  <a:ea typeface="Raleway ExtraBold"/>
                  <a:cs typeface="Raleway ExtraBold"/>
                  <a:sym typeface="Raleway ExtraBold"/>
                </a:rPr>
                <a:t>The Goal</a:t>
              </a:r>
              <a:endParaRPr b="0" sz="1800">
                <a:solidFill>
                  <a:srgbClr val="1A9988"/>
                </a:solidFill>
                <a:latin typeface="Raleway ExtraBold"/>
                <a:ea typeface="Raleway ExtraBold"/>
                <a:cs typeface="Raleway ExtraBold"/>
                <a:sym typeface="Raleway ExtraBold"/>
              </a:endParaRPr>
            </a:p>
          </p:txBody>
        </p:sp>
        <p:sp>
          <p:nvSpPr>
            <p:cNvPr id="168" name="Google Shape;168;p16"/>
            <p:cNvSpPr txBox="1"/>
            <p:nvPr/>
          </p:nvSpPr>
          <p:spPr>
            <a:xfrm>
              <a:off x="228600" y="838200"/>
              <a:ext cx="3400500" cy="2552700"/>
            </a:xfrm>
            <a:prstGeom prst="rect">
              <a:avLst/>
            </a:prstGeom>
            <a:noFill/>
            <a:ln>
              <a:noFill/>
            </a:ln>
          </p:spPr>
          <p:txBody>
            <a:bodyPr anchorCtr="0" anchor="t" bIns="0" lIns="0" spcFirstLastPara="1" rIns="0" wrap="square" tIns="0">
              <a:noAutofit/>
            </a:bodyPr>
            <a:lstStyle/>
            <a:p>
              <a:pPr indent="-304800" lvl="0" marL="457200" rtl="0" algn="l">
                <a:spcBef>
                  <a:spcPts val="0"/>
                </a:spcBef>
                <a:spcAft>
                  <a:spcPts val="0"/>
                </a:spcAft>
                <a:buClr>
                  <a:srgbClr val="334155"/>
                </a:buClr>
                <a:buSzPts val="1200"/>
                <a:buFont typeface="Lato"/>
                <a:buChar char="●"/>
              </a:pPr>
              <a:r>
                <a:rPr b="1" lang="en" sz="1200">
                  <a:solidFill>
                    <a:srgbClr val="0F172A"/>
                  </a:solidFill>
                  <a:latin typeface="Lato"/>
                  <a:ea typeface="Lato"/>
                  <a:cs typeface="Lato"/>
                  <a:sym typeface="Lato"/>
                </a:rPr>
                <a:t>Single Web Page:</a:t>
              </a:r>
              <a:r>
                <a:rPr b="0" lang="en" sz="1200">
                  <a:solidFill>
                    <a:srgbClr val="334155"/>
                  </a:solidFill>
                  <a:latin typeface="Lato"/>
                  <a:ea typeface="Lato"/>
                  <a:cs typeface="Lato"/>
                  <a:sym typeface="Lato"/>
                </a:rPr>
                <a:t> Full CRUD functionality to Create, Read, Update, and Delete records.</a:t>
              </a:r>
              <a:endParaRPr b="0" sz="1200">
                <a:solidFill>
                  <a:srgbClr val="334155"/>
                </a:solidFill>
                <a:latin typeface="Lato"/>
                <a:ea typeface="Lato"/>
                <a:cs typeface="Lato"/>
                <a:sym typeface="Lato"/>
              </a:endParaRPr>
            </a:p>
            <a:p>
              <a:pPr indent="-304800" lvl="0" marL="457200" rtl="0" algn="l">
                <a:spcBef>
                  <a:spcPts val="900"/>
                </a:spcBef>
                <a:spcAft>
                  <a:spcPts val="0"/>
                </a:spcAft>
                <a:buClr>
                  <a:srgbClr val="334155"/>
                </a:buClr>
                <a:buSzPts val="1200"/>
                <a:buFont typeface="Lato"/>
                <a:buChar char="●"/>
              </a:pPr>
              <a:r>
                <a:rPr b="1" lang="en" sz="1200">
                  <a:solidFill>
                    <a:srgbClr val="0F172A"/>
                  </a:solidFill>
                  <a:latin typeface="Lato"/>
                  <a:ea typeface="Lato"/>
                  <a:cs typeface="Lato"/>
                  <a:sym typeface="Lato"/>
                </a:rPr>
                <a:t>Smart Validation:</a:t>
              </a:r>
              <a:r>
                <a:rPr b="0" lang="en" sz="1200">
                  <a:solidFill>
                    <a:srgbClr val="334155"/>
                  </a:solidFill>
                  <a:latin typeface="Lato"/>
                  <a:ea typeface="Lato"/>
                  <a:cs typeface="Lato"/>
                  <a:sym typeface="Lato"/>
                </a:rPr>
                <a:t> Catch data mistakes automatically before saving.</a:t>
              </a:r>
              <a:endParaRPr b="0" sz="1200">
                <a:solidFill>
                  <a:srgbClr val="334155"/>
                </a:solidFill>
                <a:latin typeface="Lato"/>
                <a:ea typeface="Lato"/>
                <a:cs typeface="Lato"/>
                <a:sym typeface="Lato"/>
              </a:endParaRPr>
            </a:p>
            <a:p>
              <a:pPr indent="-304800" lvl="0" marL="457200" rtl="0" algn="l">
                <a:spcBef>
                  <a:spcPts val="900"/>
                </a:spcBef>
                <a:spcAft>
                  <a:spcPts val="0"/>
                </a:spcAft>
                <a:buClr>
                  <a:srgbClr val="334155"/>
                </a:buClr>
                <a:buSzPts val="1200"/>
                <a:buFont typeface="Lato"/>
                <a:buChar char="●"/>
              </a:pPr>
              <a:r>
                <a:rPr b="1" lang="en" sz="1200">
                  <a:solidFill>
                    <a:srgbClr val="0F172A"/>
                  </a:solidFill>
                  <a:latin typeface="Lato"/>
                  <a:ea typeface="Lato"/>
                  <a:cs typeface="Lato"/>
                  <a:sym typeface="Lato"/>
                </a:rPr>
                <a:t>Cloud Storage:</a:t>
              </a:r>
              <a:r>
                <a:rPr b="0" lang="en" sz="1200">
                  <a:solidFill>
                    <a:srgbClr val="334155"/>
                  </a:solidFill>
                  <a:latin typeface="Lato"/>
                  <a:ea typeface="Lato"/>
                  <a:cs typeface="Lato"/>
                  <a:sym typeface="Lato"/>
                </a:rPr>
                <a:t> Centralized database accessible from any web browser.</a:t>
              </a:r>
              <a:endParaRPr b="0" sz="1200">
                <a:solidFill>
                  <a:srgbClr val="334155"/>
                </a:solidFill>
                <a:latin typeface="Lato"/>
                <a:ea typeface="Lato"/>
                <a:cs typeface="Lato"/>
                <a:sym typeface="Lato"/>
              </a:endParaRPr>
            </a:p>
            <a:p>
              <a:pPr indent="-304800" lvl="0" marL="457200" rtl="0" algn="l">
                <a:spcBef>
                  <a:spcPts val="900"/>
                </a:spcBef>
                <a:spcAft>
                  <a:spcPts val="0"/>
                </a:spcAft>
                <a:buClr>
                  <a:srgbClr val="334155"/>
                </a:buClr>
                <a:buSzPts val="1200"/>
                <a:buFont typeface="Lato"/>
                <a:buChar char="●"/>
              </a:pPr>
              <a:r>
                <a:rPr b="1" lang="en" sz="1200">
                  <a:solidFill>
                    <a:srgbClr val="0F172A"/>
                  </a:solidFill>
                  <a:latin typeface="Lato"/>
                  <a:ea typeface="Lato"/>
                  <a:cs typeface="Lato"/>
                  <a:sym typeface="Lato"/>
                </a:rPr>
                <a:t>Clean Codebase:</a:t>
              </a:r>
              <a:r>
                <a:rPr b="0" lang="en" sz="1200">
                  <a:solidFill>
                    <a:srgbClr val="334155"/>
                  </a:solidFill>
                  <a:latin typeface="Lato"/>
                  <a:ea typeface="Lato"/>
                  <a:cs typeface="Lato"/>
                  <a:sym typeface="Lato"/>
                </a:rPr>
                <a:t> Simple structure easily understood.</a:t>
              </a:r>
              <a:endParaRPr b="0" sz="1200">
                <a:solidFill>
                  <a:srgbClr val="334155"/>
                </a:solidFill>
                <a:latin typeface="Lato"/>
                <a:ea typeface="Lato"/>
                <a:cs typeface="Lato"/>
                <a:sym typeface="La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 name="Shape 172"/>
        <p:cNvGrpSpPr/>
        <p:nvPr/>
      </p:nvGrpSpPr>
      <p:grpSpPr>
        <a:xfrm>
          <a:off x="0" y="0"/>
          <a:ext cx="0" cy="0"/>
          <a:chOff x="0" y="0"/>
          <a:chExt cx="0" cy="0"/>
        </a:xfrm>
      </p:grpSpPr>
      <p:grpSp>
        <p:nvGrpSpPr>
          <p:cNvPr id="173" name="Google Shape;173;p17"/>
          <p:cNvGrpSpPr/>
          <p:nvPr/>
        </p:nvGrpSpPr>
        <p:grpSpPr>
          <a:xfrm>
            <a:off x="571500" y="400050"/>
            <a:ext cx="8001000" cy="562050"/>
            <a:chOff x="0" y="0"/>
            <a:chExt cx="8001000" cy="562050"/>
          </a:xfrm>
        </p:grpSpPr>
        <p:sp>
          <p:nvSpPr>
            <p:cNvPr id="174" name="Google Shape;174;p17"/>
            <p:cNvSpPr/>
            <p:nvPr/>
          </p:nvSpPr>
          <p:spPr>
            <a:xfrm>
              <a:off x="0" y="0"/>
              <a:ext cx="304800" cy="47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17"/>
            <p:cNvSpPr/>
            <p:nvPr/>
          </p:nvSpPr>
          <p:spPr>
            <a:xfrm>
              <a:off x="361950" y="0"/>
              <a:ext cx="304800" cy="47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7"/>
            <p:cNvSpPr txBox="1"/>
            <p:nvPr/>
          </p:nvSpPr>
          <p:spPr>
            <a:xfrm>
              <a:off x="0" y="133350"/>
              <a:ext cx="8001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200">
                  <a:solidFill>
                    <a:srgbClr val="0F172A"/>
                  </a:solidFill>
                  <a:latin typeface="Raleway ExtraBold"/>
                  <a:ea typeface="Raleway ExtraBold"/>
                  <a:cs typeface="Raleway ExtraBold"/>
                  <a:sym typeface="Raleway ExtraBold"/>
                </a:rPr>
                <a:t>WHAT THE APP DOES: FULL CRUD</a:t>
              </a:r>
              <a:endParaRPr b="0" sz="2200">
                <a:solidFill>
                  <a:srgbClr val="0F172A"/>
                </a:solidFill>
                <a:latin typeface="Raleway ExtraBold"/>
                <a:ea typeface="Raleway ExtraBold"/>
                <a:cs typeface="Raleway ExtraBold"/>
                <a:sym typeface="Raleway ExtraBold"/>
              </a:endParaRPr>
            </a:p>
          </p:txBody>
        </p:sp>
      </p:grpSp>
      <p:grpSp>
        <p:nvGrpSpPr>
          <p:cNvPr id="177" name="Google Shape;177;p17"/>
          <p:cNvGrpSpPr/>
          <p:nvPr/>
        </p:nvGrpSpPr>
        <p:grpSpPr>
          <a:xfrm>
            <a:off x="571500" y="1095375"/>
            <a:ext cx="1857300" cy="3524400"/>
            <a:chOff x="0" y="0"/>
            <a:chExt cx="1857300" cy="3524400"/>
          </a:xfrm>
        </p:grpSpPr>
        <p:sp>
          <p:nvSpPr>
            <p:cNvPr id="178" name="Google Shape;178;p17"/>
            <p:cNvSpPr/>
            <p:nvPr/>
          </p:nvSpPr>
          <p:spPr>
            <a:xfrm>
              <a:off x="0" y="0"/>
              <a:ext cx="1857300" cy="3524400"/>
            </a:xfrm>
            <a:prstGeom prst="roundRect">
              <a:avLst>
                <a:gd fmla="val 717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7"/>
            <p:cNvSpPr/>
            <p:nvPr/>
          </p:nvSpPr>
          <p:spPr>
            <a:xfrm>
              <a:off x="0" y="0"/>
              <a:ext cx="1857300" cy="573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7"/>
            <p:cNvSpPr/>
            <p:nvPr/>
          </p:nvSpPr>
          <p:spPr>
            <a:xfrm>
              <a:off x="171450" y="209550"/>
              <a:ext cx="438300" cy="438300"/>
            </a:xfrm>
            <a:prstGeom prst="roundRect">
              <a:avLst>
                <a:gd fmla="val 21739"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17"/>
            <p:cNvSpPr txBox="1"/>
            <p:nvPr/>
          </p:nvSpPr>
          <p:spPr>
            <a:xfrm>
              <a:off x="171450" y="209550"/>
              <a:ext cx="4383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200">
                  <a:solidFill>
                    <a:srgbClr val="1A9988"/>
                  </a:solidFill>
                  <a:latin typeface="Raleway ExtraBold"/>
                  <a:ea typeface="Raleway ExtraBold"/>
                  <a:cs typeface="Raleway ExtraBold"/>
                  <a:sym typeface="Raleway ExtraBold"/>
                </a:rPr>
                <a:t>C</a:t>
              </a:r>
              <a:endParaRPr b="0" sz="2200">
                <a:solidFill>
                  <a:srgbClr val="1A9988"/>
                </a:solidFill>
                <a:latin typeface="Raleway ExtraBold"/>
                <a:ea typeface="Raleway ExtraBold"/>
                <a:cs typeface="Raleway ExtraBold"/>
                <a:sym typeface="Raleway ExtraBold"/>
              </a:endParaRPr>
            </a:p>
          </p:txBody>
        </p:sp>
        <p:sp>
          <p:nvSpPr>
            <p:cNvPr id="182" name="Google Shape;182;p17"/>
            <p:cNvSpPr/>
            <p:nvPr/>
          </p:nvSpPr>
          <p:spPr>
            <a:xfrm>
              <a:off x="1028700" y="304800"/>
              <a:ext cx="647700" cy="2478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17"/>
            <p:cNvSpPr txBox="1"/>
            <p:nvPr/>
          </p:nvSpPr>
          <p:spPr>
            <a:xfrm>
              <a:off x="1028700" y="304800"/>
              <a:ext cx="6477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Consolas"/>
                  <a:ea typeface="Consolas"/>
                  <a:cs typeface="Consolas"/>
                  <a:sym typeface="Consolas"/>
                </a:rPr>
                <a:t>POST</a:t>
              </a:r>
              <a:endParaRPr b="1" sz="900">
                <a:solidFill>
                  <a:srgbClr val="FFFFFF"/>
                </a:solidFill>
                <a:latin typeface="Consolas"/>
                <a:ea typeface="Consolas"/>
                <a:cs typeface="Consolas"/>
                <a:sym typeface="Consolas"/>
              </a:endParaRPr>
            </a:p>
          </p:txBody>
        </p:sp>
        <p:sp>
          <p:nvSpPr>
            <p:cNvPr id="184" name="Google Shape;184;p17"/>
            <p:cNvSpPr txBox="1"/>
            <p:nvPr/>
          </p:nvSpPr>
          <p:spPr>
            <a:xfrm>
              <a:off x="171450" y="781050"/>
              <a:ext cx="1514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0F172A"/>
                  </a:solidFill>
                  <a:latin typeface="Raleway ExtraBold"/>
                  <a:ea typeface="Raleway ExtraBold"/>
                  <a:cs typeface="Raleway ExtraBold"/>
                  <a:sym typeface="Raleway ExtraBold"/>
                </a:rPr>
                <a:t>Create</a:t>
              </a:r>
              <a:endParaRPr b="0" sz="1600">
                <a:solidFill>
                  <a:srgbClr val="0F172A"/>
                </a:solidFill>
                <a:latin typeface="Raleway ExtraBold"/>
                <a:ea typeface="Raleway ExtraBold"/>
                <a:cs typeface="Raleway ExtraBold"/>
                <a:sym typeface="Raleway ExtraBold"/>
              </a:endParaRPr>
            </a:p>
          </p:txBody>
        </p:sp>
        <p:cxnSp>
          <p:nvCxnSpPr>
            <p:cNvPr id="185" name="Google Shape;185;p17"/>
            <p:cNvCxnSpPr/>
            <p:nvPr/>
          </p:nvCxnSpPr>
          <p:spPr>
            <a:xfrm>
              <a:off x="171450" y="1162050"/>
              <a:ext cx="1514400" cy="0"/>
            </a:xfrm>
            <a:prstGeom prst="straightConnector1">
              <a:avLst/>
            </a:prstGeom>
            <a:solidFill>
              <a:srgbClr val="FFFFFF"/>
            </a:solidFill>
            <a:ln cap="flat" cmpd="sng" w="14300">
              <a:solidFill>
                <a:srgbClr val="F1F5F9"/>
              </a:solidFill>
              <a:prstDash val="solid"/>
              <a:round/>
              <a:headEnd len="sm" w="sm" type="none"/>
              <a:tailEnd len="sm" w="sm" type="none"/>
            </a:ln>
          </p:spPr>
        </p:cxnSp>
        <p:sp>
          <p:nvSpPr>
            <p:cNvPr id="186" name="Google Shape;186;p17"/>
            <p:cNvSpPr txBox="1"/>
            <p:nvPr/>
          </p:nvSpPr>
          <p:spPr>
            <a:xfrm>
              <a:off x="171450" y="1295400"/>
              <a:ext cx="1514400" cy="20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334155"/>
                  </a:solidFill>
                  <a:latin typeface="Lato"/>
                  <a:ea typeface="Lato"/>
                  <a:cs typeface="Lato"/>
                  <a:sym typeface="Lato"/>
                </a:rPr>
                <a:t>Fill in the form and click “Add to register”. The new student appears in the table instantly.</a:t>
              </a:r>
              <a:endParaRPr b="0" sz="1100">
                <a:solidFill>
                  <a:srgbClr val="334155"/>
                </a:solidFill>
                <a:latin typeface="Lato"/>
                <a:ea typeface="Lato"/>
                <a:cs typeface="Lato"/>
                <a:sym typeface="Lato"/>
              </a:endParaRPr>
            </a:p>
          </p:txBody>
        </p:sp>
      </p:grpSp>
      <p:grpSp>
        <p:nvGrpSpPr>
          <p:cNvPr id="187" name="Google Shape;187;p17"/>
          <p:cNvGrpSpPr/>
          <p:nvPr/>
        </p:nvGrpSpPr>
        <p:grpSpPr>
          <a:xfrm>
            <a:off x="2619375" y="1095375"/>
            <a:ext cx="1857300" cy="3524400"/>
            <a:chOff x="0" y="0"/>
            <a:chExt cx="1857300" cy="3524400"/>
          </a:xfrm>
        </p:grpSpPr>
        <p:sp>
          <p:nvSpPr>
            <p:cNvPr id="188" name="Google Shape;188;p17"/>
            <p:cNvSpPr/>
            <p:nvPr/>
          </p:nvSpPr>
          <p:spPr>
            <a:xfrm>
              <a:off x="0" y="0"/>
              <a:ext cx="1857300" cy="3524400"/>
            </a:xfrm>
            <a:prstGeom prst="roundRect">
              <a:avLst>
                <a:gd fmla="val 717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17"/>
            <p:cNvSpPr/>
            <p:nvPr/>
          </p:nvSpPr>
          <p:spPr>
            <a:xfrm>
              <a:off x="0" y="0"/>
              <a:ext cx="18573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7"/>
            <p:cNvSpPr/>
            <p:nvPr/>
          </p:nvSpPr>
          <p:spPr>
            <a:xfrm>
              <a:off x="171450" y="209550"/>
              <a:ext cx="438300" cy="438300"/>
            </a:xfrm>
            <a:prstGeom prst="roundRect">
              <a:avLst>
                <a:gd fmla="val 21739"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17"/>
            <p:cNvSpPr txBox="1"/>
            <p:nvPr/>
          </p:nvSpPr>
          <p:spPr>
            <a:xfrm>
              <a:off x="171450" y="209550"/>
              <a:ext cx="4383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200">
                  <a:solidFill>
                    <a:srgbClr val="2563EB"/>
                  </a:solidFill>
                  <a:latin typeface="Raleway ExtraBold"/>
                  <a:ea typeface="Raleway ExtraBold"/>
                  <a:cs typeface="Raleway ExtraBold"/>
                  <a:sym typeface="Raleway ExtraBold"/>
                </a:rPr>
                <a:t>R</a:t>
              </a:r>
              <a:endParaRPr b="0" sz="2200">
                <a:solidFill>
                  <a:srgbClr val="2563EB"/>
                </a:solidFill>
                <a:latin typeface="Raleway ExtraBold"/>
                <a:ea typeface="Raleway ExtraBold"/>
                <a:cs typeface="Raleway ExtraBold"/>
                <a:sym typeface="Raleway ExtraBold"/>
              </a:endParaRPr>
            </a:p>
          </p:txBody>
        </p:sp>
        <p:sp>
          <p:nvSpPr>
            <p:cNvPr id="192" name="Google Shape;192;p17"/>
            <p:cNvSpPr/>
            <p:nvPr/>
          </p:nvSpPr>
          <p:spPr>
            <a:xfrm>
              <a:off x="1028700" y="304800"/>
              <a:ext cx="647700" cy="2478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7"/>
            <p:cNvSpPr txBox="1"/>
            <p:nvPr/>
          </p:nvSpPr>
          <p:spPr>
            <a:xfrm>
              <a:off x="1028700" y="304800"/>
              <a:ext cx="6477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Consolas"/>
                  <a:ea typeface="Consolas"/>
                  <a:cs typeface="Consolas"/>
                  <a:sym typeface="Consolas"/>
                </a:rPr>
                <a:t>GET</a:t>
              </a:r>
              <a:endParaRPr b="1" sz="900">
                <a:solidFill>
                  <a:srgbClr val="FFFFFF"/>
                </a:solidFill>
                <a:latin typeface="Consolas"/>
                <a:ea typeface="Consolas"/>
                <a:cs typeface="Consolas"/>
                <a:sym typeface="Consolas"/>
              </a:endParaRPr>
            </a:p>
          </p:txBody>
        </p:sp>
        <p:sp>
          <p:nvSpPr>
            <p:cNvPr id="194" name="Google Shape;194;p17"/>
            <p:cNvSpPr txBox="1"/>
            <p:nvPr/>
          </p:nvSpPr>
          <p:spPr>
            <a:xfrm>
              <a:off x="171450" y="781050"/>
              <a:ext cx="1514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0F172A"/>
                  </a:solidFill>
                  <a:latin typeface="Raleway ExtraBold"/>
                  <a:ea typeface="Raleway ExtraBold"/>
                  <a:cs typeface="Raleway ExtraBold"/>
                  <a:sym typeface="Raleway ExtraBold"/>
                </a:rPr>
                <a:t>Read</a:t>
              </a:r>
              <a:endParaRPr b="0" sz="1600">
                <a:solidFill>
                  <a:srgbClr val="0F172A"/>
                </a:solidFill>
                <a:latin typeface="Raleway ExtraBold"/>
                <a:ea typeface="Raleway ExtraBold"/>
                <a:cs typeface="Raleway ExtraBold"/>
                <a:sym typeface="Raleway ExtraBold"/>
              </a:endParaRPr>
            </a:p>
          </p:txBody>
        </p:sp>
        <p:cxnSp>
          <p:nvCxnSpPr>
            <p:cNvPr id="195" name="Google Shape;195;p17"/>
            <p:cNvCxnSpPr/>
            <p:nvPr/>
          </p:nvCxnSpPr>
          <p:spPr>
            <a:xfrm>
              <a:off x="171450" y="1162050"/>
              <a:ext cx="1514400" cy="0"/>
            </a:xfrm>
            <a:prstGeom prst="straightConnector1">
              <a:avLst/>
            </a:prstGeom>
            <a:solidFill>
              <a:srgbClr val="FFFFFF"/>
            </a:solidFill>
            <a:ln cap="flat" cmpd="sng" w="14300">
              <a:solidFill>
                <a:srgbClr val="F1F5F9"/>
              </a:solidFill>
              <a:prstDash val="solid"/>
              <a:round/>
              <a:headEnd len="sm" w="sm" type="none"/>
              <a:tailEnd len="sm" w="sm" type="none"/>
            </a:ln>
          </p:spPr>
        </p:cxnSp>
        <p:sp>
          <p:nvSpPr>
            <p:cNvPr id="196" name="Google Shape;196;p17"/>
            <p:cNvSpPr txBox="1"/>
            <p:nvPr/>
          </p:nvSpPr>
          <p:spPr>
            <a:xfrm>
              <a:off x="171450" y="1295400"/>
              <a:ext cx="1514400" cy="20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334155"/>
                  </a:solidFill>
                  <a:latin typeface="Lato"/>
                  <a:ea typeface="Lato"/>
                  <a:cs typeface="Lato"/>
                  <a:sym typeface="Lato"/>
                </a:rPr>
                <a:t>When the page opens, every student is loaded from the database, sorted by Student ID.</a:t>
              </a:r>
              <a:endParaRPr b="0" sz="1100">
                <a:solidFill>
                  <a:srgbClr val="334155"/>
                </a:solidFill>
                <a:latin typeface="Lato"/>
                <a:ea typeface="Lato"/>
                <a:cs typeface="Lato"/>
                <a:sym typeface="Lato"/>
              </a:endParaRPr>
            </a:p>
          </p:txBody>
        </p:sp>
      </p:grpSp>
      <p:grpSp>
        <p:nvGrpSpPr>
          <p:cNvPr id="197" name="Google Shape;197;p17"/>
          <p:cNvGrpSpPr/>
          <p:nvPr/>
        </p:nvGrpSpPr>
        <p:grpSpPr>
          <a:xfrm>
            <a:off x="4667250" y="1095375"/>
            <a:ext cx="1857300" cy="3524400"/>
            <a:chOff x="0" y="0"/>
            <a:chExt cx="1857300" cy="3524400"/>
          </a:xfrm>
        </p:grpSpPr>
        <p:sp>
          <p:nvSpPr>
            <p:cNvPr id="198" name="Google Shape;198;p17"/>
            <p:cNvSpPr/>
            <p:nvPr/>
          </p:nvSpPr>
          <p:spPr>
            <a:xfrm>
              <a:off x="0" y="0"/>
              <a:ext cx="1857300" cy="3524400"/>
            </a:xfrm>
            <a:prstGeom prst="roundRect">
              <a:avLst>
                <a:gd fmla="val 717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17"/>
            <p:cNvSpPr/>
            <p:nvPr/>
          </p:nvSpPr>
          <p:spPr>
            <a:xfrm>
              <a:off x="0" y="0"/>
              <a:ext cx="1857300" cy="573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7"/>
            <p:cNvSpPr/>
            <p:nvPr/>
          </p:nvSpPr>
          <p:spPr>
            <a:xfrm>
              <a:off x="171450" y="209550"/>
              <a:ext cx="438300" cy="438300"/>
            </a:xfrm>
            <a:prstGeom prst="roundRect">
              <a:avLst>
                <a:gd fmla="val 21739" name="adj"/>
              </a:avLst>
            </a:prstGeom>
            <a:solidFill>
              <a:srgbClr val="FFF1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17"/>
            <p:cNvSpPr txBox="1"/>
            <p:nvPr/>
          </p:nvSpPr>
          <p:spPr>
            <a:xfrm>
              <a:off x="171450" y="209550"/>
              <a:ext cx="4383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200">
                  <a:solidFill>
                    <a:srgbClr val="EB5600"/>
                  </a:solidFill>
                  <a:latin typeface="Raleway ExtraBold"/>
                  <a:ea typeface="Raleway ExtraBold"/>
                  <a:cs typeface="Raleway ExtraBold"/>
                  <a:sym typeface="Raleway ExtraBold"/>
                </a:rPr>
                <a:t>U</a:t>
              </a:r>
              <a:endParaRPr b="0" sz="2200">
                <a:solidFill>
                  <a:srgbClr val="EB5600"/>
                </a:solidFill>
                <a:latin typeface="Raleway ExtraBold"/>
                <a:ea typeface="Raleway ExtraBold"/>
                <a:cs typeface="Raleway ExtraBold"/>
                <a:sym typeface="Raleway ExtraBold"/>
              </a:endParaRPr>
            </a:p>
          </p:txBody>
        </p:sp>
        <p:sp>
          <p:nvSpPr>
            <p:cNvPr id="202" name="Google Shape;202;p17"/>
            <p:cNvSpPr/>
            <p:nvPr/>
          </p:nvSpPr>
          <p:spPr>
            <a:xfrm>
              <a:off x="1028700" y="304800"/>
              <a:ext cx="647700" cy="2478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17"/>
            <p:cNvSpPr txBox="1"/>
            <p:nvPr/>
          </p:nvSpPr>
          <p:spPr>
            <a:xfrm>
              <a:off x="1028700" y="304800"/>
              <a:ext cx="6477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Consolas"/>
                  <a:ea typeface="Consolas"/>
                  <a:cs typeface="Consolas"/>
                  <a:sym typeface="Consolas"/>
                </a:rPr>
                <a:t>PATCH</a:t>
              </a:r>
              <a:endParaRPr b="1" sz="900">
                <a:solidFill>
                  <a:srgbClr val="FFFFFF"/>
                </a:solidFill>
                <a:latin typeface="Consolas"/>
                <a:ea typeface="Consolas"/>
                <a:cs typeface="Consolas"/>
                <a:sym typeface="Consolas"/>
              </a:endParaRPr>
            </a:p>
          </p:txBody>
        </p:sp>
        <p:sp>
          <p:nvSpPr>
            <p:cNvPr id="204" name="Google Shape;204;p17"/>
            <p:cNvSpPr txBox="1"/>
            <p:nvPr/>
          </p:nvSpPr>
          <p:spPr>
            <a:xfrm>
              <a:off x="171450" y="781050"/>
              <a:ext cx="1514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0F172A"/>
                  </a:solidFill>
                  <a:latin typeface="Raleway ExtraBold"/>
                  <a:ea typeface="Raleway ExtraBold"/>
                  <a:cs typeface="Raleway ExtraBold"/>
                  <a:sym typeface="Raleway ExtraBold"/>
                </a:rPr>
                <a:t>Update</a:t>
              </a:r>
              <a:endParaRPr b="0" sz="1600">
                <a:solidFill>
                  <a:srgbClr val="0F172A"/>
                </a:solidFill>
                <a:latin typeface="Raleway ExtraBold"/>
                <a:ea typeface="Raleway ExtraBold"/>
                <a:cs typeface="Raleway ExtraBold"/>
                <a:sym typeface="Raleway ExtraBold"/>
              </a:endParaRPr>
            </a:p>
          </p:txBody>
        </p:sp>
        <p:cxnSp>
          <p:nvCxnSpPr>
            <p:cNvPr id="205" name="Google Shape;205;p17"/>
            <p:cNvCxnSpPr/>
            <p:nvPr/>
          </p:nvCxnSpPr>
          <p:spPr>
            <a:xfrm>
              <a:off x="171450" y="1162050"/>
              <a:ext cx="1514400" cy="0"/>
            </a:xfrm>
            <a:prstGeom prst="straightConnector1">
              <a:avLst/>
            </a:prstGeom>
            <a:solidFill>
              <a:srgbClr val="FFFFFF"/>
            </a:solidFill>
            <a:ln cap="flat" cmpd="sng" w="14300">
              <a:solidFill>
                <a:srgbClr val="F1F5F9"/>
              </a:solidFill>
              <a:prstDash val="solid"/>
              <a:round/>
              <a:headEnd len="sm" w="sm" type="none"/>
              <a:tailEnd len="sm" w="sm" type="none"/>
            </a:ln>
          </p:spPr>
        </p:cxnSp>
        <p:sp>
          <p:nvSpPr>
            <p:cNvPr id="206" name="Google Shape;206;p17"/>
            <p:cNvSpPr txBox="1"/>
            <p:nvPr/>
          </p:nvSpPr>
          <p:spPr>
            <a:xfrm>
              <a:off x="171450" y="1295400"/>
              <a:ext cx="1514400" cy="20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334155"/>
                  </a:solidFill>
                  <a:latin typeface="Lato"/>
                  <a:ea typeface="Lato"/>
                  <a:cs typeface="Lato"/>
                  <a:sym typeface="Lato"/>
                </a:rPr>
                <a:t>Click “Edit” on a row. The form fills in, the button becomes “Update student”.</a:t>
              </a:r>
              <a:endParaRPr b="0" sz="1100">
                <a:solidFill>
                  <a:srgbClr val="334155"/>
                </a:solidFill>
                <a:latin typeface="Lato"/>
                <a:ea typeface="Lato"/>
                <a:cs typeface="Lato"/>
                <a:sym typeface="Lato"/>
              </a:endParaRPr>
            </a:p>
          </p:txBody>
        </p:sp>
      </p:grpSp>
      <p:grpSp>
        <p:nvGrpSpPr>
          <p:cNvPr id="207" name="Google Shape;207;p17"/>
          <p:cNvGrpSpPr/>
          <p:nvPr/>
        </p:nvGrpSpPr>
        <p:grpSpPr>
          <a:xfrm>
            <a:off x="6715125" y="1095375"/>
            <a:ext cx="1857300" cy="3524400"/>
            <a:chOff x="0" y="0"/>
            <a:chExt cx="1857300" cy="3524400"/>
          </a:xfrm>
        </p:grpSpPr>
        <p:sp>
          <p:nvSpPr>
            <p:cNvPr id="208" name="Google Shape;208;p17"/>
            <p:cNvSpPr/>
            <p:nvPr/>
          </p:nvSpPr>
          <p:spPr>
            <a:xfrm>
              <a:off x="0" y="0"/>
              <a:ext cx="1857300" cy="3524400"/>
            </a:xfrm>
            <a:prstGeom prst="roundRect">
              <a:avLst>
                <a:gd fmla="val 717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17"/>
            <p:cNvSpPr/>
            <p:nvPr/>
          </p:nvSpPr>
          <p:spPr>
            <a:xfrm>
              <a:off x="0" y="0"/>
              <a:ext cx="1857300" cy="57300"/>
            </a:xfrm>
            <a:prstGeom prst="roundRect">
              <a:avLst>
                <a:gd fmla="val 50000" name="adj"/>
              </a:avLst>
            </a:prstGeom>
            <a:solidFill>
              <a:srgbClr val="E11D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17"/>
            <p:cNvSpPr/>
            <p:nvPr/>
          </p:nvSpPr>
          <p:spPr>
            <a:xfrm>
              <a:off x="171450" y="209550"/>
              <a:ext cx="438300" cy="438300"/>
            </a:xfrm>
            <a:prstGeom prst="roundRect">
              <a:avLst>
                <a:gd fmla="val 21739" name="adj"/>
              </a:avLst>
            </a:prstGeom>
            <a:solidFill>
              <a:srgbClr val="FFE4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 name="Google Shape;211;p17"/>
            <p:cNvSpPr txBox="1"/>
            <p:nvPr/>
          </p:nvSpPr>
          <p:spPr>
            <a:xfrm>
              <a:off x="171450" y="209550"/>
              <a:ext cx="4383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200">
                  <a:solidFill>
                    <a:srgbClr val="E11D48"/>
                  </a:solidFill>
                  <a:latin typeface="Raleway ExtraBold"/>
                  <a:ea typeface="Raleway ExtraBold"/>
                  <a:cs typeface="Raleway ExtraBold"/>
                  <a:sym typeface="Raleway ExtraBold"/>
                </a:rPr>
                <a:t>D</a:t>
              </a:r>
              <a:endParaRPr b="0" sz="2200">
                <a:solidFill>
                  <a:srgbClr val="E11D48"/>
                </a:solidFill>
                <a:latin typeface="Raleway ExtraBold"/>
                <a:ea typeface="Raleway ExtraBold"/>
                <a:cs typeface="Raleway ExtraBold"/>
                <a:sym typeface="Raleway ExtraBold"/>
              </a:endParaRPr>
            </a:p>
          </p:txBody>
        </p:sp>
        <p:sp>
          <p:nvSpPr>
            <p:cNvPr id="212" name="Google Shape;212;p17"/>
            <p:cNvSpPr/>
            <p:nvPr/>
          </p:nvSpPr>
          <p:spPr>
            <a:xfrm>
              <a:off x="1028700" y="304800"/>
              <a:ext cx="647700" cy="247800"/>
            </a:xfrm>
            <a:prstGeom prst="roundRect">
              <a:avLst>
                <a:gd fmla="val 50000" name="adj"/>
              </a:avLst>
            </a:prstGeom>
            <a:solidFill>
              <a:srgbClr val="E11D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7"/>
            <p:cNvSpPr txBox="1"/>
            <p:nvPr/>
          </p:nvSpPr>
          <p:spPr>
            <a:xfrm>
              <a:off x="1028700" y="304800"/>
              <a:ext cx="6477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Consolas"/>
                  <a:ea typeface="Consolas"/>
                  <a:cs typeface="Consolas"/>
                  <a:sym typeface="Consolas"/>
                </a:rPr>
                <a:t>DELETE</a:t>
              </a:r>
              <a:endParaRPr b="1" sz="900">
                <a:solidFill>
                  <a:srgbClr val="FFFFFF"/>
                </a:solidFill>
                <a:latin typeface="Consolas"/>
                <a:ea typeface="Consolas"/>
                <a:cs typeface="Consolas"/>
                <a:sym typeface="Consolas"/>
              </a:endParaRPr>
            </a:p>
          </p:txBody>
        </p:sp>
        <p:sp>
          <p:nvSpPr>
            <p:cNvPr id="214" name="Google Shape;214;p17"/>
            <p:cNvSpPr txBox="1"/>
            <p:nvPr/>
          </p:nvSpPr>
          <p:spPr>
            <a:xfrm>
              <a:off x="171450" y="781050"/>
              <a:ext cx="1514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0F172A"/>
                  </a:solidFill>
                  <a:latin typeface="Raleway ExtraBold"/>
                  <a:ea typeface="Raleway ExtraBold"/>
                  <a:cs typeface="Raleway ExtraBold"/>
                  <a:sym typeface="Raleway ExtraBold"/>
                </a:rPr>
                <a:t>Delete</a:t>
              </a:r>
              <a:endParaRPr b="0" sz="1600">
                <a:solidFill>
                  <a:srgbClr val="0F172A"/>
                </a:solidFill>
                <a:latin typeface="Raleway ExtraBold"/>
                <a:ea typeface="Raleway ExtraBold"/>
                <a:cs typeface="Raleway ExtraBold"/>
                <a:sym typeface="Raleway ExtraBold"/>
              </a:endParaRPr>
            </a:p>
          </p:txBody>
        </p:sp>
        <p:cxnSp>
          <p:nvCxnSpPr>
            <p:cNvPr id="215" name="Google Shape;215;p17"/>
            <p:cNvCxnSpPr/>
            <p:nvPr/>
          </p:nvCxnSpPr>
          <p:spPr>
            <a:xfrm>
              <a:off x="171450" y="1162050"/>
              <a:ext cx="1514400" cy="0"/>
            </a:xfrm>
            <a:prstGeom prst="straightConnector1">
              <a:avLst/>
            </a:prstGeom>
            <a:solidFill>
              <a:srgbClr val="FFFFFF"/>
            </a:solidFill>
            <a:ln cap="flat" cmpd="sng" w="14300">
              <a:solidFill>
                <a:srgbClr val="F1F5F9"/>
              </a:solidFill>
              <a:prstDash val="solid"/>
              <a:round/>
              <a:headEnd len="sm" w="sm" type="none"/>
              <a:tailEnd len="sm" w="sm" type="none"/>
            </a:ln>
          </p:spPr>
        </p:cxnSp>
        <p:sp>
          <p:nvSpPr>
            <p:cNvPr id="216" name="Google Shape;216;p17"/>
            <p:cNvSpPr txBox="1"/>
            <p:nvPr/>
          </p:nvSpPr>
          <p:spPr>
            <a:xfrm>
              <a:off x="171450" y="1295400"/>
              <a:ext cx="1514400" cy="20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334155"/>
                  </a:solidFill>
                  <a:latin typeface="Lato"/>
                  <a:ea typeface="Lato"/>
                  <a:cs typeface="Lato"/>
                  <a:sym typeface="Lato"/>
                </a:rPr>
                <a:t>Click “Delete” and confirm. The record is removed from the database and the table.</a:t>
              </a:r>
              <a:endParaRPr b="0" sz="1100">
                <a:solidFill>
                  <a:srgbClr val="334155"/>
                </a:solidFill>
                <a:latin typeface="Lato"/>
                <a:ea typeface="Lato"/>
                <a:cs typeface="Lato"/>
                <a:sym typeface="La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1" name="Shape 221"/>
        <p:cNvGrpSpPr/>
        <p:nvPr/>
      </p:nvGrpSpPr>
      <p:grpSpPr>
        <a:xfrm>
          <a:off x="0" y="0"/>
          <a:ext cx="0" cy="0"/>
          <a:chOff x="0" y="0"/>
          <a:chExt cx="0" cy="0"/>
        </a:xfrm>
      </p:grpSpPr>
      <p:grpSp>
        <p:nvGrpSpPr>
          <p:cNvPr id="222" name="Google Shape;222;p18"/>
          <p:cNvGrpSpPr/>
          <p:nvPr/>
        </p:nvGrpSpPr>
        <p:grpSpPr>
          <a:xfrm>
            <a:off x="571500" y="400050"/>
            <a:ext cx="8001000" cy="647700"/>
            <a:chOff x="0" y="0"/>
            <a:chExt cx="8001000" cy="647700"/>
          </a:xfrm>
        </p:grpSpPr>
        <p:sp>
          <p:nvSpPr>
            <p:cNvPr id="223" name="Google Shape;223;p18"/>
            <p:cNvSpPr/>
            <p:nvPr/>
          </p:nvSpPr>
          <p:spPr>
            <a:xfrm>
              <a:off x="0" y="0"/>
              <a:ext cx="304800" cy="47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18"/>
            <p:cNvSpPr/>
            <p:nvPr/>
          </p:nvSpPr>
          <p:spPr>
            <a:xfrm>
              <a:off x="361950" y="0"/>
              <a:ext cx="304800" cy="47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8"/>
            <p:cNvSpPr txBox="1"/>
            <p:nvPr/>
          </p:nvSpPr>
          <p:spPr>
            <a:xfrm>
              <a:off x="0" y="133350"/>
              <a:ext cx="8001000" cy="152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EB5600"/>
                  </a:solidFill>
                  <a:latin typeface="Raleway ExtraBold"/>
                  <a:ea typeface="Raleway ExtraBold"/>
                  <a:cs typeface="Raleway ExtraBold"/>
                  <a:sym typeface="Raleway ExtraBold"/>
                </a:rPr>
                <a:t>TECHNOLOGY</a:t>
              </a:r>
              <a:endParaRPr b="0" sz="900">
                <a:solidFill>
                  <a:srgbClr val="EB5600"/>
                </a:solidFill>
                <a:latin typeface="Raleway ExtraBold"/>
                <a:ea typeface="Raleway ExtraBold"/>
                <a:cs typeface="Raleway ExtraBold"/>
                <a:sym typeface="Raleway ExtraBold"/>
              </a:endParaRPr>
            </a:p>
          </p:txBody>
        </p:sp>
        <p:sp>
          <p:nvSpPr>
            <p:cNvPr id="226" name="Google Shape;226;p18"/>
            <p:cNvSpPr txBox="1"/>
            <p:nvPr/>
          </p:nvSpPr>
          <p:spPr>
            <a:xfrm>
              <a:off x="0" y="304800"/>
              <a:ext cx="80010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200">
                  <a:solidFill>
                    <a:srgbClr val="0F172A"/>
                  </a:solidFill>
                  <a:latin typeface="Raleway ExtraBold"/>
                  <a:ea typeface="Raleway ExtraBold"/>
                  <a:cs typeface="Raleway ExtraBold"/>
                  <a:sym typeface="Raleway ExtraBold"/>
                </a:rPr>
                <a:t>THE TECH STACK </a:t>
              </a:r>
              <a:r>
                <a:rPr lang="en" sz="2200">
                  <a:solidFill>
                    <a:srgbClr val="0F172A"/>
                  </a:solidFill>
                  <a:latin typeface="Raleway ExtraBold"/>
                  <a:ea typeface="Raleway ExtraBold"/>
                  <a:cs typeface="Raleway ExtraBold"/>
                  <a:sym typeface="Raleway ExtraBold"/>
                </a:rPr>
                <a:t>I USED</a:t>
              </a:r>
              <a:endParaRPr b="0" sz="2200">
                <a:solidFill>
                  <a:srgbClr val="0F172A"/>
                </a:solidFill>
                <a:latin typeface="Raleway ExtraBold"/>
                <a:ea typeface="Raleway ExtraBold"/>
                <a:cs typeface="Raleway ExtraBold"/>
                <a:sym typeface="Raleway ExtraBold"/>
              </a:endParaRPr>
            </a:p>
          </p:txBody>
        </p:sp>
      </p:grpSp>
      <p:grpSp>
        <p:nvGrpSpPr>
          <p:cNvPr id="227" name="Google Shape;227;p18"/>
          <p:cNvGrpSpPr/>
          <p:nvPr/>
        </p:nvGrpSpPr>
        <p:grpSpPr>
          <a:xfrm>
            <a:off x="571500" y="1095375"/>
            <a:ext cx="2533800" cy="1666800"/>
            <a:chOff x="0" y="0"/>
            <a:chExt cx="2533800" cy="1666800"/>
          </a:xfrm>
        </p:grpSpPr>
        <p:sp>
          <p:nvSpPr>
            <p:cNvPr id="228" name="Google Shape;228;p18"/>
            <p:cNvSpPr/>
            <p:nvPr/>
          </p:nvSpPr>
          <p:spPr>
            <a:xfrm>
              <a:off x="0" y="0"/>
              <a:ext cx="2533800" cy="1666800"/>
            </a:xfrm>
            <a:prstGeom prst="roundRect">
              <a:avLst>
                <a:gd fmla="val 8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18"/>
            <p:cNvSpPr/>
            <p:nvPr/>
          </p:nvSpPr>
          <p:spPr>
            <a:xfrm>
              <a:off x="0" y="0"/>
              <a:ext cx="2533800" cy="573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18"/>
            <p:cNvSpPr/>
            <p:nvPr/>
          </p:nvSpPr>
          <p:spPr>
            <a:xfrm>
              <a:off x="171450" y="190500"/>
              <a:ext cx="1000200" cy="209700"/>
            </a:xfrm>
            <a:prstGeom prst="roundRect">
              <a:avLst>
                <a:gd fmla="val 50000"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18"/>
            <p:cNvSpPr txBox="1"/>
            <p:nvPr/>
          </p:nvSpPr>
          <p:spPr>
            <a:xfrm>
              <a:off x="171450" y="190500"/>
              <a:ext cx="10002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1A9988"/>
                  </a:solidFill>
                  <a:latin typeface="Raleway ExtraBold"/>
                  <a:ea typeface="Raleway ExtraBold"/>
                  <a:cs typeface="Raleway ExtraBold"/>
                  <a:sym typeface="Raleway ExtraBold"/>
                </a:rPr>
                <a:t>The skeleton</a:t>
              </a:r>
              <a:endParaRPr b="0" sz="850">
                <a:solidFill>
                  <a:srgbClr val="1A9988"/>
                </a:solidFill>
                <a:latin typeface="Raleway ExtraBold"/>
                <a:ea typeface="Raleway ExtraBold"/>
                <a:cs typeface="Raleway ExtraBold"/>
                <a:sym typeface="Raleway ExtraBold"/>
              </a:endParaRPr>
            </a:p>
          </p:txBody>
        </p:sp>
        <p:sp>
          <p:nvSpPr>
            <p:cNvPr id="232" name="Google Shape;232;p18"/>
            <p:cNvSpPr txBox="1"/>
            <p:nvPr/>
          </p:nvSpPr>
          <p:spPr>
            <a:xfrm>
              <a:off x="171450" y="457200"/>
              <a:ext cx="2190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700">
                  <a:solidFill>
                    <a:srgbClr val="0F172A"/>
                  </a:solidFill>
                  <a:latin typeface="Raleway ExtraBold"/>
                  <a:ea typeface="Raleway ExtraBold"/>
                  <a:cs typeface="Raleway ExtraBold"/>
                  <a:sym typeface="Raleway ExtraBold"/>
                </a:rPr>
                <a:t>HTML5</a:t>
              </a:r>
              <a:endParaRPr b="0" sz="1700">
                <a:solidFill>
                  <a:srgbClr val="0F172A"/>
                </a:solidFill>
                <a:latin typeface="Raleway ExtraBold"/>
                <a:ea typeface="Raleway ExtraBold"/>
                <a:cs typeface="Raleway ExtraBold"/>
                <a:sym typeface="Raleway ExtraBold"/>
              </a:endParaRPr>
            </a:p>
          </p:txBody>
        </p:sp>
        <p:cxnSp>
          <p:nvCxnSpPr>
            <p:cNvPr id="233" name="Google Shape;233;p18"/>
            <p:cNvCxnSpPr/>
            <p:nvPr/>
          </p:nvCxnSpPr>
          <p:spPr>
            <a:xfrm>
              <a:off x="171450" y="800100"/>
              <a:ext cx="2190900" cy="0"/>
            </a:xfrm>
            <a:prstGeom prst="straightConnector1">
              <a:avLst/>
            </a:prstGeom>
            <a:solidFill>
              <a:srgbClr val="FFFFFF"/>
            </a:solidFill>
            <a:ln cap="flat" cmpd="sng" w="9525">
              <a:solidFill>
                <a:srgbClr val="F1F5F9"/>
              </a:solidFill>
              <a:prstDash val="solid"/>
              <a:round/>
              <a:headEnd len="sm" w="sm" type="none"/>
              <a:tailEnd len="sm" w="sm" type="none"/>
            </a:ln>
          </p:spPr>
        </p:cxnSp>
        <p:sp>
          <p:nvSpPr>
            <p:cNvPr id="234" name="Google Shape;234;p18"/>
            <p:cNvSpPr txBox="1"/>
            <p:nvPr/>
          </p:nvSpPr>
          <p:spPr>
            <a:xfrm>
              <a:off x="171450" y="895350"/>
              <a:ext cx="2190900" cy="647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334155"/>
                  </a:solidFill>
                  <a:latin typeface="Lato"/>
                  <a:ea typeface="Lato"/>
                  <a:cs typeface="Lato"/>
                  <a:sym typeface="Lato"/>
                </a:rPr>
                <a:t>Defines the structure: inputs, labels, dropdowns, the table area.</a:t>
              </a:r>
              <a:endParaRPr b="0" sz="1050">
                <a:solidFill>
                  <a:srgbClr val="334155"/>
                </a:solidFill>
                <a:latin typeface="Lato"/>
                <a:ea typeface="Lato"/>
                <a:cs typeface="Lato"/>
                <a:sym typeface="Lato"/>
              </a:endParaRPr>
            </a:p>
          </p:txBody>
        </p:sp>
      </p:grpSp>
      <p:grpSp>
        <p:nvGrpSpPr>
          <p:cNvPr id="235" name="Google Shape;235;p18"/>
          <p:cNvGrpSpPr/>
          <p:nvPr/>
        </p:nvGrpSpPr>
        <p:grpSpPr>
          <a:xfrm>
            <a:off x="3305175" y="1095375"/>
            <a:ext cx="2533800" cy="1666800"/>
            <a:chOff x="0" y="0"/>
            <a:chExt cx="2533800" cy="1666800"/>
          </a:xfrm>
        </p:grpSpPr>
        <p:sp>
          <p:nvSpPr>
            <p:cNvPr id="236" name="Google Shape;236;p18"/>
            <p:cNvSpPr/>
            <p:nvPr/>
          </p:nvSpPr>
          <p:spPr>
            <a:xfrm>
              <a:off x="0" y="0"/>
              <a:ext cx="2533800" cy="1666800"/>
            </a:xfrm>
            <a:prstGeom prst="roundRect">
              <a:avLst>
                <a:gd fmla="val 8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18"/>
            <p:cNvSpPr/>
            <p:nvPr/>
          </p:nvSpPr>
          <p:spPr>
            <a:xfrm>
              <a:off x="0" y="0"/>
              <a:ext cx="25338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18"/>
            <p:cNvSpPr/>
            <p:nvPr/>
          </p:nvSpPr>
          <p:spPr>
            <a:xfrm>
              <a:off x="171450" y="190500"/>
              <a:ext cx="904800" cy="2097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18"/>
            <p:cNvSpPr txBox="1"/>
            <p:nvPr/>
          </p:nvSpPr>
          <p:spPr>
            <a:xfrm>
              <a:off x="171450" y="190500"/>
              <a:ext cx="9048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2563EB"/>
                  </a:solidFill>
                  <a:latin typeface="Raleway ExtraBold"/>
                  <a:ea typeface="Raleway ExtraBold"/>
                  <a:cs typeface="Raleway ExtraBold"/>
                  <a:sym typeface="Raleway ExtraBold"/>
                </a:rPr>
                <a:t>The clothes</a:t>
              </a:r>
              <a:endParaRPr b="0" sz="850">
                <a:solidFill>
                  <a:srgbClr val="2563EB"/>
                </a:solidFill>
                <a:latin typeface="Raleway ExtraBold"/>
                <a:ea typeface="Raleway ExtraBold"/>
                <a:cs typeface="Raleway ExtraBold"/>
                <a:sym typeface="Raleway ExtraBold"/>
              </a:endParaRPr>
            </a:p>
          </p:txBody>
        </p:sp>
        <p:sp>
          <p:nvSpPr>
            <p:cNvPr id="240" name="Google Shape;240;p18"/>
            <p:cNvSpPr txBox="1"/>
            <p:nvPr/>
          </p:nvSpPr>
          <p:spPr>
            <a:xfrm>
              <a:off x="171450" y="457200"/>
              <a:ext cx="2190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700">
                  <a:solidFill>
                    <a:srgbClr val="0F172A"/>
                  </a:solidFill>
                  <a:latin typeface="Raleway ExtraBold"/>
                  <a:ea typeface="Raleway ExtraBold"/>
                  <a:cs typeface="Raleway ExtraBold"/>
                  <a:sym typeface="Raleway ExtraBold"/>
                </a:rPr>
                <a:t>CSS3</a:t>
              </a:r>
              <a:endParaRPr b="0" sz="1700">
                <a:solidFill>
                  <a:srgbClr val="0F172A"/>
                </a:solidFill>
                <a:latin typeface="Raleway ExtraBold"/>
                <a:ea typeface="Raleway ExtraBold"/>
                <a:cs typeface="Raleway ExtraBold"/>
                <a:sym typeface="Raleway ExtraBold"/>
              </a:endParaRPr>
            </a:p>
          </p:txBody>
        </p:sp>
        <p:cxnSp>
          <p:nvCxnSpPr>
            <p:cNvPr id="241" name="Google Shape;241;p18"/>
            <p:cNvCxnSpPr/>
            <p:nvPr/>
          </p:nvCxnSpPr>
          <p:spPr>
            <a:xfrm>
              <a:off x="171450" y="800100"/>
              <a:ext cx="2190900" cy="0"/>
            </a:xfrm>
            <a:prstGeom prst="straightConnector1">
              <a:avLst/>
            </a:prstGeom>
            <a:solidFill>
              <a:srgbClr val="FFFFFF"/>
            </a:solidFill>
            <a:ln cap="flat" cmpd="sng" w="9525">
              <a:solidFill>
                <a:srgbClr val="F1F5F9"/>
              </a:solidFill>
              <a:prstDash val="solid"/>
              <a:round/>
              <a:headEnd len="sm" w="sm" type="none"/>
              <a:tailEnd len="sm" w="sm" type="none"/>
            </a:ln>
          </p:spPr>
        </p:cxnSp>
        <p:sp>
          <p:nvSpPr>
            <p:cNvPr id="242" name="Google Shape;242;p18"/>
            <p:cNvSpPr txBox="1"/>
            <p:nvPr/>
          </p:nvSpPr>
          <p:spPr>
            <a:xfrm>
              <a:off x="171450" y="895350"/>
              <a:ext cx="2190900" cy="647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334155"/>
                  </a:solidFill>
                  <a:latin typeface="Lato"/>
                  <a:ea typeface="Lato"/>
                  <a:cs typeface="Lato"/>
                  <a:sym typeface="Lato"/>
                </a:rPr>
                <a:t>The registry look: colours, fonts, CSS Grid layout, mobile-friendly rules.</a:t>
              </a:r>
              <a:endParaRPr b="0" sz="1050">
                <a:solidFill>
                  <a:srgbClr val="334155"/>
                </a:solidFill>
                <a:latin typeface="Lato"/>
                <a:ea typeface="Lato"/>
                <a:cs typeface="Lato"/>
                <a:sym typeface="Lato"/>
              </a:endParaRPr>
            </a:p>
          </p:txBody>
        </p:sp>
      </p:grpSp>
      <p:grpSp>
        <p:nvGrpSpPr>
          <p:cNvPr id="243" name="Google Shape;243;p18"/>
          <p:cNvGrpSpPr/>
          <p:nvPr/>
        </p:nvGrpSpPr>
        <p:grpSpPr>
          <a:xfrm>
            <a:off x="6038850" y="1095375"/>
            <a:ext cx="2533800" cy="1666800"/>
            <a:chOff x="0" y="0"/>
            <a:chExt cx="2533800" cy="1666800"/>
          </a:xfrm>
        </p:grpSpPr>
        <p:sp>
          <p:nvSpPr>
            <p:cNvPr id="244" name="Google Shape;244;p18"/>
            <p:cNvSpPr/>
            <p:nvPr/>
          </p:nvSpPr>
          <p:spPr>
            <a:xfrm>
              <a:off x="0" y="0"/>
              <a:ext cx="2533800" cy="1666800"/>
            </a:xfrm>
            <a:prstGeom prst="roundRect">
              <a:avLst>
                <a:gd fmla="val 8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18"/>
            <p:cNvSpPr/>
            <p:nvPr/>
          </p:nvSpPr>
          <p:spPr>
            <a:xfrm>
              <a:off x="0" y="0"/>
              <a:ext cx="2533800" cy="573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18"/>
            <p:cNvSpPr/>
            <p:nvPr/>
          </p:nvSpPr>
          <p:spPr>
            <a:xfrm>
              <a:off x="171450" y="190500"/>
              <a:ext cx="809700" cy="209700"/>
            </a:xfrm>
            <a:prstGeom prst="roundRect">
              <a:avLst>
                <a:gd fmla="val 50000" name="adj"/>
              </a:avLst>
            </a:prstGeom>
            <a:solidFill>
              <a:srgbClr val="FFF1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18"/>
            <p:cNvSpPr txBox="1"/>
            <p:nvPr/>
          </p:nvSpPr>
          <p:spPr>
            <a:xfrm>
              <a:off x="171450" y="190500"/>
              <a:ext cx="8097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EB5600"/>
                  </a:solidFill>
                  <a:latin typeface="Raleway ExtraBold"/>
                  <a:ea typeface="Raleway ExtraBold"/>
                  <a:cs typeface="Raleway ExtraBold"/>
                  <a:sym typeface="Raleway ExtraBold"/>
                </a:rPr>
                <a:t>The brain</a:t>
              </a:r>
              <a:endParaRPr b="0" sz="850">
                <a:solidFill>
                  <a:srgbClr val="EB5600"/>
                </a:solidFill>
                <a:latin typeface="Raleway ExtraBold"/>
                <a:ea typeface="Raleway ExtraBold"/>
                <a:cs typeface="Raleway ExtraBold"/>
                <a:sym typeface="Raleway ExtraBold"/>
              </a:endParaRPr>
            </a:p>
          </p:txBody>
        </p:sp>
        <p:sp>
          <p:nvSpPr>
            <p:cNvPr id="248" name="Google Shape;248;p18"/>
            <p:cNvSpPr txBox="1"/>
            <p:nvPr/>
          </p:nvSpPr>
          <p:spPr>
            <a:xfrm>
              <a:off x="171450" y="457200"/>
              <a:ext cx="2190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700">
                  <a:solidFill>
                    <a:srgbClr val="0F172A"/>
                  </a:solidFill>
                  <a:latin typeface="Raleway ExtraBold"/>
                  <a:ea typeface="Raleway ExtraBold"/>
                  <a:cs typeface="Raleway ExtraBold"/>
                  <a:sym typeface="Raleway ExtraBold"/>
                </a:rPr>
                <a:t>JavaScript</a:t>
              </a:r>
              <a:endParaRPr b="0" sz="1700">
                <a:solidFill>
                  <a:srgbClr val="0F172A"/>
                </a:solidFill>
                <a:latin typeface="Raleway ExtraBold"/>
                <a:ea typeface="Raleway ExtraBold"/>
                <a:cs typeface="Raleway ExtraBold"/>
                <a:sym typeface="Raleway ExtraBold"/>
              </a:endParaRPr>
            </a:p>
          </p:txBody>
        </p:sp>
        <p:cxnSp>
          <p:nvCxnSpPr>
            <p:cNvPr id="249" name="Google Shape;249;p18"/>
            <p:cNvCxnSpPr/>
            <p:nvPr/>
          </p:nvCxnSpPr>
          <p:spPr>
            <a:xfrm>
              <a:off x="171450" y="800100"/>
              <a:ext cx="2190900" cy="0"/>
            </a:xfrm>
            <a:prstGeom prst="straightConnector1">
              <a:avLst/>
            </a:prstGeom>
            <a:solidFill>
              <a:srgbClr val="FFFFFF"/>
            </a:solidFill>
            <a:ln cap="flat" cmpd="sng" w="9525">
              <a:solidFill>
                <a:srgbClr val="F1F5F9"/>
              </a:solidFill>
              <a:prstDash val="solid"/>
              <a:round/>
              <a:headEnd len="sm" w="sm" type="none"/>
              <a:tailEnd len="sm" w="sm" type="none"/>
            </a:ln>
          </p:spPr>
        </p:cxnSp>
        <p:sp>
          <p:nvSpPr>
            <p:cNvPr id="250" name="Google Shape;250;p18"/>
            <p:cNvSpPr txBox="1"/>
            <p:nvPr/>
          </p:nvSpPr>
          <p:spPr>
            <a:xfrm>
              <a:off x="171450" y="895350"/>
              <a:ext cx="2190900" cy="647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334155"/>
                  </a:solidFill>
                  <a:latin typeface="Lato"/>
                  <a:ea typeface="Lato"/>
                  <a:cs typeface="Lato"/>
                  <a:sym typeface="Lato"/>
                </a:rPr>
                <a:t>Handles clicks, validation, age calculation and all database calls.</a:t>
              </a:r>
              <a:endParaRPr b="0" sz="1050">
                <a:solidFill>
                  <a:srgbClr val="334155"/>
                </a:solidFill>
                <a:latin typeface="Lato"/>
                <a:ea typeface="Lato"/>
                <a:cs typeface="Lato"/>
                <a:sym typeface="Lato"/>
              </a:endParaRPr>
            </a:p>
          </p:txBody>
        </p:sp>
      </p:grpSp>
      <p:grpSp>
        <p:nvGrpSpPr>
          <p:cNvPr id="251" name="Google Shape;251;p18"/>
          <p:cNvGrpSpPr/>
          <p:nvPr/>
        </p:nvGrpSpPr>
        <p:grpSpPr>
          <a:xfrm>
            <a:off x="571500" y="2905125"/>
            <a:ext cx="2533800" cy="1666800"/>
            <a:chOff x="0" y="0"/>
            <a:chExt cx="2533800" cy="1666800"/>
          </a:xfrm>
        </p:grpSpPr>
        <p:sp>
          <p:nvSpPr>
            <p:cNvPr id="252" name="Google Shape;252;p18"/>
            <p:cNvSpPr/>
            <p:nvPr/>
          </p:nvSpPr>
          <p:spPr>
            <a:xfrm>
              <a:off x="0" y="0"/>
              <a:ext cx="2533800" cy="1666800"/>
            </a:xfrm>
            <a:prstGeom prst="roundRect">
              <a:avLst>
                <a:gd fmla="val 8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18"/>
            <p:cNvSpPr/>
            <p:nvPr/>
          </p:nvSpPr>
          <p:spPr>
            <a:xfrm>
              <a:off x="0" y="0"/>
              <a:ext cx="2533800" cy="573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18"/>
            <p:cNvSpPr/>
            <p:nvPr/>
          </p:nvSpPr>
          <p:spPr>
            <a:xfrm>
              <a:off x="171450" y="190500"/>
              <a:ext cx="904800" cy="209700"/>
            </a:xfrm>
            <a:prstGeom prst="roundRect">
              <a:avLst>
                <a:gd fmla="val 50000"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18"/>
            <p:cNvSpPr txBox="1"/>
            <p:nvPr/>
          </p:nvSpPr>
          <p:spPr>
            <a:xfrm>
              <a:off x="171450" y="190500"/>
              <a:ext cx="9048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1A9988"/>
                  </a:solidFill>
                  <a:latin typeface="Raleway ExtraBold"/>
                  <a:ea typeface="Raleway ExtraBold"/>
                  <a:cs typeface="Raleway ExtraBold"/>
                  <a:sym typeface="Raleway ExtraBold"/>
                </a:rPr>
                <a:t>The engine</a:t>
              </a:r>
              <a:endParaRPr b="0" sz="850">
                <a:solidFill>
                  <a:srgbClr val="1A9988"/>
                </a:solidFill>
                <a:latin typeface="Raleway ExtraBold"/>
                <a:ea typeface="Raleway ExtraBold"/>
                <a:cs typeface="Raleway ExtraBold"/>
                <a:sym typeface="Raleway ExtraBold"/>
              </a:endParaRPr>
            </a:p>
          </p:txBody>
        </p:sp>
        <p:sp>
          <p:nvSpPr>
            <p:cNvPr id="256" name="Google Shape;256;p18"/>
            <p:cNvSpPr txBox="1"/>
            <p:nvPr/>
          </p:nvSpPr>
          <p:spPr>
            <a:xfrm>
              <a:off x="171450" y="457200"/>
              <a:ext cx="2190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700">
                  <a:solidFill>
                    <a:srgbClr val="0F172A"/>
                  </a:solidFill>
                  <a:latin typeface="Raleway ExtraBold"/>
                  <a:ea typeface="Raleway ExtraBold"/>
                  <a:cs typeface="Raleway ExtraBold"/>
                  <a:sym typeface="Raleway ExtraBold"/>
                </a:rPr>
                <a:t>Node.js</a:t>
              </a:r>
              <a:endParaRPr b="0" sz="1700">
                <a:solidFill>
                  <a:srgbClr val="0F172A"/>
                </a:solidFill>
                <a:latin typeface="Raleway ExtraBold"/>
                <a:ea typeface="Raleway ExtraBold"/>
                <a:cs typeface="Raleway ExtraBold"/>
                <a:sym typeface="Raleway ExtraBold"/>
              </a:endParaRPr>
            </a:p>
          </p:txBody>
        </p:sp>
        <p:cxnSp>
          <p:nvCxnSpPr>
            <p:cNvPr id="257" name="Google Shape;257;p18"/>
            <p:cNvCxnSpPr/>
            <p:nvPr/>
          </p:nvCxnSpPr>
          <p:spPr>
            <a:xfrm>
              <a:off x="171450" y="800100"/>
              <a:ext cx="2190900" cy="0"/>
            </a:xfrm>
            <a:prstGeom prst="straightConnector1">
              <a:avLst/>
            </a:prstGeom>
            <a:solidFill>
              <a:srgbClr val="FFFFFF"/>
            </a:solidFill>
            <a:ln cap="flat" cmpd="sng" w="9525">
              <a:solidFill>
                <a:srgbClr val="F1F5F9"/>
              </a:solidFill>
              <a:prstDash val="solid"/>
              <a:round/>
              <a:headEnd len="sm" w="sm" type="none"/>
              <a:tailEnd len="sm" w="sm" type="none"/>
            </a:ln>
          </p:spPr>
        </p:cxnSp>
        <p:sp>
          <p:nvSpPr>
            <p:cNvPr id="258" name="Google Shape;258;p18"/>
            <p:cNvSpPr txBox="1"/>
            <p:nvPr/>
          </p:nvSpPr>
          <p:spPr>
            <a:xfrm>
              <a:off x="171450" y="895350"/>
              <a:ext cx="2190900" cy="647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334155"/>
                  </a:solidFill>
                  <a:latin typeface="Lato"/>
                  <a:ea typeface="Lato"/>
                  <a:cs typeface="Lato"/>
                  <a:sym typeface="Lato"/>
                </a:rPr>
                <a:t>Lets us run JavaScript on a computer, outside of the browser.</a:t>
              </a:r>
              <a:endParaRPr b="0" sz="1050">
                <a:solidFill>
                  <a:srgbClr val="334155"/>
                </a:solidFill>
                <a:latin typeface="Lato"/>
                <a:ea typeface="Lato"/>
                <a:cs typeface="Lato"/>
                <a:sym typeface="Lato"/>
              </a:endParaRPr>
            </a:p>
          </p:txBody>
        </p:sp>
      </p:grpSp>
      <p:grpSp>
        <p:nvGrpSpPr>
          <p:cNvPr id="259" name="Google Shape;259;p18"/>
          <p:cNvGrpSpPr/>
          <p:nvPr/>
        </p:nvGrpSpPr>
        <p:grpSpPr>
          <a:xfrm>
            <a:off x="3305175" y="2905125"/>
            <a:ext cx="2533800" cy="1666800"/>
            <a:chOff x="0" y="0"/>
            <a:chExt cx="2533800" cy="1666800"/>
          </a:xfrm>
        </p:grpSpPr>
        <p:sp>
          <p:nvSpPr>
            <p:cNvPr id="260" name="Google Shape;260;p18"/>
            <p:cNvSpPr/>
            <p:nvPr/>
          </p:nvSpPr>
          <p:spPr>
            <a:xfrm>
              <a:off x="0" y="0"/>
              <a:ext cx="2533800" cy="1666800"/>
            </a:xfrm>
            <a:prstGeom prst="roundRect">
              <a:avLst>
                <a:gd fmla="val 8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18"/>
            <p:cNvSpPr/>
            <p:nvPr/>
          </p:nvSpPr>
          <p:spPr>
            <a:xfrm>
              <a:off x="0" y="0"/>
              <a:ext cx="2533800" cy="573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18"/>
            <p:cNvSpPr/>
            <p:nvPr/>
          </p:nvSpPr>
          <p:spPr>
            <a:xfrm>
              <a:off x="171450" y="190500"/>
              <a:ext cx="1285800" cy="209700"/>
            </a:xfrm>
            <a:prstGeom prst="roundRect">
              <a:avLst>
                <a:gd fmla="val 50000" name="adj"/>
              </a:avLst>
            </a:prstGeom>
            <a:solidFill>
              <a:srgbClr val="FFF1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18"/>
            <p:cNvSpPr txBox="1"/>
            <p:nvPr/>
          </p:nvSpPr>
          <p:spPr>
            <a:xfrm>
              <a:off x="171450" y="190500"/>
              <a:ext cx="12858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EB5600"/>
                  </a:solidFill>
                  <a:latin typeface="Raleway ExtraBold"/>
                  <a:ea typeface="Raleway ExtraBold"/>
                  <a:cs typeface="Raleway ExtraBold"/>
                  <a:sym typeface="Raleway ExtraBold"/>
                </a:rPr>
                <a:t>The delivery person</a:t>
              </a:r>
              <a:endParaRPr b="0" sz="850">
                <a:solidFill>
                  <a:srgbClr val="EB5600"/>
                </a:solidFill>
                <a:latin typeface="Raleway ExtraBold"/>
                <a:ea typeface="Raleway ExtraBold"/>
                <a:cs typeface="Raleway ExtraBold"/>
                <a:sym typeface="Raleway ExtraBold"/>
              </a:endParaRPr>
            </a:p>
          </p:txBody>
        </p:sp>
        <p:sp>
          <p:nvSpPr>
            <p:cNvPr id="264" name="Google Shape;264;p18"/>
            <p:cNvSpPr txBox="1"/>
            <p:nvPr/>
          </p:nvSpPr>
          <p:spPr>
            <a:xfrm>
              <a:off x="171450" y="457200"/>
              <a:ext cx="2190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700">
                  <a:solidFill>
                    <a:srgbClr val="0F172A"/>
                  </a:solidFill>
                  <a:latin typeface="Raleway ExtraBold"/>
                  <a:ea typeface="Raleway ExtraBold"/>
                  <a:cs typeface="Raleway ExtraBold"/>
                  <a:sym typeface="Raleway ExtraBold"/>
                </a:rPr>
                <a:t>Express 5</a:t>
              </a:r>
              <a:endParaRPr b="0" sz="1700">
                <a:solidFill>
                  <a:srgbClr val="0F172A"/>
                </a:solidFill>
                <a:latin typeface="Raleway ExtraBold"/>
                <a:ea typeface="Raleway ExtraBold"/>
                <a:cs typeface="Raleway ExtraBold"/>
                <a:sym typeface="Raleway ExtraBold"/>
              </a:endParaRPr>
            </a:p>
          </p:txBody>
        </p:sp>
        <p:cxnSp>
          <p:nvCxnSpPr>
            <p:cNvPr id="265" name="Google Shape;265;p18"/>
            <p:cNvCxnSpPr/>
            <p:nvPr/>
          </p:nvCxnSpPr>
          <p:spPr>
            <a:xfrm>
              <a:off x="171450" y="800100"/>
              <a:ext cx="2190900" cy="0"/>
            </a:xfrm>
            <a:prstGeom prst="straightConnector1">
              <a:avLst/>
            </a:prstGeom>
            <a:solidFill>
              <a:srgbClr val="FFFFFF"/>
            </a:solidFill>
            <a:ln cap="flat" cmpd="sng" w="9525">
              <a:solidFill>
                <a:srgbClr val="F1F5F9"/>
              </a:solidFill>
              <a:prstDash val="solid"/>
              <a:round/>
              <a:headEnd len="sm" w="sm" type="none"/>
              <a:tailEnd len="sm" w="sm" type="none"/>
            </a:ln>
          </p:spPr>
        </p:cxnSp>
        <p:sp>
          <p:nvSpPr>
            <p:cNvPr id="266" name="Google Shape;266;p18"/>
            <p:cNvSpPr txBox="1"/>
            <p:nvPr/>
          </p:nvSpPr>
          <p:spPr>
            <a:xfrm>
              <a:off x="171450" y="895350"/>
              <a:ext cx="2190900" cy="647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334155"/>
                  </a:solidFill>
                  <a:latin typeface="Lato"/>
                  <a:ea typeface="Lato"/>
                  <a:cs typeface="Lato"/>
                  <a:sym typeface="Lato"/>
                </a:rPr>
                <a:t>A small web server that hands the page, CSS and JS to the browser.</a:t>
              </a:r>
              <a:endParaRPr b="0" sz="1050">
                <a:solidFill>
                  <a:srgbClr val="334155"/>
                </a:solidFill>
                <a:latin typeface="Lato"/>
                <a:ea typeface="Lato"/>
                <a:cs typeface="Lato"/>
                <a:sym typeface="Lato"/>
              </a:endParaRPr>
            </a:p>
          </p:txBody>
        </p:sp>
      </p:grpSp>
      <p:grpSp>
        <p:nvGrpSpPr>
          <p:cNvPr id="267" name="Google Shape;267;p18"/>
          <p:cNvGrpSpPr/>
          <p:nvPr/>
        </p:nvGrpSpPr>
        <p:grpSpPr>
          <a:xfrm>
            <a:off x="6038850" y="2905125"/>
            <a:ext cx="2533800" cy="1666800"/>
            <a:chOff x="0" y="0"/>
            <a:chExt cx="2533800" cy="1666800"/>
          </a:xfrm>
        </p:grpSpPr>
        <p:sp>
          <p:nvSpPr>
            <p:cNvPr id="268" name="Google Shape;268;p18"/>
            <p:cNvSpPr/>
            <p:nvPr/>
          </p:nvSpPr>
          <p:spPr>
            <a:xfrm>
              <a:off x="0" y="0"/>
              <a:ext cx="2533800" cy="1666800"/>
            </a:xfrm>
            <a:prstGeom prst="roundRect">
              <a:avLst>
                <a:gd fmla="val 8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18"/>
            <p:cNvSpPr/>
            <p:nvPr/>
          </p:nvSpPr>
          <p:spPr>
            <a:xfrm>
              <a:off x="0" y="0"/>
              <a:ext cx="25338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18"/>
            <p:cNvSpPr/>
            <p:nvPr/>
          </p:nvSpPr>
          <p:spPr>
            <a:xfrm>
              <a:off x="171450" y="190500"/>
              <a:ext cx="1381200" cy="2097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18"/>
            <p:cNvSpPr txBox="1"/>
            <p:nvPr/>
          </p:nvSpPr>
          <p:spPr>
            <a:xfrm>
              <a:off x="171450" y="190500"/>
              <a:ext cx="13812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2563EB"/>
                  </a:solidFill>
                  <a:latin typeface="Raleway ExtraBold"/>
                  <a:ea typeface="Raleway ExtraBold"/>
                  <a:cs typeface="Raleway ExtraBold"/>
                  <a:sym typeface="Raleway ExtraBold"/>
                </a:rPr>
                <a:t>The cloud filing cabinet</a:t>
              </a:r>
              <a:endParaRPr b="0" sz="850">
                <a:solidFill>
                  <a:srgbClr val="2563EB"/>
                </a:solidFill>
                <a:latin typeface="Raleway ExtraBold"/>
                <a:ea typeface="Raleway ExtraBold"/>
                <a:cs typeface="Raleway ExtraBold"/>
                <a:sym typeface="Raleway ExtraBold"/>
              </a:endParaRPr>
            </a:p>
          </p:txBody>
        </p:sp>
        <p:sp>
          <p:nvSpPr>
            <p:cNvPr id="272" name="Google Shape;272;p18"/>
            <p:cNvSpPr txBox="1"/>
            <p:nvPr/>
          </p:nvSpPr>
          <p:spPr>
            <a:xfrm>
              <a:off x="171450" y="457200"/>
              <a:ext cx="21909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700">
                  <a:solidFill>
                    <a:srgbClr val="0F172A"/>
                  </a:solidFill>
                  <a:latin typeface="Raleway ExtraBold"/>
                  <a:ea typeface="Raleway ExtraBold"/>
                  <a:cs typeface="Raleway ExtraBold"/>
                  <a:sym typeface="Raleway ExtraBold"/>
                </a:rPr>
                <a:t>Supabase</a:t>
              </a:r>
              <a:endParaRPr b="0" sz="1700">
                <a:solidFill>
                  <a:srgbClr val="0F172A"/>
                </a:solidFill>
                <a:latin typeface="Raleway ExtraBold"/>
                <a:ea typeface="Raleway ExtraBold"/>
                <a:cs typeface="Raleway ExtraBold"/>
                <a:sym typeface="Raleway ExtraBold"/>
              </a:endParaRPr>
            </a:p>
          </p:txBody>
        </p:sp>
        <p:cxnSp>
          <p:nvCxnSpPr>
            <p:cNvPr id="273" name="Google Shape;273;p18"/>
            <p:cNvCxnSpPr/>
            <p:nvPr/>
          </p:nvCxnSpPr>
          <p:spPr>
            <a:xfrm>
              <a:off x="171450" y="800100"/>
              <a:ext cx="2190900" cy="0"/>
            </a:xfrm>
            <a:prstGeom prst="straightConnector1">
              <a:avLst/>
            </a:prstGeom>
            <a:solidFill>
              <a:srgbClr val="FFFFFF"/>
            </a:solidFill>
            <a:ln cap="flat" cmpd="sng" w="9525">
              <a:solidFill>
                <a:srgbClr val="F1F5F9"/>
              </a:solidFill>
              <a:prstDash val="solid"/>
              <a:round/>
              <a:headEnd len="sm" w="sm" type="none"/>
              <a:tailEnd len="sm" w="sm" type="none"/>
            </a:ln>
          </p:spPr>
        </p:cxnSp>
        <p:sp>
          <p:nvSpPr>
            <p:cNvPr id="274" name="Google Shape;274;p18"/>
            <p:cNvSpPr txBox="1"/>
            <p:nvPr/>
          </p:nvSpPr>
          <p:spPr>
            <a:xfrm>
              <a:off x="171450" y="895350"/>
              <a:ext cx="2190900" cy="647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334155"/>
                  </a:solidFill>
                  <a:latin typeface="Lato"/>
                  <a:ea typeface="Lato"/>
                  <a:cs typeface="Lato"/>
                  <a:sym typeface="Lato"/>
                </a:rPr>
                <a:t>A hosted PostgreSQL database with an instant REST API.</a:t>
              </a:r>
              <a:endParaRPr b="0" sz="1050">
                <a:solidFill>
                  <a:srgbClr val="334155"/>
                </a:solidFill>
                <a:latin typeface="Lato"/>
                <a:ea typeface="Lato"/>
                <a:cs typeface="Lato"/>
                <a:sym typeface="Lato"/>
              </a:endParaRPr>
            </a:p>
          </p:txBody>
        </p:sp>
      </p:grpSp>
      <p:sp>
        <p:nvSpPr>
          <p:cNvPr id="275" name="Google Shape;275;p18"/>
          <p:cNvSpPr txBox="1"/>
          <p:nvPr/>
        </p:nvSpPr>
        <p:spPr>
          <a:xfrm>
            <a:off x="571500" y="4781550"/>
            <a:ext cx="54864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b="0" sz="850">
              <a:solidFill>
                <a:srgbClr val="64748B"/>
              </a:solidFill>
              <a:latin typeface="Lato"/>
              <a:ea typeface="Lato"/>
              <a:cs typeface="Lato"/>
              <a:sym typeface="Lato"/>
            </a:endParaRPr>
          </a:p>
        </p:txBody>
      </p:sp>
      <p:sp>
        <p:nvSpPr>
          <p:cNvPr id="276" name="Google Shape;276;p18"/>
          <p:cNvSpPr txBox="1"/>
          <p:nvPr/>
        </p:nvSpPr>
        <p:spPr>
          <a:xfrm>
            <a:off x="7620000" y="4781550"/>
            <a:ext cx="9525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t/>
            </a:r>
            <a:endParaRPr b="0" sz="850">
              <a:solidFill>
                <a:srgbClr val="64748B"/>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1" name="Shape 281"/>
        <p:cNvGrpSpPr/>
        <p:nvPr/>
      </p:nvGrpSpPr>
      <p:grpSpPr>
        <a:xfrm>
          <a:off x="0" y="0"/>
          <a:ext cx="0" cy="0"/>
          <a:chOff x="0" y="0"/>
          <a:chExt cx="0" cy="0"/>
        </a:xfrm>
      </p:grpSpPr>
      <p:grpSp>
        <p:nvGrpSpPr>
          <p:cNvPr id="282" name="Google Shape;282;p19"/>
          <p:cNvGrpSpPr/>
          <p:nvPr/>
        </p:nvGrpSpPr>
        <p:grpSpPr>
          <a:xfrm>
            <a:off x="476250" y="342900"/>
            <a:ext cx="666750" cy="47700"/>
            <a:chOff x="0" y="0"/>
            <a:chExt cx="666750" cy="47700"/>
          </a:xfrm>
        </p:grpSpPr>
        <p:sp>
          <p:nvSpPr>
            <p:cNvPr id="283" name="Google Shape;283;p19"/>
            <p:cNvSpPr/>
            <p:nvPr/>
          </p:nvSpPr>
          <p:spPr>
            <a:xfrm>
              <a:off x="0" y="0"/>
              <a:ext cx="304800" cy="47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19"/>
            <p:cNvSpPr/>
            <p:nvPr/>
          </p:nvSpPr>
          <p:spPr>
            <a:xfrm>
              <a:off x="361950" y="0"/>
              <a:ext cx="304800" cy="47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85" name="Google Shape;285;p19"/>
          <p:cNvSpPr txBox="1"/>
          <p:nvPr/>
        </p:nvSpPr>
        <p:spPr>
          <a:xfrm>
            <a:off x="476250" y="457200"/>
            <a:ext cx="8191500" cy="138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900">
                <a:solidFill>
                  <a:srgbClr val="EB5600"/>
                </a:solidFill>
                <a:latin typeface="Raleway ExtraBold"/>
                <a:ea typeface="Raleway ExtraBold"/>
                <a:cs typeface="Raleway ExtraBold"/>
                <a:sym typeface="Raleway ExtraBold"/>
              </a:rPr>
              <a:t>CODE TOUR</a:t>
            </a:r>
            <a:endParaRPr b="0" sz="900">
              <a:solidFill>
                <a:srgbClr val="EB5600"/>
              </a:solidFill>
              <a:latin typeface="Raleway ExtraBold"/>
              <a:ea typeface="Raleway ExtraBold"/>
              <a:cs typeface="Raleway ExtraBold"/>
              <a:sym typeface="Raleway ExtraBold"/>
            </a:endParaRPr>
          </a:p>
        </p:txBody>
      </p:sp>
      <p:sp>
        <p:nvSpPr>
          <p:cNvPr id="286" name="Google Shape;286;p19"/>
          <p:cNvSpPr txBox="1"/>
          <p:nvPr/>
        </p:nvSpPr>
        <p:spPr>
          <a:xfrm>
            <a:off x="476250" y="647700"/>
            <a:ext cx="81915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2000">
                <a:solidFill>
                  <a:srgbClr val="0F172A"/>
                </a:solidFill>
                <a:latin typeface="Raleway ExtraBold"/>
                <a:ea typeface="Raleway ExtraBold"/>
                <a:cs typeface="Raleway ExtraBold"/>
                <a:sym typeface="Raleway ExtraBold"/>
              </a:rPr>
              <a:t>PROJECT STRUCTURE: WHERE EVERYTHING LIVES</a:t>
            </a:r>
            <a:endParaRPr b="0" sz="2000">
              <a:solidFill>
                <a:srgbClr val="0F172A"/>
              </a:solidFill>
              <a:latin typeface="Raleway ExtraBold"/>
              <a:ea typeface="Raleway ExtraBold"/>
              <a:cs typeface="Raleway ExtraBold"/>
              <a:sym typeface="Raleway ExtraBold"/>
            </a:endParaRPr>
          </a:p>
        </p:txBody>
      </p:sp>
      <p:sp>
        <p:nvSpPr>
          <p:cNvPr id="287" name="Google Shape;287;p19"/>
          <p:cNvSpPr txBox="1"/>
          <p:nvPr/>
        </p:nvSpPr>
        <p:spPr>
          <a:xfrm>
            <a:off x="476250" y="4838700"/>
            <a:ext cx="5486400" cy="123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 sz="800">
                <a:solidFill>
                  <a:srgbClr val="64748B"/>
                </a:solidFill>
                <a:latin typeface="Lato"/>
                <a:ea typeface="Lato"/>
                <a:cs typeface="Lato"/>
                <a:sym typeface="Lato"/>
              </a:rPr>
              <a:t>Student Management System · KNUST Registry</a:t>
            </a:r>
            <a:endParaRPr b="0" sz="800">
              <a:solidFill>
                <a:srgbClr val="64748B"/>
              </a:solidFill>
              <a:latin typeface="Lato"/>
              <a:ea typeface="Lato"/>
              <a:cs typeface="Lato"/>
              <a:sym typeface="Lato"/>
            </a:endParaRPr>
          </a:p>
        </p:txBody>
      </p:sp>
      <p:sp>
        <p:nvSpPr>
          <p:cNvPr id="288" name="Google Shape;288;p19"/>
          <p:cNvSpPr txBox="1"/>
          <p:nvPr/>
        </p:nvSpPr>
        <p:spPr>
          <a:xfrm>
            <a:off x="7620000" y="4838700"/>
            <a:ext cx="1047900" cy="123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r">
              <a:spcBef>
                <a:spcPts val="0"/>
              </a:spcBef>
              <a:spcAft>
                <a:spcPts val="0"/>
              </a:spcAft>
              <a:buNone/>
            </a:pPr>
            <a:r>
              <a:rPr b="0" lang="en" sz="800">
                <a:solidFill>
                  <a:srgbClr val="64748B"/>
                </a:solidFill>
                <a:latin typeface="Lato"/>
                <a:ea typeface="Lato"/>
                <a:cs typeface="Lato"/>
                <a:sym typeface="Lato"/>
              </a:rPr>
              <a:t>8 / 16</a:t>
            </a:r>
            <a:endParaRPr b="0" sz="800">
              <a:solidFill>
                <a:srgbClr val="64748B"/>
              </a:solidFill>
              <a:latin typeface="Lato"/>
              <a:ea typeface="Lato"/>
              <a:cs typeface="Lato"/>
              <a:sym typeface="Lato"/>
            </a:endParaRPr>
          </a:p>
        </p:txBody>
      </p:sp>
      <p:sp>
        <p:nvSpPr>
          <p:cNvPr id="289" name="Google Shape;289;p19"/>
          <p:cNvSpPr/>
          <p:nvPr/>
        </p:nvSpPr>
        <p:spPr>
          <a:xfrm>
            <a:off x="476250" y="1114425"/>
            <a:ext cx="3619500" cy="3581400"/>
          </a:xfrm>
          <a:prstGeom prst="roundRect">
            <a:avLst>
              <a:gd fmla="val 3191" name="adj"/>
            </a:avLst>
          </a:prstGeom>
          <a:solidFill>
            <a:srgbClr val="0F172A"/>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0" name="Google Shape;290;p19"/>
          <p:cNvSpPr/>
          <p:nvPr/>
        </p:nvSpPr>
        <p:spPr>
          <a:xfrm>
            <a:off x="647700" y="1257300"/>
            <a:ext cx="1000200" cy="209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FFFFFF"/>
                </a:solidFill>
                <a:latin typeface="Consolas"/>
                <a:ea typeface="Consolas"/>
                <a:cs typeface="Consolas"/>
                <a:sym typeface="Consolas"/>
              </a:rPr>
              <a:t>project tree</a:t>
            </a:r>
            <a:endParaRPr b="1" sz="800">
              <a:solidFill>
                <a:srgbClr val="FFFFFF"/>
              </a:solidFill>
              <a:latin typeface="Consolas"/>
              <a:ea typeface="Consolas"/>
              <a:cs typeface="Consolas"/>
              <a:sym typeface="Consolas"/>
            </a:endParaRPr>
          </a:p>
        </p:txBody>
      </p:sp>
      <p:sp>
        <p:nvSpPr>
          <p:cNvPr id="291" name="Google Shape;291;p19"/>
          <p:cNvSpPr txBox="1"/>
          <p:nvPr/>
        </p:nvSpPr>
        <p:spPr>
          <a:xfrm>
            <a:off x="647700" y="1581150"/>
            <a:ext cx="3276600" cy="2078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 sz="1050">
                <a:solidFill>
                  <a:srgbClr val="38BDF8"/>
                </a:solidFill>
                <a:latin typeface="Consolas"/>
                <a:ea typeface="Consolas"/>
                <a:cs typeface="Consolas"/>
                <a:sym typeface="Consolas"/>
              </a:rPr>
              <a:t>student-management-system/</a:t>
            </a:r>
            <a:endParaRPr b="1" sz="1050">
              <a:solidFill>
                <a:srgbClr val="38BDF8"/>
              </a:solidFill>
              <a:latin typeface="Consolas"/>
              <a:ea typeface="Consolas"/>
              <a:cs typeface="Consolas"/>
              <a:sym typeface="Consolas"/>
            </a:endParaRPr>
          </a:p>
          <a:p>
            <a:pPr indent="0" lvl="0" marL="0" rtl="0" algn="l">
              <a:spcBef>
                <a:spcPts val="400"/>
              </a:spcBef>
              <a:spcAft>
                <a:spcPts val="0"/>
              </a:spcAft>
              <a:buNone/>
            </a:pPr>
            <a:r>
              <a:rPr b="0" lang="en" sz="1050">
                <a:solidFill>
                  <a:srgbClr val="64748B"/>
                </a:solidFill>
                <a:latin typeface="Consolas"/>
                <a:ea typeface="Consolas"/>
                <a:cs typeface="Consolas"/>
                <a:sym typeface="Consolas"/>
              </a:rPr>
              <a:t>├── </a:t>
            </a:r>
            <a:r>
              <a:rPr b="0" lang="en" sz="1050">
                <a:solidFill>
                  <a:srgbClr val="F1F5F9"/>
                </a:solidFill>
                <a:latin typeface="Consolas"/>
                <a:ea typeface="Consolas"/>
                <a:cs typeface="Consolas"/>
                <a:sym typeface="Consolas"/>
              </a:rPr>
              <a:t>server.js</a:t>
            </a:r>
            <a:endParaRPr b="1" sz="1050">
              <a:solidFill>
                <a:srgbClr val="38BDF8"/>
              </a:solidFill>
              <a:latin typeface="Consolas"/>
              <a:ea typeface="Consolas"/>
              <a:cs typeface="Consolas"/>
              <a:sym typeface="Consolas"/>
            </a:endParaRPr>
          </a:p>
          <a:p>
            <a:pPr indent="0" lvl="0" marL="0" rtl="0" algn="l">
              <a:spcBef>
                <a:spcPts val="400"/>
              </a:spcBef>
              <a:spcAft>
                <a:spcPts val="0"/>
              </a:spcAft>
              <a:buNone/>
            </a:pPr>
            <a:r>
              <a:rPr b="0" lang="en" sz="1050">
                <a:solidFill>
                  <a:srgbClr val="64748B"/>
                </a:solidFill>
                <a:latin typeface="Consolas"/>
                <a:ea typeface="Consolas"/>
                <a:cs typeface="Consolas"/>
                <a:sym typeface="Consolas"/>
              </a:rPr>
              <a:t>├── </a:t>
            </a:r>
            <a:r>
              <a:rPr b="0" lang="en" sz="1050">
                <a:solidFill>
                  <a:srgbClr val="F1F5F9"/>
                </a:solidFill>
                <a:latin typeface="Consolas"/>
                <a:ea typeface="Consolas"/>
                <a:cs typeface="Consolas"/>
                <a:sym typeface="Consolas"/>
              </a:rPr>
              <a:t>index.html</a:t>
            </a:r>
            <a:endParaRPr b="1" sz="1050">
              <a:solidFill>
                <a:srgbClr val="38BDF8"/>
              </a:solidFill>
              <a:latin typeface="Consolas"/>
              <a:ea typeface="Consolas"/>
              <a:cs typeface="Consolas"/>
              <a:sym typeface="Consolas"/>
            </a:endParaRPr>
          </a:p>
          <a:p>
            <a:pPr indent="0" lvl="0" marL="0" rtl="0" algn="l">
              <a:spcBef>
                <a:spcPts val="400"/>
              </a:spcBef>
              <a:spcAft>
                <a:spcPts val="0"/>
              </a:spcAft>
              <a:buNone/>
            </a:pPr>
            <a:r>
              <a:rPr b="0" lang="en" sz="1050">
                <a:solidFill>
                  <a:srgbClr val="64748B"/>
                </a:solidFill>
                <a:latin typeface="Consolas"/>
                <a:ea typeface="Consolas"/>
                <a:cs typeface="Consolas"/>
                <a:sym typeface="Consolas"/>
              </a:rPr>
              <a:t>├── </a:t>
            </a:r>
            <a:r>
              <a:rPr b="0" lang="en" sz="1050">
                <a:solidFill>
                  <a:srgbClr val="F1F5F9"/>
                </a:solidFill>
                <a:latin typeface="Consolas"/>
                <a:ea typeface="Consolas"/>
                <a:cs typeface="Consolas"/>
                <a:sym typeface="Consolas"/>
              </a:rPr>
              <a:t>package.json</a:t>
            </a:r>
            <a:endParaRPr b="1" sz="1050">
              <a:solidFill>
                <a:srgbClr val="38BDF8"/>
              </a:solidFill>
              <a:latin typeface="Consolas"/>
              <a:ea typeface="Consolas"/>
              <a:cs typeface="Consolas"/>
              <a:sym typeface="Consolas"/>
            </a:endParaRPr>
          </a:p>
          <a:p>
            <a:pPr indent="0" lvl="0" marL="0" rtl="0" algn="l">
              <a:spcBef>
                <a:spcPts val="400"/>
              </a:spcBef>
              <a:spcAft>
                <a:spcPts val="0"/>
              </a:spcAft>
              <a:buNone/>
            </a:pPr>
            <a:r>
              <a:rPr b="0" lang="en" sz="1050">
                <a:solidFill>
                  <a:srgbClr val="64748B"/>
                </a:solidFill>
                <a:latin typeface="Consolas"/>
                <a:ea typeface="Consolas"/>
                <a:cs typeface="Consolas"/>
                <a:sym typeface="Consolas"/>
              </a:rPr>
              <a:t>├── </a:t>
            </a:r>
            <a:r>
              <a:rPr b="0" lang="en" sz="1050">
                <a:solidFill>
                  <a:srgbClr val="F1F5F9"/>
                </a:solidFill>
                <a:latin typeface="Consolas"/>
                <a:ea typeface="Consolas"/>
                <a:cs typeface="Consolas"/>
                <a:sym typeface="Consolas"/>
              </a:rPr>
              <a:t>README.md</a:t>
            </a:r>
            <a:endParaRPr b="1" sz="1050">
              <a:solidFill>
                <a:srgbClr val="38BDF8"/>
              </a:solidFill>
              <a:latin typeface="Consolas"/>
              <a:ea typeface="Consolas"/>
              <a:cs typeface="Consolas"/>
              <a:sym typeface="Consolas"/>
            </a:endParaRPr>
          </a:p>
          <a:p>
            <a:pPr indent="0" lvl="0" marL="0" rtl="0" algn="l">
              <a:spcBef>
                <a:spcPts val="400"/>
              </a:spcBef>
              <a:spcAft>
                <a:spcPts val="0"/>
              </a:spcAft>
              <a:buNone/>
            </a:pPr>
            <a:r>
              <a:rPr b="1" lang="en" sz="1050">
                <a:solidFill>
                  <a:srgbClr val="38BDF8"/>
                </a:solidFill>
                <a:latin typeface="Consolas"/>
                <a:ea typeface="Consolas"/>
                <a:cs typeface="Consolas"/>
                <a:sym typeface="Consolas"/>
              </a:rPr>
              <a:t>└── public/</a:t>
            </a:r>
            <a:endParaRPr b="1" sz="1050">
              <a:solidFill>
                <a:srgbClr val="38BDF8"/>
              </a:solidFill>
              <a:latin typeface="Consolas"/>
              <a:ea typeface="Consolas"/>
              <a:cs typeface="Consolas"/>
              <a:sym typeface="Consolas"/>
            </a:endParaRPr>
          </a:p>
          <a:p>
            <a:pPr indent="0" lvl="0" marL="0" rtl="0" algn="l">
              <a:spcBef>
                <a:spcPts val="400"/>
              </a:spcBef>
              <a:spcAft>
                <a:spcPts val="0"/>
              </a:spcAft>
              <a:buNone/>
            </a:pPr>
            <a:r>
              <a:rPr b="0" lang="en" sz="1050">
                <a:solidFill>
                  <a:srgbClr val="64748B"/>
                </a:solidFill>
                <a:latin typeface="Consolas"/>
                <a:ea typeface="Consolas"/>
                <a:cs typeface="Consolas"/>
                <a:sym typeface="Consolas"/>
              </a:rPr>
              <a:t>├── </a:t>
            </a:r>
            <a:r>
              <a:rPr b="1" lang="en" sz="1050">
                <a:solidFill>
                  <a:srgbClr val="38BDF8"/>
                </a:solidFill>
                <a:latin typeface="Consolas"/>
                <a:ea typeface="Consolas"/>
                <a:cs typeface="Consolas"/>
                <a:sym typeface="Consolas"/>
              </a:rPr>
              <a:t>css/</a:t>
            </a:r>
            <a:endParaRPr b="1" sz="1050">
              <a:solidFill>
                <a:srgbClr val="38BDF8"/>
              </a:solidFill>
              <a:latin typeface="Consolas"/>
              <a:ea typeface="Consolas"/>
              <a:cs typeface="Consolas"/>
              <a:sym typeface="Consolas"/>
            </a:endParaRPr>
          </a:p>
          <a:p>
            <a:pPr indent="0" lvl="0" marL="0" rtl="0" algn="l">
              <a:spcBef>
                <a:spcPts val="400"/>
              </a:spcBef>
              <a:spcAft>
                <a:spcPts val="0"/>
              </a:spcAft>
              <a:buNone/>
            </a:pPr>
            <a:r>
              <a:rPr b="0" lang="en" sz="1050">
                <a:solidFill>
                  <a:srgbClr val="64748B"/>
                </a:solidFill>
                <a:latin typeface="Consolas"/>
                <a:ea typeface="Consolas"/>
                <a:cs typeface="Consolas"/>
                <a:sym typeface="Consolas"/>
              </a:rPr>
              <a:t>│ └── </a:t>
            </a:r>
            <a:r>
              <a:rPr b="0" lang="en" sz="1050">
                <a:solidFill>
                  <a:srgbClr val="F1F5F9"/>
                </a:solidFill>
                <a:latin typeface="Consolas"/>
                <a:ea typeface="Consolas"/>
                <a:cs typeface="Consolas"/>
                <a:sym typeface="Consolas"/>
              </a:rPr>
              <a:t>style.css</a:t>
            </a:r>
            <a:endParaRPr b="1" sz="1050">
              <a:solidFill>
                <a:srgbClr val="38BDF8"/>
              </a:solidFill>
              <a:latin typeface="Consolas"/>
              <a:ea typeface="Consolas"/>
              <a:cs typeface="Consolas"/>
              <a:sym typeface="Consolas"/>
            </a:endParaRPr>
          </a:p>
          <a:p>
            <a:pPr indent="0" lvl="0" marL="0" rtl="0" algn="l">
              <a:spcBef>
                <a:spcPts val="400"/>
              </a:spcBef>
              <a:spcAft>
                <a:spcPts val="0"/>
              </a:spcAft>
              <a:buNone/>
            </a:pPr>
            <a:r>
              <a:rPr b="0" lang="en" sz="1050">
                <a:solidFill>
                  <a:srgbClr val="64748B"/>
                </a:solidFill>
                <a:latin typeface="Consolas"/>
                <a:ea typeface="Consolas"/>
                <a:cs typeface="Consolas"/>
                <a:sym typeface="Consolas"/>
              </a:rPr>
              <a:t>└── </a:t>
            </a:r>
            <a:r>
              <a:rPr b="1" lang="en" sz="1050">
                <a:solidFill>
                  <a:srgbClr val="38BDF8"/>
                </a:solidFill>
                <a:latin typeface="Consolas"/>
                <a:ea typeface="Consolas"/>
                <a:cs typeface="Consolas"/>
                <a:sym typeface="Consolas"/>
              </a:rPr>
              <a:t>js/</a:t>
            </a:r>
            <a:endParaRPr b="1" sz="1050">
              <a:solidFill>
                <a:srgbClr val="38BDF8"/>
              </a:solidFill>
              <a:latin typeface="Consolas"/>
              <a:ea typeface="Consolas"/>
              <a:cs typeface="Consolas"/>
              <a:sym typeface="Consolas"/>
            </a:endParaRPr>
          </a:p>
          <a:p>
            <a:pPr indent="0" lvl="0" marL="0" rtl="0" algn="l">
              <a:spcBef>
                <a:spcPts val="400"/>
              </a:spcBef>
              <a:spcAft>
                <a:spcPts val="400"/>
              </a:spcAft>
              <a:buNone/>
            </a:pPr>
            <a:r>
              <a:rPr b="0" lang="en" sz="1050">
                <a:solidFill>
                  <a:srgbClr val="64748B"/>
                </a:solidFill>
                <a:latin typeface="Consolas"/>
                <a:ea typeface="Consolas"/>
                <a:cs typeface="Consolas"/>
                <a:sym typeface="Consolas"/>
              </a:rPr>
              <a:t>└── </a:t>
            </a:r>
            <a:r>
              <a:rPr b="0" lang="en" sz="1050">
                <a:solidFill>
                  <a:srgbClr val="F1F5F9"/>
                </a:solidFill>
                <a:latin typeface="Consolas"/>
                <a:ea typeface="Consolas"/>
                <a:cs typeface="Consolas"/>
                <a:sym typeface="Consolas"/>
              </a:rPr>
              <a:t>script.js</a:t>
            </a:r>
            <a:endParaRPr b="1" sz="1050">
              <a:solidFill>
                <a:srgbClr val="38BDF8"/>
              </a:solidFill>
              <a:latin typeface="Consolas"/>
              <a:ea typeface="Consolas"/>
              <a:cs typeface="Consolas"/>
              <a:sym typeface="Consolas"/>
            </a:endParaRPr>
          </a:p>
        </p:txBody>
      </p:sp>
      <p:sp>
        <p:nvSpPr>
          <p:cNvPr id="292" name="Google Shape;292;p19"/>
          <p:cNvSpPr/>
          <p:nvPr/>
        </p:nvSpPr>
        <p:spPr>
          <a:xfrm>
            <a:off x="4381500" y="1114425"/>
            <a:ext cx="4286400" cy="5334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19"/>
          <p:cNvSpPr/>
          <p:nvPr/>
        </p:nvSpPr>
        <p:spPr>
          <a:xfrm>
            <a:off x="4381500" y="1114425"/>
            <a:ext cx="38100" cy="533400"/>
          </a:xfrm>
          <a:prstGeom prst="rect">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4" name="Google Shape;294;p19"/>
          <p:cNvSpPr txBox="1"/>
          <p:nvPr/>
        </p:nvSpPr>
        <p:spPr>
          <a:xfrm>
            <a:off x="4533900" y="1171575"/>
            <a:ext cx="40005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2563EB"/>
                </a:solidFill>
                <a:latin typeface="Consolas"/>
                <a:ea typeface="Consolas"/>
                <a:cs typeface="Consolas"/>
                <a:sym typeface="Consolas"/>
              </a:rPr>
              <a:t>server.js</a:t>
            </a:r>
            <a:endParaRPr b="1" sz="1100">
              <a:solidFill>
                <a:srgbClr val="2563EB"/>
              </a:solidFill>
              <a:latin typeface="Consolas"/>
              <a:ea typeface="Consolas"/>
              <a:cs typeface="Consolas"/>
              <a:sym typeface="Consolas"/>
            </a:endParaRPr>
          </a:p>
        </p:txBody>
      </p:sp>
      <p:sp>
        <p:nvSpPr>
          <p:cNvPr id="295" name="Google Shape;295;p19"/>
          <p:cNvSpPr txBox="1"/>
          <p:nvPr/>
        </p:nvSpPr>
        <p:spPr>
          <a:xfrm>
            <a:off x="4533900" y="1381125"/>
            <a:ext cx="40005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950">
                <a:solidFill>
                  <a:srgbClr val="475569"/>
                </a:solidFill>
                <a:latin typeface="Lato"/>
                <a:ea typeface="Lato"/>
                <a:cs typeface="Lato"/>
                <a:sym typeface="Lato"/>
              </a:rPr>
              <a:t>Back end. Starts Express and serves the files.</a:t>
            </a:r>
            <a:endParaRPr b="0" sz="950">
              <a:solidFill>
                <a:srgbClr val="475569"/>
              </a:solidFill>
              <a:latin typeface="Lato"/>
              <a:ea typeface="Lato"/>
              <a:cs typeface="Lato"/>
              <a:sym typeface="Lato"/>
            </a:endParaRPr>
          </a:p>
        </p:txBody>
      </p:sp>
      <p:sp>
        <p:nvSpPr>
          <p:cNvPr id="296" name="Google Shape;296;p19"/>
          <p:cNvSpPr/>
          <p:nvPr/>
        </p:nvSpPr>
        <p:spPr>
          <a:xfrm>
            <a:off x="4381500" y="1724025"/>
            <a:ext cx="4286400" cy="5334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19"/>
          <p:cNvSpPr/>
          <p:nvPr/>
        </p:nvSpPr>
        <p:spPr>
          <a:xfrm>
            <a:off x="4381500" y="1724025"/>
            <a:ext cx="38100" cy="5334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19"/>
          <p:cNvSpPr txBox="1"/>
          <p:nvPr/>
        </p:nvSpPr>
        <p:spPr>
          <a:xfrm>
            <a:off x="4533900" y="1781175"/>
            <a:ext cx="40005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1A9988"/>
                </a:solidFill>
                <a:latin typeface="Consolas"/>
                <a:ea typeface="Consolas"/>
                <a:cs typeface="Consolas"/>
                <a:sym typeface="Consolas"/>
              </a:rPr>
              <a:t>index.html</a:t>
            </a:r>
            <a:endParaRPr b="1" sz="1100">
              <a:solidFill>
                <a:srgbClr val="1A9988"/>
              </a:solidFill>
              <a:latin typeface="Consolas"/>
              <a:ea typeface="Consolas"/>
              <a:cs typeface="Consolas"/>
              <a:sym typeface="Consolas"/>
            </a:endParaRPr>
          </a:p>
        </p:txBody>
      </p:sp>
      <p:sp>
        <p:nvSpPr>
          <p:cNvPr id="299" name="Google Shape;299;p19"/>
          <p:cNvSpPr txBox="1"/>
          <p:nvPr/>
        </p:nvSpPr>
        <p:spPr>
          <a:xfrm>
            <a:off x="4533900" y="1990725"/>
            <a:ext cx="40005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950">
                <a:solidFill>
                  <a:srgbClr val="475569"/>
                </a:solidFill>
                <a:latin typeface="Lato"/>
                <a:ea typeface="Lato"/>
                <a:cs typeface="Lato"/>
                <a:sym typeface="Lato"/>
              </a:rPr>
              <a:t>The page structure: header, form, register table.</a:t>
            </a:r>
            <a:endParaRPr b="0" sz="950">
              <a:solidFill>
                <a:srgbClr val="475569"/>
              </a:solidFill>
              <a:latin typeface="Lato"/>
              <a:ea typeface="Lato"/>
              <a:cs typeface="Lato"/>
              <a:sym typeface="Lato"/>
            </a:endParaRPr>
          </a:p>
        </p:txBody>
      </p:sp>
      <p:sp>
        <p:nvSpPr>
          <p:cNvPr id="300" name="Google Shape;300;p19"/>
          <p:cNvSpPr/>
          <p:nvPr/>
        </p:nvSpPr>
        <p:spPr>
          <a:xfrm>
            <a:off x="4381500" y="2333625"/>
            <a:ext cx="4286400" cy="5334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1" name="Google Shape;301;p19"/>
          <p:cNvSpPr/>
          <p:nvPr/>
        </p:nvSpPr>
        <p:spPr>
          <a:xfrm>
            <a:off x="4381500" y="2333625"/>
            <a:ext cx="38100" cy="5334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19"/>
          <p:cNvSpPr txBox="1"/>
          <p:nvPr/>
        </p:nvSpPr>
        <p:spPr>
          <a:xfrm>
            <a:off x="4533900" y="2390775"/>
            <a:ext cx="40005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1A9988"/>
                </a:solidFill>
                <a:latin typeface="Consolas"/>
                <a:ea typeface="Consolas"/>
                <a:cs typeface="Consolas"/>
                <a:sym typeface="Consolas"/>
              </a:rPr>
              <a:t>public/css/style.css</a:t>
            </a:r>
            <a:endParaRPr b="1" sz="1100">
              <a:solidFill>
                <a:srgbClr val="1A9988"/>
              </a:solidFill>
              <a:latin typeface="Consolas"/>
              <a:ea typeface="Consolas"/>
              <a:cs typeface="Consolas"/>
              <a:sym typeface="Consolas"/>
            </a:endParaRPr>
          </a:p>
        </p:txBody>
      </p:sp>
      <p:sp>
        <p:nvSpPr>
          <p:cNvPr id="303" name="Google Shape;303;p19"/>
          <p:cNvSpPr txBox="1"/>
          <p:nvPr/>
        </p:nvSpPr>
        <p:spPr>
          <a:xfrm>
            <a:off x="4533900" y="2600325"/>
            <a:ext cx="40005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950">
                <a:solidFill>
                  <a:srgbClr val="475569"/>
                </a:solidFill>
                <a:latin typeface="Lato"/>
                <a:ea typeface="Lato"/>
                <a:cs typeface="Lato"/>
                <a:sym typeface="Lato"/>
              </a:rPr>
              <a:t>The look and feel: colours, fonts, layout.</a:t>
            </a:r>
            <a:endParaRPr b="0" sz="950">
              <a:solidFill>
                <a:srgbClr val="475569"/>
              </a:solidFill>
              <a:latin typeface="Lato"/>
              <a:ea typeface="Lato"/>
              <a:cs typeface="Lato"/>
              <a:sym typeface="Lato"/>
            </a:endParaRPr>
          </a:p>
        </p:txBody>
      </p:sp>
      <p:sp>
        <p:nvSpPr>
          <p:cNvPr id="304" name="Google Shape;304;p19"/>
          <p:cNvSpPr/>
          <p:nvPr/>
        </p:nvSpPr>
        <p:spPr>
          <a:xfrm>
            <a:off x="4381500" y="2943225"/>
            <a:ext cx="4286400" cy="5334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19"/>
          <p:cNvSpPr/>
          <p:nvPr/>
        </p:nvSpPr>
        <p:spPr>
          <a:xfrm>
            <a:off x="4381500" y="2943225"/>
            <a:ext cx="38100" cy="5334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19"/>
          <p:cNvSpPr txBox="1"/>
          <p:nvPr/>
        </p:nvSpPr>
        <p:spPr>
          <a:xfrm>
            <a:off x="4533900" y="3000375"/>
            <a:ext cx="40005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1A9988"/>
                </a:solidFill>
                <a:latin typeface="Consolas"/>
                <a:ea typeface="Consolas"/>
                <a:cs typeface="Consolas"/>
                <a:sym typeface="Consolas"/>
              </a:rPr>
              <a:t>public/js/script.js</a:t>
            </a:r>
            <a:endParaRPr b="1" sz="1100">
              <a:solidFill>
                <a:srgbClr val="1A9988"/>
              </a:solidFill>
              <a:latin typeface="Consolas"/>
              <a:ea typeface="Consolas"/>
              <a:cs typeface="Consolas"/>
              <a:sym typeface="Consolas"/>
            </a:endParaRPr>
          </a:p>
        </p:txBody>
      </p:sp>
      <p:sp>
        <p:nvSpPr>
          <p:cNvPr id="307" name="Google Shape;307;p19"/>
          <p:cNvSpPr txBox="1"/>
          <p:nvPr/>
        </p:nvSpPr>
        <p:spPr>
          <a:xfrm>
            <a:off x="4533900" y="3209925"/>
            <a:ext cx="40005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950">
                <a:solidFill>
                  <a:srgbClr val="475569"/>
                </a:solidFill>
                <a:latin typeface="Lato"/>
                <a:ea typeface="Lato"/>
                <a:cs typeface="Lato"/>
                <a:sym typeface="Lato"/>
              </a:rPr>
              <a:t>The brain: validation, age maths, all database calls.</a:t>
            </a:r>
            <a:endParaRPr b="0" sz="950">
              <a:solidFill>
                <a:srgbClr val="475569"/>
              </a:solidFill>
              <a:latin typeface="Lato"/>
              <a:ea typeface="Lato"/>
              <a:cs typeface="Lato"/>
              <a:sym typeface="Lato"/>
            </a:endParaRPr>
          </a:p>
        </p:txBody>
      </p:sp>
      <p:sp>
        <p:nvSpPr>
          <p:cNvPr id="308" name="Google Shape;308;p19"/>
          <p:cNvSpPr/>
          <p:nvPr/>
        </p:nvSpPr>
        <p:spPr>
          <a:xfrm>
            <a:off x="4381500" y="3552825"/>
            <a:ext cx="4286400" cy="5334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19"/>
          <p:cNvSpPr/>
          <p:nvPr/>
        </p:nvSpPr>
        <p:spPr>
          <a:xfrm>
            <a:off x="4381500" y="3552825"/>
            <a:ext cx="38100" cy="5334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19"/>
          <p:cNvSpPr txBox="1"/>
          <p:nvPr/>
        </p:nvSpPr>
        <p:spPr>
          <a:xfrm>
            <a:off x="4533900" y="3609975"/>
            <a:ext cx="40005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EB5600"/>
                </a:solidFill>
                <a:latin typeface="Consolas"/>
                <a:ea typeface="Consolas"/>
                <a:cs typeface="Consolas"/>
                <a:sym typeface="Consolas"/>
              </a:rPr>
              <a:t>package.json</a:t>
            </a:r>
            <a:endParaRPr b="1" sz="1100">
              <a:solidFill>
                <a:srgbClr val="EB5600"/>
              </a:solidFill>
              <a:latin typeface="Consolas"/>
              <a:ea typeface="Consolas"/>
              <a:cs typeface="Consolas"/>
              <a:sym typeface="Consolas"/>
            </a:endParaRPr>
          </a:p>
        </p:txBody>
      </p:sp>
      <p:sp>
        <p:nvSpPr>
          <p:cNvPr id="311" name="Google Shape;311;p19"/>
          <p:cNvSpPr txBox="1"/>
          <p:nvPr/>
        </p:nvSpPr>
        <p:spPr>
          <a:xfrm>
            <a:off x="4533900" y="3819525"/>
            <a:ext cx="40005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950">
                <a:solidFill>
                  <a:srgbClr val="475569"/>
                </a:solidFill>
                <a:latin typeface="Lato"/>
                <a:ea typeface="Lato"/>
                <a:cs typeface="Lato"/>
                <a:sym typeface="Lato"/>
              </a:rPr>
              <a:t>Lists dependencies and the “npm start” command.</a:t>
            </a:r>
            <a:endParaRPr b="0" sz="950">
              <a:solidFill>
                <a:srgbClr val="475569"/>
              </a:solidFill>
              <a:latin typeface="Lato"/>
              <a:ea typeface="Lato"/>
              <a:cs typeface="Lato"/>
              <a:sym typeface="Lato"/>
            </a:endParaRPr>
          </a:p>
        </p:txBody>
      </p:sp>
      <p:sp>
        <p:nvSpPr>
          <p:cNvPr id="312" name="Google Shape;312;p19"/>
          <p:cNvSpPr/>
          <p:nvPr/>
        </p:nvSpPr>
        <p:spPr>
          <a:xfrm>
            <a:off x="4381500" y="4162425"/>
            <a:ext cx="4286400" cy="5334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19"/>
          <p:cNvSpPr/>
          <p:nvPr/>
        </p:nvSpPr>
        <p:spPr>
          <a:xfrm>
            <a:off x="4381500" y="4162425"/>
            <a:ext cx="38100" cy="5334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19"/>
          <p:cNvSpPr txBox="1"/>
          <p:nvPr/>
        </p:nvSpPr>
        <p:spPr>
          <a:xfrm>
            <a:off x="4533900" y="4219575"/>
            <a:ext cx="40005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EB5600"/>
                </a:solidFill>
                <a:latin typeface="Consolas"/>
                <a:ea typeface="Consolas"/>
                <a:cs typeface="Consolas"/>
                <a:sym typeface="Consolas"/>
              </a:rPr>
              <a:t>README.md</a:t>
            </a:r>
            <a:endParaRPr b="1" sz="1100">
              <a:solidFill>
                <a:srgbClr val="EB5600"/>
              </a:solidFill>
              <a:latin typeface="Consolas"/>
              <a:ea typeface="Consolas"/>
              <a:cs typeface="Consolas"/>
              <a:sym typeface="Consolas"/>
            </a:endParaRPr>
          </a:p>
        </p:txBody>
      </p:sp>
      <p:sp>
        <p:nvSpPr>
          <p:cNvPr id="315" name="Google Shape;315;p19"/>
          <p:cNvSpPr txBox="1"/>
          <p:nvPr/>
        </p:nvSpPr>
        <p:spPr>
          <a:xfrm>
            <a:off x="4533900" y="4429125"/>
            <a:ext cx="40005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950">
                <a:solidFill>
                  <a:srgbClr val="475569"/>
                </a:solidFill>
                <a:latin typeface="Lato"/>
                <a:ea typeface="Lato"/>
                <a:cs typeface="Lato"/>
                <a:sym typeface="Lato"/>
              </a:rPr>
              <a:t>Written guides for new developers.</a:t>
            </a:r>
            <a:endParaRPr b="0" sz="950">
              <a:solidFill>
                <a:srgbClr val="475569"/>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grpSp>
        <p:nvGrpSpPr>
          <p:cNvPr id="321" name="Google Shape;321;p20"/>
          <p:cNvGrpSpPr/>
          <p:nvPr/>
        </p:nvGrpSpPr>
        <p:grpSpPr>
          <a:xfrm>
            <a:off x="476250" y="342900"/>
            <a:ext cx="666750" cy="47700"/>
            <a:chOff x="0" y="0"/>
            <a:chExt cx="666750" cy="47700"/>
          </a:xfrm>
        </p:grpSpPr>
        <p:sp>
          <p:nvSpPr>
            <p:cNvPr id="322" name="Google Shape;322;p20"/>
            <p:cNvSpPr/>
            <p:nvPr/>
          </p:nvSpPr>
          <p:spPr>
            <a:xfrm>
              <a:off x="0" y="0"/>
              <a:ext cx="304800" cy="47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3" name="Google Shape;323;p20"/>
            <p:cNvSpPr/>
            <p:nvPr/>
          </p:nvSpPr>
          <p:spPr>
            <a:xfrm>
              <a:off x="361950" y="0"/>
              <a:ext cx="304800" cy="47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24" name="Google Shape;324;p20"/>
          <p:cNvSpPr txBox="1"/>
          <p:nvPr/>
        </p:nvSpPr>
        <p:spPr>
          <a:xfrm>
            <a:off x="476250" y="457200"/>
            <a:ext cx="8191500" cy="138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900">
                <a:solidFill>
                  <a:srgbClr val="EB5600"/>
                </a:solidFill>
                <a:latin typeface="Raleway ExtraBold"/>
                <a:ea typeface="Raleway ExtraBold"/>
                <a:cs typeface="Raleway ExtraBold"/>
                <a:sym typeface="Raleway ExtraBold"/>
              </a:rPr>
              <a:t>LIVE DEMO</a:t>
            </a:r>
            <a:endParaRPr b="0" sz="900">
              <a:solidFill>
                <a:srgbClr val="EB5600"/>
              </a:solidFill>
              <a:latin typeface="Raleway ExtraBold"/>
              <a:ea typeface="Raleway ExtraBold"/>
              <a:cs typeface="Raleway ExtraBold"/>
              <a:sym typeface="Raleway ExtraBold"/>
            </a:endParaRPr>
          </a:p>
        </p:txBody>
      </p:sp>
      <p:sp>
        <p:nvSpPr>
          <p:cNvPr id="325" name="Google Shape;325;p20"/>
          <p:cNvSpPr txBox="1"/>
          <p:nvPr/>
        </p:nvSpPr>
        <p:spPr>
          <a:xfrm>
            <a:off x="476250" y="647700"/>
            <a:ext cx="81915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2000">
                <a:solidFill>
                  <a:srgbClr val="0F172A"/>
                </a:solidFill>
                <a:latin typeface="Raleway ExtraBold"/>
                <a:ea typeface="Raleway ExtraBold"/>
                <a:cs typeface="Raleway ExtraBold"/>
                <a:sym typeface="Raleway ExtraBold"/>
              </a:rPr>
              <a:t>THE INTERFACE: DIGITAL REGISTRY LEDGER</a:t>
            </a:r>
            <a:endParaRPr b="0" sz="2000">
              <a:solidFill>
                <a:srgbClr val="0F172A"/>
              </a:solidFill>
              <a:latin typeface="Raleway ExtraBold"/>
              <a:ea typeface="Raleway ExtraBold"/>
              <a:cs typeface="Raleway ExtraBold"/>
              <a:sym typeface="Raleway ExtraBold"/>
            </a:endParaRPr>
          </a:p>
        </p:txBody>
      </p:sp>
      <p:sp>
        <p:nvSpPr>
          <p:cNvPr id="326" name="Google Shape;326;p20"/>
          <p:cNvSpPr/>
          <p:nvPr/>
        </p:nvSpPr>
        <p:spPr>
          <a:xfrm>
            <a:off x="476250" y="1095375"/>
            <a:ext cx="4572000" cy="3714900"/>
          </a:xfrm>
          <a:prstGeom prst="roundRect">
            <a:avLst>
              <a:gd fmla="val 358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7" name="Google Shape;327;p20"/>
          <p:cNvSpPr/>
          <p:nvPr/>
        </p:nvSpPr>
        <p:spPr>
          <a:xfrm>
            <a:off x="5238750" y="1095375"/>
            <a:ext cx="3429000" cy="573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0"/>
          <p:cNvSpPr/>
          <p:nvPr/>
        </p:nvSpPr>
        <p:spPr>
          <a:xfrm>
            <a:off x="5238750" y="1095375"/>
            <a:ext cx="3429000" cy="3714900"/>
          </a:xfrm>
          <a:prstGeom prst="roundRect">
            <a:avLst>
              <a:gd fmla="val 388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20"/>
          <p:cNvSpPr txBox="1"/>
          <p:nvPr/>
        </p:nvSpPr>
        <p:spPr>
          <a:xfrm>
            <a:off x="5476875" y="1257300"/>
            <a:ext cx="2952900" cy="2154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1400">
                <a:solidFill>
                  <a:srgbClr val="0F172A"/>
                </a:solidFill>
                <a:latin typeface="Raleway ExtraBold"/>
                <a:ea typeface="Raleway ExtraBold"/>
                <a:cs typeface="Raleway ExtraBold"/>
                <a:sym typeface="Raleway ExtraBold"/>
              </a:rPr>
              <a:t>WHAT TO POINT OUT</a:t>
            </a:r>
            <a:endParaRPr b="0" sz="1400">
              <a:solidFill>
                <a:srgbClr val="0F172A"/>
              </a:solidFill>
              <a:latin typeface="Raleway ExtraBold"/>
              <a:ea typeface="Raleway ExtraBold"/>
              <a:cs typeface="Raleway ExtraBold"/>
              <a:sym typeface="Raleway ExtraBold"/>
            </a:endParaRPr>
          </a:p>
        </p:txBody>
      </p:sp>
      <p:sp>
        <p:nvSpPr>
          <p:cNvPr id="330" name="Google Shape;330;p20"/>
          <p:cNvSpPr/>
          <p:nvPr/>
        </p:nvSpPr>
        <p:spPr>
          <a:xfrm>
            <a:off x="5476875" y="1657350"/>
            <a:ext cx="304800" cy="304800"/>
          </a:xfrm>
          <a:prstGeom prst="ellipse">
            <a:avLst/>
          </a:prstGeom>
          <a:solidFill>
            <a:srgbClr val="E6F4F1"/>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1A9988"/>
                </a:solidFill>
                <a:latin typeface="Raleway ExtraBold"/>
                <a:ea typeface="Raleway ExtraBold"/>
                <a:cs typeface="Raleway ExtraBold"/>
                <a:sym typeface="Raleway ExtraBold"/>
              </a:rPr>
              <a:t>01</a:t>
            </a:r>
            <a:endParaRPr b="0" sz="1100">
              <a:solidFill>
                <a:srgbClr val="1A9988"/>
              </a:solidFill>
              <a:latin typeface="Raleway ExtraBold"/>
              <a:ea typeface="Raleway ExtraBold"/>
              <a:cs typeface="Raleway ExtraBold"/>
              <a:sym typeface="Raleway ExtraBold"/>
            </a:endParaRPr>
          </a:p>
        </p:txBody>
      </p:sp>
      <p:sp>
        <p:nvSpPr>
          <p:cNvPr id="331" name="Google Shape;331;p20"/>
          <p:cNvSpPr txBox="1"/>
          <p:nvPr/>
        </p:nvSpPr>
        <p:spPr>
          <a:xfrm>
            <a:off x="5886450" y="1628775"/>
            <a:ext cx="25908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0F172A"/>
                </a:solidFill>
                <a:latin typeface="Lato"/>
                <a:ea typeface="Lato"/>
                <a:cs typeface="Lato"/>
                <a:sym typeface="Lato"/>
              </a:rPr>
              <a:t>Names </a:t>
            </a:r>
            <a:r>
              <a:rPr b="0" lang="en" sz="1100">
                <a:solidFill>
                  <a:srgbClr val="64748B"/>
                </a:solidFill>
                <a:latin typeface="Lato"/>
                <a:ea typeface="Lato"/>
                <a:cs typeface="Lato"/>
                <a:sym typeface="Lato"/>
              </a:rPr>
              <a:t>first, optional middle, surname</a:t>
            </a:r>
            <a:endParaRPr b="1" sz="1100">
              <a:solidFill>
                <a:srgbClr val="0F172A"/>
              </a:solidFill>
              <a:latin typeface="Lato"/>
              <a:ea typeface="Lato"/>
              <a:cs typeface="Lato"/>
              <a:sym typeface="Lato"/>
            </a:endParaRPr>
          </a:p>
        </p:txBody>
      </p:sp>
      <p:sp>
        <p:nvSpPr>
          <p:cNvPr id="332" name="Google Shape;332;p20"/>
          <p:cNvSpPr/>
          <p:nvPr/>
        </p:nvSpPr>
        <p:spPr>
          <a:xfrm>
            <a:off x="5476875" y="2266950"/>
            <a:ext cx="304800" cy="304800"/>
          </a:xfrm>
          <a:prstGeom prst="ellipse">
            <a:avLst/>
          </a:prstGeom>
          <a:solidFill>
            <a:srgbClr val="FFF1E8"/>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EB5600"/>
                </a:solidFill>
                <a:latin typeface="Raleway ExtraBold"/>
                <a:ea typeface="Raleway ExtraBold"/>
                <a:cs typeface="Raleway ExtraBold"/>
                <a:sym typeface="Raleway ExtraBold"/>
              </a:rPr>
              <a:t>02</a:t>
            </a:r>
            <a:endParaRPr b="0" sz="1100">
              <a:solidFill>
                <a:srgbClr val="EB5600"/>
              </a:solidFill>
              <a:latin typeface="Raleway ExtraBold"/>
              <a:ea typeface="Raleway ExtraBold"/>
              <a:cs typeface="Raleway ExtraBold"/>
              <a:sym typeface="Raleway ExtraBold"/>
            </a:endParaRPr>
          </a:p>
        </p:txBody>
      </p:sp>
      <p:sp>
        <p:nvSpPr>
          <p:cNvPr id="333" name="Google Shape;333;p20"/>
          <p:cNvSpPr txBox="1"/>
          <p:nvPr/>
        </p:nvSpPr>
        <p:spPr>
          <a:xfrm>
            <a:off x="5886450" y="2238375"/>
            <a:ext cx="25908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0F172A"/>
                </a:solidFill>
                <a:latin typeface="Lato"/>
                <a:ea typeface="Lato"/>
                <a:cs typeface="Lato"/>
                <a:sym typeface="Lato"/>
              </a:rPr>
              <a:t>Student ID </a:t>
            </a:r>
            <a:r>
              <a:rPr b="0" lang="en" sz="1100">
                <a:solidFill>
                  <a:srgbClr val="64748B"/>
                </a:solidFill>
                <a:latin typeface="Lato"/>
                <a:ea typeface="Lato"/>
                <a:cs typeface="Lato"/>
                <a:sym typeface="Lato"/>
              </a:rPr>
              <a:t>digits only, exactly 8</a:t>
            </a:r>
            <a:endParaRPr b="1" sz="1100">
              <a:solidFill>
                <a:srgbClr val="0F172A"/>
              </a:solidFill>
              <a:latin typeface="Lato"/>
              <a:ea typeface="Lato"/>
              <a:cs typeface="Lato"/>
              <a:sym typeface="Lato"/>
            </a:endParaRPr>
          </a:p>
        </p:txBody>
      </p:sp>
      <p:sp>
        <p:nvSpPr>
          <p:cNvPr id="334" name="Google Shape;334;p20"/>
          <p:cNvSpPr/>
          <p:nvPr/>
        </p:nvSpPr>
        <p:spPr>
          <a:xfrm>
            <a:off x="5476875" y="2876550"/>
            <a:ext cx="304800" cy="304800"/>
          </a:xfrm>
          <a:prstGeom prst="ellipse">
            <a:avLst/>
          </a:prstGeom>
          <a:solidFill>
            <a:srgbClr val="E6F4F1"/>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1A9988"/>
                </a:solidFill>
                <a:latin typeface="Raleway ExtraBold"/>
                <a:ea typeface="Raleway ExtraBold"/>
                <a:cs typeface="Raleway ExtraBold"/>
                <a:sym typeface="Raleway ExtraBold"/>
              </a:rPr>
              <a:t>03</a:t>
            </a:r>
            <a:endParaRPr b="0" sz="1100">
              <a:solidFill>
                <a:srgbClr val="1A9988"/>
              </a:solidFill>
              <a:latin typeface="Raleway ExtraBold"/>
              <a:ea typeface="Raleway ExtraBold"/>
              <a:cs typeface="Raleway ExtraBold"/>
              <a:sym typeface="Raleway ExtraBold"/>
            </a:endParaRPr>
          </a:p>
        </p:txBody>
      </p:sp>
      <p:sp>
        <p:nvSpPr>
          <p:cNvPr id="335" name="Google Shape;335;p20"/>
          <p:cNvSpPr txBox="1"/>
          <p:nvPr/>
        </p:nvSpPr>
        <p:spPr>
          <a:xfrm>
            <a:off x="5886450" y="2847975"/>
            <a:ext cx="25908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0F172A"/>
                </a:solidFill>
                <a:latin typeface="Lato"/>
                <a:ea typeface="Lato"/>
                <a:cs typeface="Lato"/>
                <a:sym typeface="Lato"/>
              </a:rPr>
              <a:t>Date of birth </a:t>
            </a:r>
            <a:r>
              <a:rPr b="0" lang="en" sz="1100">
                <a:solidFill>
                  <a:srgbClr val="64748B"/>
                </a:solidFill>
                <a:latin typeface="Lato"/>
                <a:ea typeface="Lato"/>
                <a:cs typeface="Lato"/>
                <a:sym typeface="Lato"/>
              </a:rPr>
              <a:t>Age fills automatically</a:t>
            </a:r>
            <a:endParaRPr b="1" sz="1100">
              <a:solidFill>
                <a:srgbClr val="0F172A"/>
              </a:solidFill>
              <a:latin typeface="Lato"/>
              <a:ea typeface="Lato"/>
              <a:cs typeface="Lato"/>
              <a:sym typeface="Lato"/>
            </a:endParaRPr>
          </a:p>
        </p:txBody>
      </p:sp>
      <p:sp>
        <p:nvSpPr>
          <p:cNvPr id="336" name="Google Shape;336;p20"/>
          <p:cNvSpPr/>
          <p:nvPr/>
        </p:nvSpPr>
        <p:spPr>
          <a:xfrm>
            <a:off x="5476875" y="3486150"/>
            <a:ext cx="304800" cy="304800"/>
          </a:xfrm>
          <a:prstGeom prst="ellipse">
            <a:avLst/>
          </a:prstGeom>
          <a:solidFill>
            <a:srgbClr val="FFF1E8"/>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EB5600"/>
                </a:solidFill>
                <a:latin typeface="Raleway ExtraBold"/>
                <a:ea typeface="Raleway ExtraBold"/>
                <a:cs typeface="Raleway ExtraBold"/>
                <a:sym typeface="Raleway ExtraBold"/>
              </a:rPr>
              <a:t>04</a:t>
            </a:r>
            <a:endParaRPr b="0" sz="1100">
              <a:solidFill>
                <a:srgbClr val="EB5600"/>
              </a:solidFill>
              <a:latin typeface="Raleway ExtraBold"/>
              <a:ea typeface="Raleway ExtraBold"/>
              <a:cs typeface="Raleway ExtraBold"/>
              <a:sym typeface="Raleway ExtraBold"/>
            </a:endParaRPr>
          </a:p>
        </p:txBody>
      </p:sp>
      <p:sp>
        <p:nvSpPr>
          <p:cNvPr id="337" name="Google Shape;337;p20"/>
          <p:cNvSpPr txBox="1"/>
          <p:nvPr/>
        </p:nvSpPr>
        <p:spPr>
          <a:xfrm>
            <a:off x="5886450" y="3457575"/>
            <a:ext cx="25908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0F172A"/>
                </a:solidFill>
                <a:latin typeface="Lato"/>
                <a:ea typeface="Lato"/>
                <a:cs typeface="Lato"/>
                <a:sym typeface="Lato"/>
              </a:rPr>
              <a:t>Programme </a:t>
            </a:r>
            <a:r>
              <a:rPr b="0" lang="en" sz="1100">
                <a:solidFill>
                  <a:srgbClr val="64748B"/>
                </a:solidFill>
                <a:latin typeface="Lato"/>
                <a:ea typeface="Lato"/>
                <a:cs typeface="Lato"/>
                <a:sym typeface="Lato"/>
              </a:rPr>
              <a:t>type to search; limits Level</a:t>
            </a:r>
            <a:endParaRPr b="1" sz="1100">
              <a:solidFill>
                <a:srgbClr val="0F172A"/>
              </a:solidFill>
              <a:latin typeface="Lato"/>
              <a:ea typeface="Lato"/>
              <a:cs typeface="Lato"/>
              <a:sym typeface="Lato"/>
            </a:endParaRPr>
          </a:p>
        </p:txBody>
      </p:sp>
      <p:sp>
        <p:nvSpPr>
          <p:cNvPr id="338" name="Google Shape;338;p20"/>
          <p:cNvSpPr/>
          <p:nvPr/>
        </p:nvSpPr>
        <p:spPr>
          <a:xfrm>
            <a:off x="5476875" y="4095750"/>
            <a:ext cx="304800" cy="304800"/>
          </a:xfrm>
          <a:prstGeom prst="ellipse">
            <a:avLst/>
          </a:prstGeom>
          <a:solidFill>
            <a:srgbClr val="E6F4F1"/>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1A9988"/>
                </a:solidFill>
                <a:latin typeface="Raleway ExtraBold"/>
                <a:ea typeface="Raleway ExtraBold"/>
                <a:cs typeface="Raleway ExtraBold"/>
                <a:sym typeface="Raleway ExtraBold"/>
              </a:rPr>
              <a:t>05</a:t>
            </a:r>
            <a:endParaRPr b="0" sz="1100">
              <a:solidFill>
                <a:srgbClr val="1A9988"/>
              </a:solidFill>
              <a:latin typeface="Raleway ExtraBold"/>
              <a:ea typeface="Raleway ExtraBold"/>
              <a:cs typeface="Raleway ExtraBold"/>
              <a:sym typeface="Raleway ExtraBold"/>
            </a:endParaRPr>
          </a:p>
        </p:txBody>
      </p:sp>
      <p:sp>
        <p:nvSpPr>
          <p:cNvPr id="339" name="Google Shape;339;p20"/>
          <p:cNvSpPr txBox="1"/>
          <p:nvPr/>
        </p:nvSpPr>
        <p:spPr>
          <a:xfrm>
            <a:off x="5886450" y="4067175"/>
            <a:ext cx="2590800" cy="3387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0F172A"/>
                </a:solidFill>
                <a:latin typeface="Lato"/>
                <a:ea typeface="Lato"/>
                <a:cs typeface="Lato"/>
                <a:sym typeface="Lato"/>
              </a:rPr>
              <a:t>Add to register </a:t>
            </a:r>
            <a:r>
              <a:rPr b="0" lang="en" sz="1100">
                <a:solidFill>
                  <a:srgbClr val="64748B"/>
                </a:solidFill>
                <a:latin typeface="Lato"/>
                <a:ea typeface="Lato"/>
                <a:cs typeface="Lato"/>
                <a:sym typeface="Lato"/>
              </a:rPr>
              <a:t>validates, then saves to cloud</a:t>
            </a:r>
            <a:endParaRPr b="1" sz="1100">
              <a:solidFill>
                <a:srgbClr val="0F172A"/>
              </a:solidFill>
              <a:latin typeface="Lato"/>
              <a:ea typeface="Lato"/>
              <a:cs typeface="Lato"/>
              <a:sym typeface="Lato"/>
            </a:endParaRPr>
          </a:p>
        </p:txBody>
      </p:sp>
      <p:pic>
        <p:nvPicPr>
          <p:cNvPr id="340" name="Google Shape;340;p20"/>
          <p:cNvPicPr preferRelativeResize="0"/>
          <p:nvPr/>
        </p:nvPicPr>
        <p:blipFill rotWithShape="1">
          <a:blip r:embed="rId4">
            <a:alphaModFix/>
          </a:blip>
          <a:srcRect b="0" l="11150" r="11150" t="0"/>
          <a:stretch/>
        </p:blipFill>
        <p:spPr>
          <a:xfrm>
            <a:off x="571500" y="1190625"/>
            <a:ext cx="4381500" cy="3524400"/>
          </a:xfrm>
          <a:prstGeom prst="roundRect">
            <a:avLst>
              <a:gd fmla="val 2702" name="adj"/>
            </a:avLst>
          </a:prstGeom>
          <a:noFill/>
          <a:ln cap="flat" cmpd="sng" w="9525">
            <a:solidFill>
              <a:srgbClr val="E2E8F0"/>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5" name="Shape 345"/>
        <p:cNvGrpSpPr/>
        <p:nvPr/>
      </p:nvGrpSpPr>
      <p:grpSpPr>
        <a:xfrm>
          <a:off x="0" y="0"/>
          <a:ext cx="0" cy="0"/>
          <a:chOff x="0" y="0"/>
          <a:chExt cx="0" cy="0"/>
        </a:xfrm>
      </p:grpSpPr>
      <p:grpSp>
        <p:nvGrpSpPr>
          <p:cNvPr id="346" name="Google Shape;346;p21"/>
          <p:cNvGrpSpPr/>
          <p:nvPr/>
        </p:nvGrpSpPr>
        <p:grpSpPr>
          <a:xfrm>
            <a:off x="476250" y="342900"/>
            <a:ext cx="666750" cy="47700"/>
            <a:chOff x="0" y="0"/>
            <a:chExt cx="666750" cy="47700"/>
          </a:xfrm>
        </p:grpSpPr>
        <p:sp>
          <p:nvSpPr>
            <p:cNvPr id="347" name="Google Shape;347;p21"/>
            <p:cNvSpPr/>
            <p:nvPr/>
          </p:nvSpPr>
          <p:spPr>
            <a:xfrm>
              <a:off x="0" y="0"/>
              <a:ext cx="304800" cy="47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21"/>
            <p:cNvSpPr/>
            <p:nvPr/>
          </p:nvSpPr>
          <p:spPr>
            <a:xfrm>
              <a:off x="361950" y="0"/>
              <a:ext cx="304800" cy="47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49" name="Google Shape;349;p21"/>
          <p:cNvGrpSpPr/>
          <p:nvPr/>
        </p:nvGrpSpPr>
        <p:grpSpPr>
          <a:xfrm>
            <a:off x="476250" y="457200"/>
            <a:ext cx="8191500" cy="142800"/>
            <a:chOff x="0" y="0"/>
            <a:chExt cx="8191500" cy="142800"/>
          </a:xfrm>
        </p:grpSpPr>
        <p:sp>
          <p:nvSpPr>
            <p:cNvPr id="350" name="Google Shape;350;p21"/>
            <p:cNvSpPr/>
            <p:nvPr/>
          </p:nvSpPr>
          <p:spPr>
            <a:xfrm>
              <a:off x="0" y="0"/>
              <a:ext cx="8191500" cy="14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p21"/>
            <p:cNvSpPr txBox="1"/>
            <p:nvPr/>
          </p:nvSpPr>
          <p:spPr>
            <a:xfrm>
              <a:off x="0" y="0"/>
              <a:ext cx="8191500" cy="14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EB5600"/>
                  </a:solidFill>
                  <a:latin typeface="Raleway ExtraBold"/>
                  <a:ea typeface="Raleway ExtraBold"/>
                  <a:cs typeface="Raleway ExtraBold"/>
                  <a:sym typeface="Raleway ExtraBold"/>
                </a:rPr>
                <a:t>REFLECTION</a:t>
              </a:r>
              <a:endParaRPr b="0" sz="900">
                <a:solidFill>
                  <a:srgbClr val="EB5600"/>
                </a:solidFill>
                <a:latin typeface="Raleway ExtraBold"/>
                <a:ea typeface="Raleway ExtraBold"/>
                <a:cs typeface="Raleway ExtraBold"/>
                <a:sym typeface="Raleway ExtraBold"/>
              </a:endParaRPr>
            </a:p>
          </p:txBody>
        </p:sp>
      </p:grpSp>
      <p:grpSp>
        <p:nvGrpSpPr>
          <p:cNvPr id="352" name="Google Shape;352;p21"/>
          <p:cNvGrpSpPr/>
          <p:nvPr/>
        </p:nvGrpSpPr>
        <p:grpSpPr>
          <a:xfrm>
            <a:off x="476250" y="647700"/>
            <a:ext cx="8191500" cy="304800"/>
            <a:chOff x="0" y="0"/>
            <a:chExt cx="8191500" cy="304800"/>
          </a:xfrm>
        </p:grpSpPr>
        <p:sp>
          <p:nvSpPr>
            <p:cNvPr id="353" name="Google Shape;353;p21"/>
            <p:cNvSpPr/>
            <p:nvPr/>
          </p:nvSpPr>
          <p:spPr>
            <a:xfrm>
              <a:off x="0" y="0"/>
              <a:ext cx="81915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21"/>
            <p:cNvSpPr txBox="1"/>
            <p:nvPr/>
          </p:nvSpPr>
          <p:spPr>
            <a:xfrm>
              <a:off x="0" y="0"/>
              <a:ext cx="81915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000">
                  <a:solidFill>
                    <a:srgbClr val="0F172A"/>
                  </a:solidFill>
                  <a:latin typeface="Raleway ExtraBold"/>
                  <a:ea typeface="Raleway ExtraBold"/>
                  <a:cs typeface="Raleway ExtraBold"/>
                  <a:sym typeface="Raleway ExtraBold"/>
                </a:rPr>
                <a:t>LESSONS LEARNT</a:t>
              </a:r>
              <a:endParaRPr b="0" sz="2000">
                <a:solidFill>
                  <a:srgbClr val="0F172A"/>
                </a:solidFill>
                <a:latin typeface="Raleway ExtraBold"/>
                <a:ea typeface="Raleway ExtraBold"/>
                <a:cs typeface="Raleway ExtraBold"/>
                <a:sym typeface="Raleway ExtraBold"/>
              </a:endParaRPr>
            </a:p>
          </p:txBody>
        </p:sp>
      </p:grpSp>
      <p:grpSp>
        <p:nvGrpSpPr>
          <p:cNvPr id="355" name="Google Shape;355;p21"/>
          <p:cNvGrpSpPr/>
          <p:nvPr/>
        </p:nvGrpSpPr>
        <p:grpSpPr>
          <a:xfrm>
            <a:off x="476250" y="1095375"/>
            <a:ext cx="8191500" cy="628800"/>
            <a:chOff x="0" y="0"/>
            <a:chExt cx="8191500" cy="628800"/>
          </a:xfrm>
        </p:grpSpPr>
        <p:sp>
          <p:nvSpPr>
            <p:cNvPr id="356" name="Google Shape;356;p21"/>
            <p:cNvSpPr/>
            <p:nvPr/>
          </p:nvSpPr>
          <p:spPr>
            <a:xfrm>
              <a:off x="0" y="0"/>
              <a:ext cx="8191500" cy="628800"/>
            </a:xfrm>
            <a:prstGeom prst="roundRect">
              <a:avLst>
                <a:gd fmla="val 1818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21"/>
            <p:cNvSpPr/>
            <p:nvPr/>
          </p:nvSpPr>
          <p:spPr>
            <a:xfrm>
              <a:off x="0" y="0"/>
              <a:ext cx="47700" cy="6288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58" name="Google Shape;358;p21"/>
            <p:cNvGrpSpPr/>
            <p:nvPr/>
          </p:nvGrpSpPr>
          <p:grpSpPr>
            <a:xfrm>
              <a:off x="190500" y="161925"/>
              <a:ext cx="304800" cy="304800"/>
              <a:chOff x="0" y="0"/>
              <a:chExt cx="304800" cy="304800"/>
            </a:xfrm>
          </p:grpSpPr>
          <p:sp>
            <p:nvSpPr>
              <p:cNvPr id="359" name="Google Shape;359;p21"/>
              <p:cNvSpPr/>
              <p:nvPr/>
            </p:nvSpPr>
            <p:spPr>
              <a:xfrm>
                <a:off x="0" y="0"/>
                <a:ext cx="304800" cy="3048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21"/>
              <p:cNvSpPr txBox="1"/>
              <p:nvPr/>
            </p:nvSpPr>
            <p:spPr>
              <a:xfrm>
                <a:off x="0" y="0"/>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2563EB"/>
                    </a:solidFill>
                    <a:latin typeface="Raleway ExtraBold"/>
                    <a:ea typeface="Raleway ExtraBold"/>
                    <a:cs typeface="Raleway ExtraBold"/>
                    <a:sym typeface="Raleway ExtraBold"/>
                  </a:rPr>
                  <a:t>01</a:t>
                </a:r>
                <a:endParaRPr b="0" sz="1100">
                  <a:solidFill>
                    <a:srgbClr val="2563EB"/>
                  </a:solidFill>
                  <a:latin typeface="Raleway ExtraBold"/>
                  <a:ea typeface="Raleway ExtraBold"/>
                  <a:cs typeface="Raleway ExtraBold"/>
                  <a:sym typeface="Raleway ExtraBold"/>
                </a:endParaRPr>
              </a:p>
            </p:txBody>
          </p:sp>
        </p:grpSp>
        <p:grpSp>
          <p:nvGrpSpPr>
            <p:cNvPr id="361" name="Google Shape;361;p21"/>
            <p:cNvGrpSpPr/>
            <p:nvPr/>
          </p:nvGrpSpPr>
          <p:grpSpPr>
            <a:xfrm>
              <a:off x="647700" y="95250"/>
              <a:ext cx="7334400" cy="438300"/>
              <a:chOff x="0" y="0"/>
              <a:chExt cx="7334400" cy="438300"/>
            </a:xfrm>
          </p:grpSpPr>
          <p:sp>
            <p:nvSpPr>
              <p:cNvPr id="362" name="Google Shape;362;p21"/>
              <p:cNvSpPr/>
              <p:nvPr/>
            </p:nvSpPr>
            <p:spPr>
              <a:xfrm>
                <a:off x="0" y="0"/>
                <a:ext cx="7334400" cy="438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21"/>
              <p:cNvSpPr txBox="1"/>
              <p:nvPr/>
            </p:nvSpPr>
            <p:spPr>
              <a:xfrm>
                <a:off x="0" y="0"/>
                <a:ext cx="73344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sz="1100" b="0">
                    <a:solidFill>
                      <a:srgbClr val="0F172A"/>
                    </a:solidFill>
                    <a:latin typeface="Raleway ExtraBold"/>
                  </a:rPr>
                  <a:t>Check File Paths First</a:t>
                </a:r>
                <a:endParaRPr b="0" sz="1100">
                  <a:solidFill>
                    <a:srgbClr val="0F172A"/>
                  </a:solidFill>
                  <a:latin typeface="Raleway ExtraBold"/>
                  <a:ea typeface="Raleway ExtraBold"/>
                  <a:cs typeface="Raleway ExtraBold"/>
                  <a:sym typeface="Raleway ExtraBold"/>
                </a:endParaRPr>
              </a:p>
              <a:p>
                <a:pPr indent="0" lvl="0" marL="0" rtl="0" algn="l">
                  <a:spcBef>
                    <a:spcPts val="0"/>
                  </a:spcBef>
                  <a:spcAft>
                    <a:spcPts val="0"/>
                  </a:spcAft>
                  <a:buNone/>
                </a:pPr>
                <a:r>
                  <a:rPr sz="950" b="0">
                    <a:solidFill>
                      <a:srgbClr val="475569"/>
                    </a:solidFill>
                    <a:latin typeface="Lato"/>
                  </a:rPr>
                  <a:t>Make sure folder paths match server routes so styles and scripts load properly.</a:t>
                </a:r>
                <a:endParaRPr b="0" sz="950">
                  <a:solidFill>
                    <a:srgbClr val="475569"/>
                  </a:solidFill>
                  <a:latin typeface="Lato"/>
                  <a:ea typeface="Lato"/>
                  <a:cs typeface="Lato"/>
                  <a:sym typeface="Lato"/>
                </a:endParaRPr>
              </a:p>
            </p:txBody>
          </p:sp>
        </p:grpSp>
      </p:grpSp>
      <p:grpSp>
        <p:nvGrpSpPr>
          <p:cNvPr id="364" name="Google Shape;364;p21"/>
          <p:cNvGrpSpPr/>
          <p:nvPr/>
        </p:nvGrpSpPr>
        <p:grpSpPr>
          <a:xfrm>
            <a:off x="476250" y="1800225"/>
            <a:ext cx="8191500" cy="628800"/>
            <a:chOff x="0" y="0"/>
            <a:chExt cx="8191500" cy="628800"/>
          </a:xfrm>
        </p:grpSpPr>
        <p:sp>
          <p:nvSpPr>
            <p:cNvPr id="365" name="Google Shape;365;p21"/>
            <p:cNvSpPr/>
            <p:nvPr/>
          </p:nvSpPr>
          <p:spPr>
            <a:xfrm>
              <a:off x="0" y="0"/>
              <a:ext cx="8191500" cy="628800"/>
            </a:xfrm>
            <a:prstGeom prst="roundRect">
              <a:avLst>
                <a:gd fmla="val 1818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21"/>
            <p:cNvSpPr/>
            <p:nvPr/>
          </p:nvSpPr>
          <p:spPr>
            <a:xfrm>
              <a:off x="0" y="0"/>
              <a:ext cx="47700" cy="6288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67" name="Google Shape;367;p21"/>
            <p:cNvGrpSpPr/>
            <p:nvPr/>
          </p:nvGrpSpPr>
          <p:grpSpPr>
            <a:xfrm>
              <a:off x="190500" y="161925"/>
              <a:ext cx="304800" cy="304800"/>
              <a:chOff x="0" y="0"/>
              <a:chExt cx="304800" cy="304800"/>
            </a:xfrm>
          </p:grpSpPr>
          <p:sp>
            <p:nvSpPr>
              <p:cNvPr id="368" name="Google Shape;368;p21"/>
              <p:cNvSpPr/>
              <p:nvPr/>
            </p:nvSpPr>
            <p:spPr>
              <a:xfrm>
                <a:off x="0" y="0"/>
                <a:ext cx="304800" cy="304800"/>
              </a:xfrm>
              <a:prstGeom prst="ellipse">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21"/>
              <p:cNvSpPr txBox="1"/>
              <p:nvPr/>
            </p:nvSpPr>
            <p:spPr>
              <a:xfrm>
                <a:off x="0" y="0"/>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1A9988"/>
                    </a:solidFill>
                    <a:latin typeface="Raleway ExtraBold"/>
                    <a:ea typeface="Raleway ExtraBold"/>
                    <a:cs typeface="Raleway ExtraBold"/>
                    <a:sym typeface="Raleway ExtraBold"/>
                  </a:rPr>
                  <a:t>02</a:t>
                </a:r>
                <a:endParaRPr b="0" sz="1100">
                  <a:solidFill>
                    <a:srgbClr val="1A9988"/>
                  </a:solidFill>
                  <a:latin typeface="Raleway ExtraBold"/>
                  <a:ea typeface="Raleway ExtraBold"/>
                  <a:cs typeface="Raleway ExtraBold"/>
                  <a:sym typeface="Raleway ExtraBold"/>
                </a:endParaRPr>
              </a:p>
            </p:txBody>
          </p:sp>
        </p:grpSp>
        <p:grpSp>
          <p:nvGrpSpPr>
            <p:cNvPr id="370" name="Google Shape;370;p21"/>
            <p:cNvGrpSpPr/>
            <p:nvPr/>
          </p:nvGrpSpPr>
          <p:grpSpPr>
            <a:xfrm>
              <a:off x="647700" y="95250"/>
              <a:ext cx="7334400" cy="438300"/>
              <a:chOff x="0" y="0"/>
              <a:chExt cx="7334400" cy="438300"/>
            </a:xfrm>
          </p:grpSpPr>
          <p:sp>
            <p:nvSpPr>
              <p:cNvPr id="371" name="Google Shape;371;p21"/>
              <p:cNvSpPr/>
              <p:nvPr/>
            </p:nvSpPr>
            <p:spPr>
              <a:xfrm>
                <a:off x="0" y="0"/>
                <a:ext cx="7334400" cy="438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21"/>
              <p:cNvSpPr txBox="1"/>
              <p:nvPr/>
            </p:nvSpPr>
            <p:spPr>
              <a:xfrm>
                <a:off x="0" y="0"/>
                <a:ext cx="73344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sz="1100" b="0">
                    <a:solidFill>
                      <a:srgbClr val="0F172A"/>
                    </a:solidFill>
                    <a:latin typeface="Raleway ExtraBold"/>
                  </a:rPr>
                  <a:t>Network Requests Take Time</a:t>
                </a:r>
                <a:endParaRPr b="0" sz="1100">
                  <a:solidFill>
                    <a:srgbClr val="0F172A"/>
                  </a:solidFill>
                  <a:latin typeface="Raleway ExtraBold"/>
                  <a:ea typeface="Raleway ExtraBold"/>
                  <a:cs typeface="Raleway ExtraBold"/>
                  <a:sym typeface="Raleway ExtraBold"/>
                </a:endParaRPr>
              </a:p>
              <a:p>
                <a:pPr indent="0" lvl="0" marL="0" rtl="0" algn="l">
                  <a:spcBef>
                    <a:spcPts val="0"/>
                  </a:spcBef>
                  <a:spcAft>
                    <a:spcPts val="0"/>
                  </a:spcAft>
                  <a:buNone/>
                </a:pPr>
                <a:r>
                  <a:rPr sz="950" b="0">
                    <a:solidFill>
                      <a:srgbClr val="475569"/>
                    </a:solidFill>
                    <a:latin typeface="Lato"/>
                  </a:rPr>
                  <a:t>Cloud calls are not instant; handle loading states and catch errors gracefully.</a:t>
                </a:r>
                <a:endParaRPr b="0" sz="950">
                  <a:solidFill>
                    <a:srgbClr val="475569"/>
                  </a:solidFill>
                  <a:latin typeface="Lato"/>
                  <a:ea typeface="Lato"/>
                  <a:cs typeface="Lato"/>
                  <a:sym typeface="Lato"/>
                </a:endParaRPr>
              </a:p>
            </p:txBody>
          </p:sp>
        </p:grpSp>
      </p:grpSp>
      <p:grpSp>
        <p:nvGrpSpPr>
          <p:cNvPr id="373" name="Google Shape;373;p21"/>
          <p:cNvGrpSpPr/>
          <p:nvPr/>
        </p:nvGrpSpPr>
        <p:grpSpPr>
          <a:xfrm>
            <a:off x="476250" y="2505075"/>
            <a:ext cx="8191500" cy="628800"/>
            <a:chOff x="0" y="0"/>
            <a:chExt cx="8191500" cy="628800"/>
          </a:xfrm>
        </p:grpSpPr>
        <p:sp>
          <p:nvSpPr>
            <p:cNvPr id="374" name="Google Shape;374;p21"/>
            <p:cNvSpPr/>
            <p:nvPr/>
          </p:nvSpPr>
          <p:spPr>
            <a:xfrm>
              <a:off x="0" y="0"/>
              <a:ext cx="8191500" cy="628800"/>
            </a:xfrm>
            <a:prstGeom prst="roundRect">
              <a:avLst>
                <a:gd fmla="val 1818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21"/>
            <p:cNvSpPr/>
            <p:nvPr/>
          </p:nvSpPr>
          <p:spPr>
            <a:xfrm>
              <a:off x="0" y="0"/>
              <a:ext cx="47700" cy="6288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6" name="Google Shape;376;p21"/>
            <p:cNvGrpSpPr/>
            <p:nvPr/>
          </p:nvGrpSpPr>
          <p:grpSpPr>
            <a:xfrm>
              <a:off x="190500" y="161925"/>
              <a:ext cx="304800" cy="304800"/>
              <a:chOff x="0" y="0"/>
              <a:chExt cx="304800" cy="304800"/>
            </a:xfrm>
          </p:grpSpPr>
          <p:sp>
            <p:nvSpPr>
              <p:cNvPr id="377" name="Google Shape;377;p21"/>
              <p:cNvSpPr/>
              <p:nvPr/>
            </p:nvSpPr>
            <p:spPr>
              <a:xfrm>
                <a:off x="0" y="0"/>
                <a:ext cx="304800" cy="304800"/>
              </a:xfrm>
              <a:prstGeom prst="ellipse">
                <a:avLst/>
              </a:prstGeom>
              <a:solidFill>
                <a:srgbClr val="FFF1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21"/>
              <p:cNvSpPr txBox="1"/>
              <p:nvPr/>
            </p:nvSpPr>
            <p:spPr>
              <a:xfrm>
                <a:off x="0" y="0"/>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EB5600"/>
                    </a:solidFill>
                    <a:latin typeface="Raleway ExtraBold"/>
                    <a:ea typeface="Raleway ExtraBold"/>
                    <a:cs typeface="Raleway ExtraBold"/>
                    <a:sym typeface="Raleway ExtraBold"/>
                  </a:rPr>
                  <a:t>03</a:t>
                </a:r>
                <a:endParaRPr b="0" sz="1100">
                  <a:solidFill>
                    <a:srgbClr val="EB5600"/>
                  </a:solidFill>
                  <a:latin typeface="Raleway ExtraBold"/>
                  <a:ea typeface="Raleway ExtraBold"/>
                  <a:cs typeface="Raleway ExtraBold"/>
                  <a:sym typeface="Raleway ExtraBold"/>
                </a:endParaRPr>
              </a:p>
            </p:txBody>
          </p:sp>
        </p:grpSp>
        <p:grpSp>
          <p:nvGrpSpPr>
            <p:cNvPr id="379" name="Google Shape;379;p21"/>
            <p:cNvGrpSpPr/>
            <p:nvPr/>
          </p:nvGrpSpPr>
          <p:grpSpPr>
            <a:xfrm>
              <a:off x="647700" y="95250"/>
              <a:ext cx="7334400" cy="438300"/>
              <a:chOff x="0" y="0"/>
              <a:chExt cx="7334400" cy="438300"/>
            </a:xfrm>
          </p:grpSpPr>
          <p:sp>
            <p:nvSpPr>
              <p:cNvPr id="380" name="Google Shape;380;p21"/>
              <p:cNvSpPr/>
              <p:nvPr/>
            </p:nvSpPr>
            <p:spPr>
              <a:xfrm>
                <a:off x="0" y="0"/>
                <a:ext cx="7334400" cy="438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21"/>
              <p:cNvSpPr txBox="1"/>
              <p:nvPr/>
            </p:nvSpPr>
            <p:spPr>
              <a:xfrm>
                <a:off x="0" y="0"/>
                <a:ext cx="73344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sz="1100" b="0">
                    <a:solidFill>
                      <a:srgbClr val="0F172A"/>
                    </a:solidFill>
                    <a:latin typeface="Raleway ExtraBold"/>
                  </a:rPr>
                  <a:t>Keep the Screen Updated</a:t>
                </a:r>
                <a:endParaRPr b="0" sz="1100">
                  <a:solidFill>
                    <a:srgbClr val="0F172A"/>
                  </a:solidFill>
                  <a:latin typeface="Raleway ExtraBold"/>
                  <a:ea typeface="Raleway ExtraBold"/>
                  <a:cs typeface="Raleway ExtraBold"/>
                  <a:sym typeface="Raleway ExtraBold"/>
                </a:endParaRPr>
              </a:p>
              <a:p>
                <a:pPr indent="0" lvl="0" marL="0" rtl="0" algn="l">
                  <a:spcBef>
                    <a:spcPts val="0"/>
                  </a:spcBef>
                  <a:spcAft>
                    <a:spcPts val="0"/>
                  </a:spcAft>
                  <a:buNone/>
                </a:pPr>
                <a:r>
                  <a:rPr sz="950" b="0">
                    <a:solidFill>
                      <a:srgbClr val="475569"/>
                    </a:solidFill>
                    <a:latin typeface="Lato"/>
                  </a:rPr>
                  <a:t>Update the table right away so users never have to reload the page.</a:t>
                </a:r>
                <a:endParaRPr b="0" sz="950">
                  <a:solidFill>
                    <a:srgbClr val="475569"/>
                  </a:solidFill>
                  <a:latin typeface="Lato"/>
                  <a:ea typeface="Lato"/>
                  <a:cs typeface="Lato"/>
                  <a:sym typeface="Lato"/>
                </a:endParaRPr>
              </a:p>
            </p:txBody>
          </p:sp>
        </p:grpSp>
      </p:grpSp>
      <p:grpSp>
        <p:nvGrpSpPr>
          <p:cNvPr id="382" name="Google Shape;382;p21"/>
          <p:cNvGrpSpPr/>
          <p:nvPr/>
        </p:nvGrpSpPr>
        <p:grpSpPr>
          <a:xfrm>
            <a:off x="476250" y="3209925"/>
            <a:ext cx="8191500" cy="628800"/>
            <a:chOff x="0" y="0"/>
            <a:chExt cx="8191500" cy="628800"/>
          </a:xfrm>
        </p:grpSpPr>
        <p:sp>
          <p:nvSpPr>
            <p:cNvPr id="383" name="Google Shape;383;p21"/>
            <p:cNvSpPr/>
            <p:nvPr/>
          </p:nvSpPr>
          <p:spPr>
            <a:xfrm>
              <a:off x="0" y="0"/>
              <a:ext cx="8191500" cy="628800"/>
            </a:xfrm>
            <a:prstGeom prst="roundRect">
              <a:avLst>
                <a:gd fmla="val 1818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21"/>
            <p:cNvSpPr/>
            <p:nvPr/>
          </p:nvSpPr>
          <p:spPr>
            <a:xfrm>
              <a:off x="0" y="0"/>
              <a:ext cx="47700" cy="6288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85" name="Google Shape;385;p21"/>
            <p:cNvGrpSpPr/>
            <p:nvPr/>
          </p:nvGrpSpPr>
          <p:grpSpPr>
            <a:xfrm>
              <a:off x="190500" y="161925"/>
              <a:ext cx="304800" cy="304800"/>
              <a:chOff x="0" y="0"/>
              <a:chExt cx="304800" cy="304800"/>
            </a:xfrm>
          </p:grpSpPr>
          <p:sp>
            <p:nvSpPr>
              <p:cNvPr id="386" name="Google Shape;386;p21"/>
              <p:cNvSpPr/>
              <p:nvPr/>
            </p:nvSpPr>
            <p:spPr>
              <a:xfrm>
                <a:off x="0" y="0"/>
                <a:ext cx="304800" cy="3048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21"/>
              <p:cNvSpPr txBox="1"/>
              <p:nvPr/>
            </p:nvSpPr>
            <p:spPr>
              <a:xfrm>
                <a:off x="0" y="0"/>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2563EB"/>
                    </a:solidFill>
                    <a:latin typeface="Raleway ExtraBold"/>
                    <a:ea typeface="Raleway ExtraBold"/>
                    <a:cs typeface="Raleway ExtraBold"/>
                    <a:sym typeface="Raleway ExtraBold"/>
                  </a:rPr>
                  <a:t>04</a:t>
                </a:r>
                <a:endParaRPr b="0" sz="1100">
                  <a:solidFill>
                    <a:srgbClr val="2563EB"/>
                  </a:solidFill>
                  <a:latin typeface="Raleway ExtraBold"/>
                  <a:ea typeface="Raleway ExtraBold"/>
                  <a:cs typeface="Raleway ExtraBold"/>
                  <a:sym typeface="Raleway ExtraBold"/>
                </a:endParaRPr>
              </a:p>
            </p:txBody>
          </p:sp>
        </p:grpSp>
        <p:grpSp>
          <p:nvGrpSpPr>
            <p:cNvPr id="388" name="Google Shape;388;p21"/>
            <p:cNvGrpSpPr/>
            <p:nvPr/>
          </p:nvGrpSpPr>
          <p:grpSpPr>
            <a:xfrm>
              <a:off x="647700" y="95250"/>
              <a:ext cx="7334400" cy="438300"/>
              <a:chOff x="0" y="0"/>
              <a:chExt cx="7334400" cy="438300"/>
            </a:xfrm>
          </p:grpSpPr>
          <p:sp>
            <p:nvSpPr>
              <p:cNvPr id="389" name="Google Shape;389;p21"/>
              <p:cNvSpPr/>
              <p:nvPr/>
            </p:nvSpPr>
            <p:spPr>
              <a:xfrm>
                <a:off x="0" y="0"/>
                <a:ext cx="7334400" cy="438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21"/>
              <p:cNvSpPr txBox="1"/>
              <p:nvPr/>
            </p:nvSpPr>
            <p:spPr>
              <a:xfrm>
                <a:off x="0" y="0"/>
                <a:ext cx="73344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sz="1100" b="0">
                    <a:solidFill>
                      <a:srgbClr val="0F172A"/>
                    </a:solidFill>
                    <a:latin typeface="Raleway ExtraBold"/>
                  </a:rPr>
                  <a:t>Validate on Both Ends</a:t>
                </a:r>
                <a:endParaRPr b="0" sz="1100">
                  <a:solidFill>
                    <a:srgbClr val="0F172A"/>
                  </a:solidFill>
                  <a:latin typeface="Raleway ExtraBold"/>
                  <a:ea typeface="Raleway ExtraBold"/>
                  <a:cs typeface="Raleway ExtraBold"/>
                  <a:sym typeface="Raleway ExtraBold"/>
                </a:endParaRPr>
              </a:p>
              <a:p>
                <a:pPr indent="0" lvl="0" marL="0" rtl="0" algn="l">
                  <a:spcBef>
                    <a:spcPts val="0"/>
                  </a:spcBef>
                  <a:spcAft>
                    <a:spcPts val="0"/>
                  </a:spcAft>
                  <a:buNone/>
                </a:pPr>
                <a:r>
                  <a:rPr sz="950" b="0">
                    <a:solidFill>
                      <a:srgbClr val="475569"/>
                    </a:solidFill>
                    <a:latin typeface="Lato"/>
                  </a:rPr>
                  <a:t>Browser checks guide the user, while database rules keep data safe.</a:t>
                </a:r>
                <a:endParaRPr b="0" sz="950">
                  <a:solidFill>
                    <a:srgbClr val="475569"/>
                  </a:solidFill>
                  <a:latin typeface="Lato"/>
                  <a:ea typeface="Lato"/>
                  <a:cs typeface="Lato"/>
                  <a:sym typeface="Lato"/>
                </a:endParaRPr>
              </a:p>
            </p:txBody>
          </p:sp>
        </p:grpSp>
      </p:grpSp>
      <p:grpSp>
        <p:nvGrpSpPr>
          <p:cNvPr id="391" name="Google Shape;391;p21"/>
          <p:cNvGrpSpPr/>
          <p:nvPr/>
        </p:nvGrpSpPr>
        <p:grpSpPr>
          <a:xfrm>
            <a:off x="476250" y="3914775"/>
            <a:ext cx="8191500" cy="628800"/>
            <a:chOff x="0" y="0"/>
            <a:chExt cx="8191500" cy="628800"/>
          </a:xfrm>
        </p:grpSpPr>
        <p:sp>
          <p:nvSpPr>
            <p:cNvPr id="392" name="Google Shape;392;p21"/>
            <p:cNvSpPr/>
            <p:nvPr/>
          </p:nvSpPr>
          <p:spPr>
            <a:xfrm>
              <a:off x="0" y="0"/>
              <a:ext cx="8191500" cy="628800"/>
            </a:xfrm>
            <a:prstGeom prst="roundRect">
              <a:avLst>
                <a:gd fmla="val 1818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21"/>
            <p:cNvSpPr/>
            <p:nvPr/>
          </p:nvSpPr>
          <p:spPr>
            <a:xfrm>
              <a:off x="0" y="0"/>
              <a:ext cx="47700" cy="6288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94" name="Google Shape;394;p21"/>
            <p:cNvGrpSpPr/>
            <p:nvPr/>
          </p:nvGrpSpPr>
          <p:grpSpPr>
            <a:xfrm>
              <a:off x="190500" y="161925"/>
              <a:ext cx="304800" cy="304800"/>
              <a:chOff x="0" y="0"/>
              <a:chExt cx="304800" cy="304800"/>
            </a:xfrm>
          </p:grpSpPr>
          <p:sp>
            <p:nvSpPr>
              <p:cNvPr id="395" name="Google Shape;395;p21"/>
              <p:cNvSpPr/>
              <p:nvPr/>
            </p:nvSpPr>
            <p:spPr>
              <a:xfrm>
                <a:off x="0" y="0"/>
                <a:ext cx="304800" cy="304800"/>
              </a:xfrm>
              <a:prstGeom prst="ellipse">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21"/>
              <p:cNvSpPr txBox="1"/>
              <p:nvPr/>
            </p:nvSpPr>
            <p:spPr>
              <a:xfrm>
                <a:off x="0" y="0"/>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1A9988"/>
                    </a:solidFill>
                    <a:latin typeface="Raleway ExtraBold"/>
                    <a:ea typeface="Raleway ExtraBold"/>
                    <a:cs typeface="Raleway ExtraBold"/>
                    <a:sym typeface="Raleway ExtraBold"/>
                  </a:rPr>
                  <a:t>05</a:t>
                </a:r>
                <a:endParaRPr b="0" sz="1100">
                  <a:solidFill>
                    <a:srgbClr val="1A9988"/>
                  </a:solidFill>
                  <a:latin typeface="Raleway ExtraBold"/>
                  <a:ea typeface="Raleway ExtraBold"/>
                  <a:cs typeface="Raleway ExtraBold"/>
                  <a:sym typeface="Raleway ExtraBold"/>
                </a:endParaRPr>
              </a:p>
            </p:txBody>
          </p:sp>
        </p:grpSp>
        <p:grpSp>
          <p:nvGrpSpPr>
            <p:cNvPr id="397" name="Google Shape;397;p21"/>
            <p:cNvGrpSpPr/>
            <p:nvPr/>
          </p:nvGrpSpPr>
          <p:grpSpPr>
            <a:xfrm>
              <a:off x="647700" y="95250"/>
              <a:ext cx="7334400" cy="438300"/>
              <a:chOff x="0" y="0"/>
              <a:chExt cx="7334400" cy="438300"/>
            </a:xfrm>
          </p:grpSpPr>
          <p:sp>
            <p:nvSpPr>
              <p:cNvPr id="398" name="Google Shape;398;p21"/>
              <p:cNvSpPr/>
              <p:nvPr/>
            </p:nvSpPr>
            <p:spPr>
              <a:xfrm>
                <a:off x="0" y="0"/>
                <a:ext cx="7334400" cy="438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21"/>
              <p:cNvSpPr txBox="1"/>
              <p:nvPr/>
            </p:nvSpPr>
            <p:spPr>
              <a:xfrm>
                <a:off x="0" y="0"/>
                <a:ext cx="73344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sz="1100" b="0">
                    <a:solidFill>
                      <a:srgbClr val="0F172A"/>
                    </a:solidFill>
                    <a:latin typeface="Raleway ExtraBold"/>
                  </a:rPr>
                  <a:t>Protect Secret Keys</a:t>
                </a:r>
                <a:endParaRPr b="0" sz="1018">
                  <a:solidFill>
                    <a:srgbClr val="0F172A"/>
                  </a:solidFill>
                  <a:latin typeface="Raleway ExtraBold"/>
                  <a:ea typeface="Raleway ExtraBold"/>
                  <a:cs typeface="Raleway ExtraBold"/>
                  <a:sym typeface="Raleway ExtraBold"/>
                </a:endParaRPr>
              </a:p>
              <a:p>
                <a:pPr indent="0" lvl="0" marL="0" rtl="0" algn="l">
                  <a:spcBef>
                    <a:spcPts val="0"/>
                  </a:spcBef>
                  <a:spcAft>
                    <a:spcPts val="0"/>
                  </a:spcAft>
                  <a:buNone/>
                </a:pPr>
                <a:r>
                  <a:rPr sz="950" b="0">
                    <a:solidFill>
                      <a:srgbClr val="475569"/>
                    </a:solidFill>
                    <a:latin typeface="Lato"/>
                  </a:rPr>
                  <a:t>Use public keys safely in frontend code, and keep admin secrets private.</a:t>
                </a:r>
                <a:endParaRPr b="0" sz="879">
                  <a:solidFill>
                    <a:srgbClr val="475569"/>
                  </a:solidFill>
                  <a:latin typeface="Lato"/>
                  <a:ea typeface="Lato"/>
                  <a:cs typeface="Lato"/>
                  <a:sym typeface="Lato"/>
                </a:endParaRPr>
              </a:p>
            </p:txBody>
          </p:sp>
        </p:grpSp>
      </p:grpSp>
      <p:grpSp>
        <p:nvGrpSpPr>
          <p:cNvPr id="400" name="Google Shape;400;p21"/>
          <p:cNvGrpSpPr/>
          <p:nvPr/>
        </p:nvGrpSpPr>
        <p:grpSpPr>
          <a:xfrm>
            <a:off x="476250" y="4838700"/>
            <a:ext cx="5486400" cy="142800"/>
            <a:chOff x="0" y="0"/>
            <a:chExt cx="5486400" cy="142800"/>
          </a:xfrm>
        </p:grpSpPr>
        <p:sp>
          <p:nvSpPr>
            <p:cNvPr id="401" name="Google Shape;401;p21"/>
            <p:cNvSpPr/>
            <p:nvPr/>
          </p:nvSpPr>
          <p:spPr>
            <a:xfrm>
              <a:off x="0" y="0"/>
              <a:ext cx="5486400" cy="14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21"/>
            <p:cNvSpPr txBox="1"/>
            <p:nvPr/>
          </p:nvSpPr>
          <p:spPr>
            <a:xfrm>
              <a:off x="0" y="0"/>
              <a:ext cx="5486400" cy="14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00">
                  <a:solidFill>
                    <a:srgbClr val="64748B"/>
                  </a:solidFill>
                  <a:latin typeface="Lato"/>
                  <a:ea typeface="Lato"/>
                  <a:cs typeface="Lato"/>
                  <a:sym typeface="Lato"/>
                </a:rPr>
                <a:t>Student Management System · KNUST Registry</a:t>
              </a:r>
              <a:endParaRPr b="0" sz="800">
                <a:solidFill>
                  <a:srgbClr val="64748B"/>
                </a:solidFill>
                <a:latin typeface="Lato"/>
                <a:ea typeface="Lato"/>
                <a:cs typeface="Lato"/>
                <a:sym typeface="Lato"/>
              </a:endParaRPr>
            </a:p>
          </p:txBody>
        </p:sp>
      </p:grpSp>
      <p:grpSp>
        <p:nvGrpSpPr>
          <p:cNvPr id="403" name="Google Shape;403;p21"/>
          <p:cNvGrpSpPr/>
          <p:nvPr/>
        </p:nvGrpSpPr>
        <p:grpSpPr>
          <a:xfrm>
            <a:off x="7620000" y="4838700"/>
            <a:ext cx="1047900" cy="142800"/>
            <a:chOff x="0" y="0"/>
            <a:chExt cx="1047900" cy="142800"/>
          </a:xfrm>
        </p:grpSpPr>
        <p:sp>
          <p:nvSpPr>
            <p:cNvPr id="404" name="Google Shape;404;p21"/>
            <p:cNvSpPr/>
            <p:nvPr/>
          </p:nvSpPr>
          <p:spPr>
            <a:xfrm>
              <a:off x="0" y="0"/>
              <a:ext cx="1047900" cy="14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21"/>
            <p:cNvSpPr txBox="1"/>
            <p:nvPr/>
          </p:nvSpPr>
          <p:spPr>
            <a:xfrm>
              <a:off x="0" y="0"/>
              <a:ext cx="1047900" cy="142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800">
                  <a:solidFill>
                    <a:srgbClr val="64748B"/>
                  </a:solidFill>
                  <a:latin typeface="Lato"/>
                  <a:ea typeface="Lato"/>
                  <a:cs typeface="Lato"/>
                  <a:sym typeface="Lato"/>
                </a:rPr>
                <a:t>14 / 16</a:t>
              </a:r>
              <a:endParaRPr b="0" sz="800">
                <a:solidFill>
                  <a:srgbClr val="64748B"/>
                </a:solidFill>
                <a:latin typeface="Lato"/>
                <a:ea typeface="Lato"/>
                <a:cs typeface="Lato"/>
                <a:sym typeface="La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0" name="Shape 410"/>
        <p:cNvGrpSpPr/>
        <p:nvPr/>
      </p:nvGrpSpPr>
      <p:grpSpPr>
        <a:xfrm>
          <a:off x="0" y="0"/>
          <a:ext cx="0" cy="0"/>
          <a:chOff x="0" y="0"/>
          <a:chExt cx="0" cy="0"/>
        </a:xfrm>
      </p:grpSpPr>
      <p:grpSp>
        <p:nvGrpSpPr>
          <p:cNvPr id="411" name="Google Shape;411;p22"/>
          <p:cNvGrpSpPr/>
          <p:nvPr/>
        </p:nvGrpSpPr>
        <p:grpSpPr>
          <a:xfrm>
            <a:off x="476250" y="342900"/>
            <a:ext cx="666750" cy="47700"/>
            <a:chOff x="0" y="0"/>
            <a:chExt cx="666750" cy="47700"/>
          </a:xfrm>
        </p:grpSpPr>
        <p:sp>
          <p:nvSpPr>
            <p:cNvPr id="412" name="Google Shape;412;p22"/>
            <p:cNvSpPr/>
            <p:nvPr/>
          </p:nvSpPr>
          <p:spPr>
            <a:xfrm>
              <a:off x="0" y="0"/>
              <a:ext cx="304800" cy="47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3" name="Google Shape;413;p22"/>
            <p:cNvSpPr/>
            <p:nvPr/>
          </p:nvSpPr>
          <p:spPr>
            <a:xfrm>
              <a:off x="361950" y="0"/>
              <a:ext cx="304800" cy="47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14" name="Google Shape;414;p22"/>
          <p:cNvSpPr txBox="1"/>
          <p:nvPr/>
        </p:nvSpPr>
        <p:spPr>
          <a:xfrm>
            <a:off x="476250" y="457200"/>
            <a:ext cx="8191500" cy="14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EB5600"/>
                </a:solidFill>
                <a:latin typeface="Raleway ExtraBold"/>
                <a:ea typeface="Raleway ExtraBold"/>
                <a:cs typeface="Raleway ExtraBold"/>
                <a:sym typeface="Raleway ExtraBold"/>
              </a:rPr>
              <a:t>CONCLUSION</a:t>
            </a:r>
            <a:endParaRPr b="0" sz="900">
              <a:solidFill>
                <a:srgbClr val="EB5600"/>
              </a:solidFill>
              <a:latin typeface="Raleway ExtraBold"/>
              <a:ea typeface="Raleway ExtraBold"/>
              <a:cs typeface="Raleway ExtraBold"/>
              <a:sym typeface="Raleway ExtraBold"/>
            </a:endParaRPr>
          </a:p>
        </p:txBody>
      </p:sp>
      <p:sp>
        <p:nvSpPr>
          <p:cNvPr id="415" name="Google Shape;415;p22"/>
          <p:cNvSpPr txBox="1"/>
          <p:nvPr/>
        </p:nvSpPr>
        <p:spPr>
          <a:xfrm>
            <a:off x="476250" y="647700"/>
            <a:ext cx="81915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000">
                <a:solidFill>
                  <a:srgbClr val="0F172A"/>
                </a:solidFill>
                <a:latin typeface="Raleway ExtraBold"/>
                <a:ea typeface="Raleway ExtraBold"/>
                <a:cs typeface="Raleway ExtraBold"/>
                <a:sym typeface="Raleway ExtraBold"/>
              </a:rPr>
              <a:t>THANK YOU &amp; QUESTIONS</a:t>
            </a:r>
            <a:endParaRPr b="0" sz="2000">
              <a:solidFill>
                <a:srgbClr val="0F172A"/>
              </a:solidFill>
              <a:latin typeface="Raleway ExtraBold"/>
              <a:ea typeface="Raleway ExtraBold"/>
              <a:cs typeface="Raleway ExtraBold"/>
              <a:sym typeface="Raleway ExtraBold"/>
            </a:endParaRPr>
          </a:p>
        </p:txBody>
      </p:sp>
      <p:grpSp>
        <p:nvGrpSpPr>
          <p:cNvPr id="416" name="Google Shape;416;p22"/>
          <p:cNvGrpSpPr/>
          <p:nvPr/>
        </p:nvGrpSpPr>
        <p:grpSpPr>
          <a:xfrm>
            <a:off x="476250" y="1123950"/>
            <a:ext cx="3952800" cy="3476700"/>
            <a:chOff x="0" y="0"/>
            <a:chExt cx="3952800" cy="3476700"/>
          </a:xfrm>
        </p:grpSpPr>
        <p:sp>
          <p:nvSpPr>
            <p:cNvPr id="417" name="Google Shape;417;p22"/>
            <p:cNvSpPr/>
            <p:nvPr/>
          </p:nvSpPr>
          <p:spPr>
            <a:xfrm>
              <a:off x="0" y="0"/>
              <a:ext cx="3952800" cy="3476700"/>
            </a:xfrm>
            <a:prstGeom prst="roundRect">
              <a:avLst>
                <a:gd fmla="val 328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8" name="Google Shape;418;p22"/>
            <p:cNvSpPr/>
            <p:nvPr/>
          </p:nvSpPr>
          <p:spPr>
            <a:xfrm>
              <a:off x="0" y="0"/>
              <a:ext cx="39528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19" name="Google Shape;419;p22"/>
            <p:cNvGrpSpPr/>
            <p:nvPr/>
          </p:nvGrpSpPr>
          <p:grpSpPr>
            <a:xfrm>
              <a:off x="228600" y="228600"/>
              <a:ext cx="304800" cy="304800"/>
              <a:chOff x="0" y="0"/>
              <a:chExt cx="304800" cy="304800"/>
            </a:xfrm>
          </p:grpSpPr>
          <p:sp>
            <p:nvSpPr>
              <p:cNvPr id="420" name="Google Shape;420;p22"/>
              <p:cNvSpPr/>
              <p:nvPr/>
            </p:nvSpPr>
            <p:spPr>
              <a:xfrm>
                <a:off x="0" y="0"/>
                <a:ext cx="304800" cy="3048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1" name="Google Shape;421;p22"/>
              <p:cNvSpPr txBox="1"/>
              <p:nvPr/>
            </p:nvSpPr>
            <p:spPr>
              <a:xfrm>
                <a:off x="0" y="0"/>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2563EB"/>
                    </a:solidFill>
                    <a:latin typeface="Raleway ExtraBold"/>
                    <a:ea typeface="Raleway ExtraBold"/>
                    <a:cs typeface="Raleway ExtraBold"/>
                    <a:sym typeface="Raleway ExtraBold"/>
                  </a:rPr>
                  <a:t>?</a:t>
                </a:r>
                <a:endParaRPr b="0" sz="1100">
                  <a:solidFill>
                    <a:srgbClr val="2563EB"/>
                  </a:solidFill>
                  <a:latin typeface="Raleway ExtraBold"/>
                  <a:ea typeface="Raleway ExtraBold"/>
                  <a:cs typeface="Raleway ExtraBold"/>
                  <a:sym typeface="Raleway ExtraBold"/>
                </a:endParaRPr>
              </a:p>
            </p:txBody>
          </p:sp>
        </p:grpSp>
        <p:sp>
          <p:nvSpPr>
            <p:cNvPr id="422" name="Google Shape;422;p22"/>
            <p:cNvSpPr txBox="1"/>
            <p:nvPr/>
          </p:nvSpPr>
          <p:spPr>
            <a:xfrm>
              <a:off x="228600" y="647700"/>
              <a:ext cx="34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F172A"/>
                  </a:solidFill>
                  <a:latin typeface="Raleway ExtraBold"/>
                  <a:ea typeface="Raleway ExtraBold"/>
                  <a:cs typeface="Raleway ExtraBold"/>
                  <a:sym typeface="Raleway ExtraBold"/>
                </a:rPr>
                <a:t>Questions &amp; Discussion</a:t>
              </a:r>
              <a:endParaRPr b="0" sz="1500">
                <a:solidFill>
                  <a:srgbClr val="0F172A"/>
                </a:solidFill>
                <a:latin typeface="Raleway ExtraBold"/>
                <a:ea typeface="Raleway ExtraBold"/>
                <a:cs typeface="Raleway ExtraBold"/>
                <a:sym typeface="Raleway ExtraBold"/>
              </a:endParaRPr>
            </a:p>
            <a:p>
              <a:pPr indent="-295275" lvl="0" marL="457200" rtl="0" algn="l">
                <a:spcBef>
                  <a:spcPts val="1200"/>
                </a:spcBef>
                <a:spcAft>
                  <a:spcPts val="0"/>
                </a:spcAft>
                <a:buClr>
                  <a:srgbClr val="334155"/>
                </a:buClr>
                <a:buSzPts val="1050"/>
                <a:buFont typeface="Lato"/>
                <a:buChar char="●"/>
              </a:pPr>
              <a:r>
                <a:rPr b="0" lang="en" sz="1050">
                  <a:solidFill>
                    <a:srgbClr val="334155"/>
                  </a:solidFill>
                  <a:latin typeface="Lato"/>
                  <a:ea typeface="Lato"/>
                  <a:cs typeface="Lato"/>
                  <a:sym typeface="Lato"/>
                </a:rPr>
                <a:t>Thank you for your time and attention.</a:t>
              </a:r>
              <a:endParaRPr b="0" sz="1050">
                <a:solidFill>
                  <a:srgbClr val="334155"/>
                </a:solidFill>
                <a:latin typeface="Lato"/>
                <a:ea typeface="Lato"/>
                <a:cs typeface="Lato"/>
                <a:sym typeface="Lato"/>
              </a:endParaRPr>
            </a:p>
            <a:p>
              <a:pPr indent="-295275" lvl="0" marL="457200" rtl="0" algn="l">
                <a:spcBef>
                  <a:spcPts val="1000"/>
                </a:spcBef>
                <a:spcAft>
                  <a:spcPts val="0"/>
                </a:spcAft>
                <a:buClr>
                  <a:srgbClr val="334155"/>
                </a:buClr>
                <a:buSzPts val="1050"/>
                <a:buFont typeface="Lato"/>
                <a:buChar char="●"/>
              </a:pPr>
              <a:r>
                <a:rPr b="0" lang="en" sz="1050">
                  <a:solidFill>
                    <a:srgbClr val="334155"/>
                  </a:solidFill>
                  <a:latin typeface="Lato"/>
                  <a:ea typeface="Lato"/>
                  <a:cs typeface="Lato"/>
                  <a:sym typeface="Lato"/>
                </a:rPr>
                <a:t>We welcome any questions regarding the architecture, database integration, or interface design.</a:t>
              </a:r>
              <a:endParaRPr b="0" sz="1050">
                <a:solidFill>
                  <a:srgbClr val="334155"/>
                </a:solidFill>
                <a:latin typeface="Lato"/>
                <a:ea typeface="Lato"/>
                <a:cs typeface="Lato"/>
                <a:sym typeface="Lato"/>
              </a:endParaRPr>
            </a:p>
            <a:p>
              <a:pPr indent="-295275" lvl="0" marL="457200" rtl="0" algn="l">
                <a:spcBef>
                  <a:spcPts val="1000"/>
                </a:spcBef>
                <a:spcAft>
                  <a:spcPts val="1000"/>
                </a:spcAft>
                <a:buClr>
                  <a:srgbClr val="334155"/>
                </a:buClr>
                <a:buSzPts val="1050"/>
                <a:buFont typeface="Lato"/>
                <a:buChar char="●"/>
              </a:pPr>
              <a:r>
                <a:rPr b="0" lang="en" sz="1050">
                  <a:solidFill>
                    <a:srgbClr val="334155"/>
                  </a:solidFill>
                  <a:latin typeface="Lato"/>
                  <a:ea typeface="Lato"/>
                  <a:cs typeface="Lato"/>
                  <a:sym typeface="Lato"/>
                </a:rPr>
                <a:t>Feel free to share feedback or suggestions for future enhancements.</a:t>
              </a:r>
              <a:endParaRPr b="0" sz="1050">
                <a:solidFill>
                  <a:srgbClr val="334155"/>
                </a:solidFill>
                <a:latin typeface="Lato"/>
                <a:ea typeface="Lato"/>
                <a:cs typeface="Lato"/>
                <a:sym typeface="Lato"/>
              </a:endParaRPr>
            </a:p>
          </p:txBody>
        </p:sp>
      </p:grpSp>
      <p:grpSp>
        <p:nvGrpSpPr>
          <p:cNvPr id="423" name="Google Shape;423;p22"/>
          <p:cNvGrpSpPr/>
          <p:nvPr/>
        </p:nvGrpSpPr>
        <p:grpSpPr>
          <a:xfrm>
            <a:off x="4714875" y="1123950"/>
            <a:ext cx="3952800" cy="3476700"/>
            <a:chOff x="0" y="0"/>
            <a:chExt cx="3952800" cy="3476700"/>
          </a:xfrm>
        </p:grpSpPr>
        <p:sp>
          <p:nvSpPr>
            <p:cNvPr id="424" name="Google Shape;424;p22"/>
            <p:cNvSpPr/>
            <p:nvPr/>
          </p:nvSpPr>
          <p:spPr>
            <a:xfrm>
              <a:off x="0" y="0"/>
              <a:ext cx="3952800" cy="3476700"/>
            </a:xfrm>
            <a:prstGeom prst="roundRect">
              <a:avLst>
                <a:gd fmla="val 328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5" name="Google Shape;425;p22"/>
            <p:cNvSpPr/>
            <p:nvPr/>
          </p:nvSpPr>
          <p:spPr>
            <a:xfrm>
              <a:off x="0" y="0"/>
              <a:ext cx="3952800" cy="573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26" name="Google Shape;426;p22"/>
            <p:cNvGrpSpPr/>
            <p:nvPr/>
          </p:nvGrpSpPr>
          <p:grpSpPr>
            <a:xfrm>
              <a:off x="228600" y="190500"/>
              <a:ext cx="1238400" cy="209700"/>
              <a:chOff x="0" y="0"/>
              <a:chExt cx="1238400" cy="209700"/>
            </a:xfrm>
          </p:grpSpPr>
          <p:sp>
            <p:nvSpPr>
              <p:cNvPr id="427" name="Google Shape;427;p22"/>
              <p:cNvSpPr/>
              <p:nvPr/>
            </p:nvSpPr>
            <p:spPr>
              <a:xfrm>
                <a:off x="0" y="0"/>
                <a:ext cx="1238400" cy="209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8" name="Google Shape;428;p22"/>
              <p:cNvSpPr txBox="1"/>
              <p:nvPr/>
            </p:nvSpPr>
            <p:spPr>
              <a:xfrm>
                <a:off x="0" y="0"/>
                <a:ext cx="12384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FFFFFF"/>
                    </a:solidFill>
                    <a:latin typeface="Consolas"/>
                    <a:ea typeface="Consolas"/>
                    <a:cs typeface="Consolas"/>
                    <a:sym typeface="Consolas"/>
                  </a:rPr>
                  <a:t>repository</a:t>
                </a:r>
                <a:endParaRPr b="1" sz="800">
                  <a:solidFill>
                    <a:srgbClr val="FFFFFF"/>
                  </a:solidFill>
                  <a:latin typeface="Consolas"/>
                  <a:ea typeface="Consolas"/>
                  <a:cs typeface="Consolas"/>
                  <a:sym typeface="Consolas"/>
                </a:endParaRPr>
              </a:p>
            </p:txBody>
          </p:sp>
        </p:grpSp>
        <p:sp>
          <p:nvSpPr>
            <p:cNvPr id="429" name="Google Shape;429;p22"/>
            <p:cNvSpPr txBox="1"/>
            <p:nvPr/>
          </p:nvSpPr>
          <p:spPr>
            <a:xfrm>
              <a:off x="228600" y="495300"/>
              <a:ext cx="34956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500">
                  <a:solidFill>
                    <a:srgbClr val="0F172A"/>
                  </a:solidFill>
                  <a:latin typeface="Raleway ExtraBold"/>
                  <a:ea typeface="Raleway ExtraBold"/>
                  <a:cs typeface="Raleway ExtraBold"/>
                  <a:sym typeface="Raleway ExtraBold"/>
                </a:rPr>
                <a:t>GitHub Repository</a:t>
              </a:r>
              <a:endParaRPr b="0" sz="1500">
                <a:solidFill>
                  <a:srgbClr val="0F172A"/>
                </a:solidFill>
                <a:latin typeface="Raleway ExtraBold"/>
                <a:ea typeface="Raleway ExtraBold"/>
                <a:cs typeface="Raleway ExtraBold"/>
                <a:sym typeface="Raleway ExtraBold"/>
              </a:endParaRPr>
            </a:p>
          </p:txBody>
        </p:sp>
        <p:sp>
          <p:nvSpPr>
            <p:cNvPr id="430" name="Google Shape;430;p22"/>
            <p:cNvSpPr/>
            <p:nvPr/>
          </p:nvSpPr>
          <p:spPr>
            <a:xfrm>
              <a:off x="228600" y="876300"/>
              <a:ext cx="3495600" cy="1714500"/>
            </a:xfrm>
            <a:prstGeom prst="roundRect">
              <a:avLst>
                <a:gd fmla="val 4444" name="adj"/>
              </a:avLst>
            </a:prstGeom>
            <a:solidFill>
              <a:srgbClr val="0F172A"/>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1" name="Google Shape;431;p22"/>
            <p:cNvSpPr txBox="1"/>
            <p:nvPr/>
          </p:nvSpPr>
          <p:spPr>
            <a:xfrm>
              <a:off x="381000" y="1028700"/>
              <a:ext cx="3190800" cy="14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64748B"/>
                  </a:solidFill>
                  <a:latin typeface="Consolas"/>
                  <a:ea typeface="Consolas"/>
                  <a:cs typeface="Consolas"/>
                  <a:sym typeface="Consolas"/>
                </a:rPr>
                <a:t>// Source Code &amp; Documentation</a:t>
              </a:r>
              <a:endParaRPr b="1" sz="900">
                <a:solidFill>
                  <a:srgbClr val="64748B"/>
                </a:solidFill>
                <a:latin typeface="Consolas"/>
                <a:ea typeface="Consolas"/>
                <a:cs typeface="Consolas"/>
                <a:sym typeface="Consolas"/>
              </a:endParaRPr>
            </a:p>
            <a:p>
              <a:pPr indent="0" lvl="0" marL="0" rtl="0" algn="l">
                <a:spcBef>
                  <a:spcPts val="800"/>
                </a:spcBef>
                <a:spcAft>
                  <a:spcPts val="0"/>
                </a:spcAft>
                <a:buNone/>
              </a:pPr>
              <a:r>
                <a:rPr b="1" lang="en" sz="1050">
                  <a:solidFill>
                    <a:srgbClr val="F1F5F9"/>
                  </a:solidFill>
                  <a:latin typeface="Consolas"/>
                  <a:ea typeface="Consolas"/>
                  <a:cs typeface="Consolas"/>
                  <a:sym typeface="Consolas"/>
                </a:rPr>
                <a:t>github.com/</a:t>
              </a:r>
              <a:endParaRPr b="1" sz="1050">
                <a:solidFill>
                  <a:srgbClr val="F1F5F9"/>
                </a:solidFill>
                <a:latin typeface="Consolas"/>
                <a:ea typeface="Consolas"/>
                <a:cs typeface="Consolas"/>
                <a:sym typeface="Consolas"/>
              </a:endParaRPr>
            </a:p>
            <a:p>
              <a:pPr indent="0" lvl="0" marL="0" rtl="0" algn="l">
                <a:spcBef>
                  <a:spcPts val="600"/>
                </a:spcBef>
                <a:spcAft>
                  <a:spcPts val="0"/>
                </a:spcAft>
                <a:buNone/>
              </a:pPr>
              <a:r>
                <a:rPr b="1" lang="en" sz="1050">
                  <a:solidFill>
                    <a:srgbClr val="EB5600"/>
                  </a:solidFill>
                  <a:latin typeface="Consolas"/>
                  <a:ea typeface="Consolas"/>
                  <a:cs typeface="Consolas"/>
                  <a:sym typeface="Consolas"/>
                </a:rPr>
                <a:t>acheampongmaamary/</a:t>
              </a:r>
              <a:endParaRPr b="1" sz="1050">
                <a:solidFill>
                  <a:srgbClr val="EB5600"/>
                </a:solidFill>
                <a:latin typeface="Consolas"/>
                <a:ea typeface="Consolas"/>
                <a:cs typeface="Consolas"/>
                <a:sym typeface="Consolas"/>
              </a:endParaRPr>
            </a:p>
            <a:p>
              <a:pPr indent="0" lvl="0" marL="0" rtl="0" algn="l">
                <a:spcBef>
                  <a:spcPts val="600"/>
                </a:spcBef>
                <a:spcAft>
                  <a:spcPts val="0"/>
                </a:spcAft>
                <a:buNone/>
              </a:pPr>
              <a:r>
                <a:rPr b="1" lang="en" sz="1050">
                  <a:solidFill>
                    <a:srgbClr val="22C55E"/>
                  </a:solidFill>
                  <a:latin typeface="Consolas"/>
                  <a:ea typeface="Consolas"/>
                  <a:cs typeface="Consolas"/>
                  <a:sym typeface="Consolas"/>
                </a:rPr>
                <a:t>student-management-system</a:t>
              </a:r>
              <a:endParaRPr b="1" sz="1050">
                <a:solidFill>
                  <a:srgbClr val="22C55E"/>
                </a:solidFill>
                <a:latin typeface="Consolas"/>
                <a:ea typeface="Consolas"/>
                <a:cs typeface="Consolas"/>
                <a:sym typeface="Consolas"/>
              </a:endParaRPr>
            </a:p>
          </p:txBody>
        </p:sp>
        <p:sp>
          <p:nvSpPr>
            <p:cNvPr id="432" name="Google Shape;432;p22"/>
            <p:cNvSpPr txBox="1"/>
            <p:nvPr/>
          </p:nvSpPr>
          <p:spPr>
            <a:xfrm>
              <a:off x="228600" y="2743200"/>
              <a:ext cx="34956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50">
                  <a:solidFill>
                    <a:srgbClr val="475569"/>
                  </a:solidFill>
                  <a:latin typeface="Lato"/>
                  <a:ea typeface="Lato"/>
                  <a:cs typeface="Lato"/>
                  <a:sym typeface="Lato"/>
                </a:rPr>
                <a:t>Access full setup instructions, server logic, database scripts, and complete project code on GitHub.</a:t>
              </a:r>
              <a:endParaRPr b="0" sz="950">
                <a:solidFill>
                  <a:srgbClr val="475569"/>
                </a:solidFill>
                <a:latin typeface="Lato"/>
                <a:ea typeface="Lato"/>
                <a:cs typeface="Lato"/>
                <a:sym typeface="Lato"/>
              </a:endParaRPr>
            </a:p>
          </p:txBody>
        </p:sp>
      </p:grpSp>
      <p:sp>
        <p:nvSpPr>
          <p:cNvPr id="433" name="Google Shape;433;p22"/>
          <p:cNvSpPr txBox="1"/>
          <p:nvPr/>
        </p:nvSpPr>
        <p:spPr>
          <a:xfrm>
            <a:off x="476250" y="4838700"/>
            <a:ext cx="5486400" cy="14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00">
                <a:solidFill>
                  <a:srgbClr val="64748B"/>
                </a:solidFill>
                <a:latin typeface="Lato"/>
                <a:ea typeface="Lato"/>
                <a:cs typeface="Lato"/>
                <a:sym typeface="Lato"/>
              </a:rPr>
              <a:t>Student Management System · KNUST Registry</a:t>
            </a:r>
            <a:endParaRPr b="0" sz="800">
              <a:solidFill>
                <a:srgbClr val="64748B"/>
              </a:solidFill>
              <a:latin typeface="Lato"/>
              <a:ea typeface="Lato"/>
              <a:cs typeface="Lato"/>
              <a:sym typeface="Lato"/>
            </a:endParaRPr>
          </a:p>
        </p:txBody>
      </p:sp>
      <p:sp>
        <p:nvSpPr>
          <p:cNvPr id="434" name="Google Shape;434;p22"/>
          <p:cNvSpPr txBox="1"/>
          <p:nvPr/>
        </p:nvSpPr>
        <p:spPr>
          <a:xfrm>
            <a:off x="7620000" y="4838700"/>
            <a:ext cx="1047900" cy="142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800">
                <a:solidFill>
                  <a:srgbClr val="64748B"/>
                </a:solidFill>
                <a:latin typeface="Lato"/>
                <a:ea typeface="Lato"/>
                <a:cs typeface="Lato"/>
                <a:sym typeface="Lato"/>
              </a:rPr>
              <a:t>16 / 16</a:t>
            </a:r>
            <a:endParaRPr b="0" sz="800">
              <a:solidFill>
                <a:srgbClr val="64748B"/>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